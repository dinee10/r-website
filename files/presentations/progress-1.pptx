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8288000" cy="10287000"/>
  <p:notesSz cx="6858000" cy="9144000"/>
  <p:embeddedFontLst>
    <p:embeddedFont>
      <p:font typeface="Canva Sans" panose="020B0604020202020204" charset="0"/>
      <p:regular r:id="rId23"/>
    </p:embeddedFont>
    <p:embeddedFont>
      <p:font typeface="Times New Roman Bold" panose="02020803070505020304" pitchFamily="18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 traditional medicine, plant leaves or fruits must meet certain quality conditions before they can be used in treatments. However, quality inspection is currently performed manually by experts.</a:t>
            </a:r>
          </a:p>
          <a:p>
            <a:endParaRPr lang="en-US"/>
          </a:p>
          <a:p>
            <a:r>
              <a:rPr lang="en-US"/>
              <a:t>This approach has several limitations. It is time-consuming, requires specialized knowledge, and may not be accessible in rural or agricultural environments. As a result, diseased or over-mature plant materials may sometimes be used, which can reduce the effectiveness of herbal medicine.</a:t>
            </a:r>
          </a:p>
          <a:p>
            <a:endParaRPr lang="en-US"/>
          </a:p>
          <a:p>
            <a:r>
              <a:rPr lang="en-US"/>
              <a:t>Therefore, the objective of my research component is to develop an AI-based system that can automatically evaluate the quality of medicinal plant materials using image analysis.</a:t>
            </a:r>
          </a:p>
          <a:p>
            <a:endParaRPr lang="en-US"/>
          </a:p>
          <a:p>
            <a:r>
              <a:rPr lang="en-US"/>
              <a:t>To achieve this, the system will train a deep learning model capable of identifying plant conditions such as healthy, diseased, or overmature.</a:t>
            </a:r>
          </a:p>
          <a:p>
            <a:endParaRPr lang="en-US"/>
          </a:p>
          <a:p>
            <a:r>
              <a:rPr lang="en-US"/>
              <a:t>Additionally, transfer learning will be used to improve model performance with limited datasets, and Explainable AI techniques will be applied to help users understand how the model makes decisions.</a:t>
            </a:r>
          </a:p>
          <a:p>
            <a:endParaRPr lang="en-US"/>
          </a:p>
          <a:p>
            <a:r>
              <a:rPr lang="en-US"/>
              <a:t>This system aims to support farmers, herbal suppliers, Ayurvedic practitioners, and even individuals who are still learning about medicinal herbs.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 implement the proposed solution, a computer vision and deep learning based methodology is used.</a:t>
            </a:r>
          </a:p>
          <a:p>
            <a:endParaRPr lang="en-US"/>
          </a:p>
          <a:p>
            <a:r>
              <a:rPr lang="en-US"/>
              <a:t>First, the system collects images of medicinal plant leaves or fruits.</a:t>
            </a:r>
          </a:p>
          <a:p>
            <a:endParaRPr lang="en-US"/>
          </a:p>
          <a:p>
            <a:r>
              <a:rPr lang="en-US"/>
              <a:t>These images then go through preprocessing steps, such as resizing and normalization, to ensure consistent image quality.</a:t>
            </a:r>
          </a:p>
          <a:p>
            <a:endParaRPr lang="en-US"/>
          </a:p>
          <a:p>
            <a:r>
              <a:rPr lang="en-US"/>
              <a:t>After preprocessing, the system performs feature extraction using a pretrained deep learning model called ResNet50.</a:t>
            </a:r>
          </a:p>
          <a:p>
            <a:endParaRPr lang="en-US"/>
          </a:p>
          <a:p>
            <a:r>
              <a:rPr lang="en-US"/>
              <a:t>ResNet50 is a convolutional neural network architecture that has been trained on large image datasets and is capable of extracting important visual features such as edges, shapes, and textures.</a:t>
            </a:r>
          </a:p>
          <a:p>
            <a:endParaRPr lang="en-US"/>
          </a:p>
          <a:p>
            <a:r>
              <a:rPr lang="en-US"/>
              <a:t>Using transfer learning, the pretrained model is adapted to classify medicinal plant conditions into three categories:</a:t>
            </a:r>
          </a:p>
          <a:p>
            <a:endParaRPr lang="en-US"/>
          </a:p>
          <a:p>
            <a:r>
              <a:rPr lang="en-US"/>
              <a:t>Healthy, Diseased, and Overmature.</a:t>
            </a:r>
          </a:p>
          <a:p>
            <a:endParaRPr lang="en-US"/>
          </a:p>
          <a:p>
            <a:r>
              <a:rPr lang="en-US"/>
              <a:t>In addition to classification, the system also integrates Explainable AI using Grad-CAM.</a:t>
            </a:r>
          </a:p>
          <a:p>
            <a:endParaRPr lang="en-US"/>
          </a:p>
          <a:p>
            <a:r>
              <a:rPr lang="en-US"/>
              <a:t>Grad-CAM generates heatmaps that highlight the regions of the plant image that influenced the model’s decision.</a:t>
            </a:r>
          </a:p>
          <a:p>
            <a:endParaRPr lang="en-US"/>
          </a:p>
          <a:p>
            <a:r>
              <a:rPr lang="en-US"/>
              <a:t>The main technologies used in this component include Python, PyTorch, OpenCV, ResNet50, and Grad-CAM, and the model training will be performed using GPU platforms such as Google Colab.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5897880" y="5402524"/>
            <a:ext cx="6492240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650470" y="2005713"/>
            <a:ext cx="16987060" cy="2217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INTELLIGENT AYURVEDIC HERBAL PLANT IDENTIFICATION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AND </a:t>
            </a:r>
          </a:p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ECONOMIC ANALYSIS IN SRI LANKA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897880" y="6255698"/>
            <a:ext cx="6492240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R-26-IT-021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766935" y="228483"/>
            <a:ext cx="10754131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Comments for the Proposal and Actions Taken 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2CD274E-E124-35D7-50E3-6C771BE95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888534"/>
              </p:ext>
            </p:extLst>
          </p:nvPr>
        </p:nvGraphicFramePr>
        <p:xfrm>
          <a:off x="2319329" y="1562101"/>
          <a:ext cx="14966807" cy="7639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22329">
                  <a:extLst>
                    <a:ext uri="{9D8B030D-6E8A-4147-A177-3AD203B41FA5}">
                      <a16:colId xmlns:a16="http://schemas.microsoft.com/office/drawing/2014/main" val="1360269088"/>
                    </a:ext>
                  </a:extLst>
                </a:gridCol>
                <a:gridCol w="5955542">
                  <a:extLst>
                    <a:ext uri="{9D8B030D-6E8A-4147-A177-3AD203B41FA5}">
                      <a16:colId xmlns:a16="http://schemas.microsoft.com/office/drawing/2014/main" val="3778232365"/>
                    </a:ext>
                  </a:extLst>
                </a:gridCol>
                <a:gridCol w="4988936">
                  <a:extLst>
                    <a:ext uri="{9D8B030D-6E8A-4147-A177-3AD203B41FA5}">
                      <a16:colId xmlns:a16="http://schemas.microsoft.com/office/drawing/2014/main" val="3330525674"/>
                    </a:ext>
                  </a:extLst>
                </a:gridCol>
              </a:tblGrid>
              <a:tr h="869411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ID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Comment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 Taken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737"/>
                  </a:ext>
                </a:extLst>
              </a:tr>
              <a:tr h="1353463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IT22640598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Maintain conversation context across multiple turns to enable natural follow‑up questions (e.g., reusing the previously mentioned plant without repeating its name).</a:t>
                      </a:r>
                      <a:endParaRPr lang="en-US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Implemented session‑aware conversation 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memorywith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session_id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and 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conversation_store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 to retain chat history enabling future personalization and context‑aware recommendations.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50483"/>
                  </a:ext>
                </a:extLst>
              </a:tr>
              <a:tr h="1118486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IT22132796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panel suggested incorporating more key parameters to improve prediction accuracy and better reflect real-world conditions.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 improved our model by adding more important factors, which helped increase the accuracy and real-world reliability of the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8730251"/>
                  </a:ext>
                </a:extLst>
              </a:tr>
              <a:tr h="1824427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IT22168986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Further refinement of the components is necessary to clearly establish their research value. Consider Leaf shape , Leaf texture, Color patterns, Leaf vein structure , Plant morphology features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research proposes a multi-modal intelligent plant identification framework that integrates leaf morphology, texture analysis, vein structure extraction, and color-pattern recognition to improve classification accuracy and disease-aware plant recognition under real-world environmental conditions.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7536775"/>
                  </a:ext>
                </a:extLst>
              </a:tr>
              <a:tr h="2073212"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IT22112132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 how to measure leaf health, maturity, chemical indicators, defects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maturity detection, I will train a separate model using images captured under different lighting conditions such as good lighting, low lighting, and natural outdoor lighting.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will help the model identify maturity based on real visual features like color, texture, size, dryness, and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overmaturity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signs, instead of depending only on brightness.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77779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4740267" y="6579065"/>
            <a:ext cx="3305164" cy="2917949"/>
          </a:xfrm>
          <a:custGeom>
            <a:avLst/>
            <a:gdLst/>
            <a:ahLst/>
            <a:cxnLst/>
            <a:rect l="l" t="t" r="r" b="b"/>
            <a:pathLst>
              <a:path w="3305164" h="2917949">
                <a:moveTo>
                  <a:pt x="0" y="0"/>
                </a:moveTo>
                <a:lnTo>
                  <a:pt x="3305164" y="0"/>
                </a:lnTo>
                <a:lnTo>
                  <a:pt x="3305164" y="2917948"/>
                </a:lnTo>
                <a:lnTo>
                  <a:pt x="0" y="2917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364880" y="386715"/>
            <a:ext cx="15558240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Ayurvedic Herbal Plant Identification and Economic Analysis in sri lanka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494374"/>
            <a:ext cx="13171245" cy="658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Definition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6647" y="2485072"/>
            <a:ext cx="14688364" cy="5850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Challenges Faced in Sri Lankan Ayurvedic Herbal Sector</a:t>
            </a:r>
          </a:p>
          <a:p>
            <a:pPr algn="l">
              <a:lnSpc>
                <a:spcPts val="4619"/>
              </a:lnSpc>
            </a:pPr>
            <a:endParaRPr lang="en-US" sz="3299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 Lanka has -1,400 medicinal plant species used in Ayurveda for over 3,000 years.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Indigenous knowledge is rapidly disappearing (most practitioners aged 55+).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Less than 30% of population can identify common medicinal plants.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face crop failures and income loss due to poor selection and market timing.</a:t>
            </a:r>
          </a:p>
          <a:p>
            <a:pPr marL="712467" lvl="1" indent="-356233" algn="l">
              <a:lnSpc>
                <a:spcPts val="4619"/>
              </a:lnSpc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assessment of plants is manual, subjective, and inconsistent.</a:t>
            </a:r>
          </a:p>
          <a:p>
            <a:pPr marL="712467" lvl="1" indent="-356233" algn="l">
              <a:lnSpc>
                <a:spcPts val="4619"/>
              </a:lnSpc>
              <a:spcBef>
                <a:spcPct val="0"/>
              </a:spcBef>
              <a:buFont typeface="Arial"/>
              <a:buChar char="•"/>
            </a:pPr>
            <a:r>
              <a:rPr lang="en-US" sz="32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is scattered, mostly in English, and not easily accessible.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418590"/>
            <a:ext cx="13229980" cy="721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of the Problem on Users and Society</a:t>
            </a:r>
          </a:p>
          <a:p>
            <a:pPr algn="l">
              <a:lnSpc>
                <a:spcPts val="3779"/>
              </a:lnSpc>
            </a:pPr>
            <a:endParaRPr lang="en-US" sz="31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Farmers: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Income loss of 30-60%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crop failure rates (15-25%)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Vulnerability to middlemen exploitation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Manufacturers &amp; Industry: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LKR 2.3 Billion spent annually on imports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Inconsistent raw material supply and quality issues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Society: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Loss of indigenous Ayurvedic knowledge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health risks from misidentified or low-quality plants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Educational gap among younger generation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Environmental pressure from unsustainable harvesting</a:t>
            </a:r>
          </a:p>
        </p:txBody>
      </p:sp>
      <p:sp>
        <p:nvSpPr>
          <p:cNvPr id="8" name="Freeform 8"/>
          <p:cNvSpPr/>
          <p:nvPr/>
        </p:nvSpPr>
        <p:spPr>
          <a:xfrm>
            <a:off x="11516216" y="5868451"/>
            <a:ext cx="6479575" cy="3628562"/>
          </a:xfrm>
          <a:custGeom>
            <a:avLst/>
            <a:gdLst/>
            <a:ahLst/>
            <a:cxnLst/>
            <a:rect l="l" t="t" r="r" b="b"/>
            <a:pathLst>
              <a:path w="6479575" h="3628562">
                <a:moveTo>
                  <a:pt x="0" y="0"/>
                </a:moveTo>
                <a:lnTo>
                  <a:pt x="6479575" y="0"/>
                </a:lnTo>
                <a:lnTo>
                  <a:pt x="6479575" y="3628562"/>
                </a:lnTo>
                <a:lnTo>
                  <a:pt x="0" y="3628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944351" y="919998"/>
            <a:ext cx="6343649" cy="3552443"/>
          </a:xfrm>
          <a:custGeom>
            <a:avLst/>
            <a:gdLst/>
            <a:ahLst/>
            <a:cxnLst/>
            <a:rect l="l" t="t" r="r" b="b"/>
            <a:pathLst>
              <a:path w="6343649" h="3552443">
                <a:moveTo>
                  <a:pt x="0" y="0"/>
                </a:moveTo>
                <a:lnTo>
                  <a:pt x="6343649" y="0"/>
                </a:lnTo>
                <a:lnTo>
                  <a:pt x="6343649" y="3552444"/>
                </a:lnTo>
                <a:lnTo>
                  <a:pt x="0" y="35524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5551" y="386715"/>
            <a:ext cx="15616897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Ayurvedic Herbal Plant Identification and Economic Analysis in sri lanka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11224633" y="5573239"/>
            <a:ext cx="4444465" cy="3923774"/>
          </a:xfrm>
          <a:custGeom>
            <a:avLst/>
            <a:gdLst/>
            <a:ahLst/>
            <a:cxnLst/>
            <a:rect l="l" t="t" r="r" b="b"/>
            <a:pathLst>
              <a:path w="4444465" h="3923774">
                <a:moveTo>
                  <a:pt x="0" y="0"/>
                </a:moveTo>
                <a:lnTo>
                  <a:pt x="4444464" y="0"/>
                </a:lnTo>
                <a:lnTo>
                  <a:pt x="4444464" y="3923774"/>
                </a:lnTo>
                <a:lnTo>
                  <a:pt x="0" y="39237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335551" y="2104111"/>
            <a:ext cx="13229980" cy="483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Solutions and Their Limitations</a:t>
            </a:r>
          </a:p>
          <a:p>
            <a:pPr algn="l">
              <a:lnSpc>
                <a:spcPts val="4899"/>
              </a:lnSpc>
              <a:spcBef>
                <a:spcPct val="0"/>
              </a:spcBef>
            </a:pPr>
            <a:endParaRPr lang="en-US" sz="31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plant ID apps not trained for Sri Lankan species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Pattern-matching chatbots cannot handle novel questions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integration between identification, knowledge, cultivation, and quality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explainability in AI decisions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or no Sinhala language support</a:t>
            </a:r>
          </a:p>
          <a:p>
            <a:pPr marL="626109" lvl="1" indent="-313054" algn="l">
              <a:lnSpc>
                <a:spcPts val="4059"/>
              </a:lnSpc>
              <a:spcBef>
                <a:spcPct val="0"/>
              </a:spcBef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economic/profit analysis for farmers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endParaRPr lang="en-US" sz="28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Freeform 9"/>
          <p:cNvSpPr/>
          <p:nvPr/>
        </p:nvSpPr>
        <p:spPr>
          <a:xfrm>
            <a:off x="13686633" y="755332"/>
            <a:ext cx="3964928" cy="3964928"/>
          </a:xfrm>
          <a:custGeom>
            <a:avLst/>
            <a:gdLst/>
            <a:ahLst/>
            <a:cxnLst/>
            <a:rect l="l" t="t" r="r" b="b"/>
            <a:pathLst>
              <a:path w="3964928" h="3964928">
                <a:moveTo>
                  <a:pt x="0" y="0"/>
                </a:moveTo>
                <a:lnTo>
                  <a:pt x="3964929" y="0"/>
                </a:lnTo>
                <a:lnTo>
                  <a:pt x="3964929" y="3964929"/>
                </a:lnTo>
                <a:lnTo>
                  <a:pt x="0" y="3964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5551" y="386715"/>
            <a:ext cx="15616897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Ayurvedic Herbal Plant Identification and Economic Analysis in sri lanka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3505" y="1806585"/>
            <a:ext cx="8600105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Excellence of the Overall Solution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35551" y="386715"/>
            <a:ext cx="15616897" cy="64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A6A6A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Ayurvedic Herbal Plant Identification and Economic Analysis in sri lanka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5551" y="2435837"/>
            <a:ext cx="16430848" cy="593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60302" lvl="1" algn="l">
              <a:lnSpc>
                <a:spcPts val="2078"/>
              </a:lnSpc>
              <a:spcBef>
                <a:spcPct val="0"/>
              </a:spcBef>
            </a:pPr>
            <a:endParaRPr lang="en-US" dirty="0">
              <a:sym typeface="Times New Roman"/>
            </a:endParaRPr>
          </a:p>
          <a:p>
            <a:pPr marL="513410" lvl="1" indent="-256705">
              <a:lnSpc>
                <a:spcPts val="4755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CNN-based intelligent plant recognition.</a:t>
            </a:r>
            <a:endParaRPr lang="en-US" sz="29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513410" lvl="1" indent="-256705">
              <a:lnSpc>
                <a:spcPts val="4755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Fast Ai-based Medicinal Plant Quality Assessment.</a:t>
            </a: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marL="513410" lvl="1" indent="-256705">
              <a:lnSpc>
                <a:spcPts val="4755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Prediction Using Grad-cam Heatmaps.</a:t>
            </a:r>
            <a:endParaRPr lang="en-US" sz="290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Scalable design that allows adding more herbal plants and features in the future.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Integration of AI/ML with real-world agricultural problem-solving.</a:t>
            </a:r>
            <a:endParaRPr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RAG-based Herbal AI Assistant -No prior solution combines deep plant knowledge with conversational AI and multilingual support for Sinhala.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Knowledge Updates - New plants added to </a:t>
            </a:r>
            <a:r>
              <a:rPr lang="en-US" sz="2899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ChromaDB</a:t>
            </a:r>
            <a:r>
              <a:rPr lang="en-US" sz="2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vector store instantly without retraining or manual pattern creation.</a:t>
            </a:r>
          </a:p>
          <a:p>
            <a:pPr algn="l">
              <a:lnSpc>
                <a:spcPts val="4059"/>
              </a:lnSpc>
            </a:pPr>
            <a:endParaRPr lang="en-US" sz="28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85" b="-1658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7079" y="9563519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IT22640598  |   M P MUNASINGHE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82172" y="4912916"/>
            <a:ext cx="4345384" cy="4345384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346" t="-36924" r="-134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854826" y="1717354"/>
            <a:ext cx="13386926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HERBAL KNOWLEDGE INTELLIGENCE SYSTEM - AI ASSISTANT FOR SRI LANKAN MEDICINAL PLANTS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286137" y="972458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664600" y="6842220"/>
            <a:ext cx="5606616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MUNASINGHE M P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IT22640598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888" b="-8888"/>
            </a:stretch>
          </a:blipFill>
        </p:spPr>
        <p:txBody>
          <a:bodyPr/>
          <a:lstStyle/>
          <a:p>
            <a:r>
              <a:rPr lang="en-US" dirty="0"/>
              <a:t>j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6651" y="9560210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IT22640598  |   M P MUNASINGHE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59300" y="9763125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8405" y="386715"/>
            <a:ext cx="17171190" cy="147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Herbal Knowledge Intelligence System - AI Assistant for Sri Lankan Medicinal Plants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8405" y="2463124"/>
            <a:ext cx="8585595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the Solution will Address the Sub-Problem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8405" y="3361340"/>
            <a:ext cx="8585595" cy="5146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Ayurvedic knowledge is declining due to poor accessibility and lack of interactive tools.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chatbots suffer from loss of conversation context, topic drifting, and frequent hallucinations.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find it difficult to ask follow-up questions about the same medicinal plant.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 provides a context-aware conversational assistant that remembers the plant being discussed and maintains meaningful dialogue.</a:t>
            </a:r>
          </a:p>
          <a:p>
            <a:pPr algn="l">
              <a:lnSpc>
                <a:spcPts val="4059"/>
              </a:lnSpc>
            </a:pPr>
            <a:endParaRPr lang="en-US" sz="2899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756648" y="2463124"/>
            <a:ext cx="7972947" cy="566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Requirements Addressed by the Solution</a:t>
            </a: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756648" y="3444240"/>
            <a:ext cx="8279271" cy="3979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ask free-form questions in English or Sinhala about medicinal plants.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maintains conversation context for follow-up questions (e.g., “What are its benefits?” after mentioning a plant).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accurate, grounded answers.</a:t>
            </a:r>
          </a:p>
          <a:p>
            <a:pPr marL="582930" lvl="1" indent="-291465" algn="l">
              <a:lnSpc>
                <a:spcPts val="3779"/>
              </a:lnSpc>
              <a:buFont typeface="Arial"/>
              <a:buChar char="•"/>
            </a:pPr>
            <a:r>
              <a:rPr lang="en-US" sz="29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mobile access through Flutter frontend.</a:t>
            </a:r>
          </a:p>
          <a:p>
            <a:pPr algn="l">
              <a:lnSpc>
                <a:spcPts val="3779"/>
              </a:lnSpc>
            </a:pPr>
            <a:endParaRPr lang="en-US" sz="29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5168" y="9550692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IT22640598  |   M P MUNASINGHE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344468" y="9753607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8643" y="386715"/>
            <a:ext cx="16830714" cy="1474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Herbal Knowledge Intelligence System - AI Assistant for Sri Lankan Medicinal Plants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782121" y="2519191"/>
            <a:ext cx="7562347" cy="5687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Feedback on Prototype</a:t>
            </a:r>
          </a:p>
          <a:p>
            <a:pPr algn="l">
              <a:lnSpc>
                <a:spcPts val="4479"/>
              </a:lnSpc>
            </a:pPr>
            <a:endParaRPr lang="en-US" sz="31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maintains conversation context during multi-turn dialogues.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appreciate natural follow-up questioning about the same plant.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and relevant responses with good grounding.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feedback on multilingual support .</a:t>
            </a:r>
          </a:p>
          <a:p>
            <a:pPr algn="l">
              <a:lnSpc>
                <a:spcPts val="3779"/>
              </a:lnSpc>
            </a:pPr>
            <a:endParaRPr lang="en-US" sz="28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779"/>
              </a:lnSpc>
            </a:pPr>
            <a:endParaRPr lang="en-US" sz="28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28643" y="2519191"/>
            <a:ext cx="8101125" cy="7183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Excellence / Contribution</a:t>
            </a:r>
          </a:p>
          <a:p>
            <a:pPr algn="l">
              <a:lnSpc>
                <a:spcPts val="3779"/>
              </a:lnSpc>
            </a:pPr>
            <a:endParaRPr lang="en-US" sz="31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optimized chunking strategy (700 characters with 150 overlap) and text-embedding-3-large for high retrieval accuracy.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Contextual Query Rewriting + Strict Plant Topic Anchoring - that solves context loss in domain-specific conversations.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Chose RAG over Fine-tuning for better maintainability and updatability of traditional knowledge.</a:t>
            </a:r>
          </a:p>
          <a:p>
            <a:pPr marL="626109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session management and conversation memory.</a:t>
            </a:r>
          </a:p>
          <a:p>
            <a:pPr algn="l">
              <a:lnSpc>
                <a:spcPts val="3779"/>
              </a:lnSpc>
            </a:pPr>
            <a:endParaRPr lang="en-US" sz="28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85" b="-1658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68977" y="9559925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57498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58971" y="217128"/>
              <a:ext cx="7376693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IT22132796 |   D G T K WICKRAMASINGHE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456773" y="5201694"/>
            <a:ext cx="4056606" cy="405660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391" t="-39038" b="-619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80344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24478" y="6630900"/>
            <a:ext cx="5638453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IT22132796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Wickramasinghe D G T 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00940" y="1218077"/>
            <a:ext cx="15686121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CULTIVATION RECOMMENDATION SYSTEM FOR SMALL-SCALE HERBAL FARMERS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522" y="9559925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37754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60251" y="217128"/>
              <a:ext cx="7376693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IT22132796 |   D G T K WICKRAMASINGHE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30400" y="1165429"/>
            <a:ext cx="12178447" cy="927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22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the Solution Addresses the Sub-Problem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solves the difficulty of identifying medicinal herbal plants accurately using manual methods.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uses a machine learning model to analyze plant data and predict the correct herbal species.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and users can input environmental and soil parameters to get accurate recommendations.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dependency on expert knowledge, which is often limited or unavailable in rural areas.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decision-making speed in herbal cultivation and selection.</a:t>
            </a:r>
          </a:p>
          <a:p>
            <a:pPr algn="l">
              <a:lnSpc>
                <a:spcPts val="4437"/>
              </a:lnSpc>
            </a:pPr>
            <a:endParaRPr lang="en-US" sz="221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437"/>
              </a:lnSpc>
            </a:pPr>
            <a:r>
              <a:rPr lang="en-US" sz="221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Requirements Addressed by the Solution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and user-friendly interface for farmers and non-technical users.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prediction results through an automated backend model.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Ability to input basic agricultural parameters (soil type, rainfall, land size, etc.).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and accurate crop/plant recommendations.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Mobile/web accessibility for easy usage in field conditions.</a:t>
            </a:r>
          </a:p>
          <a:p>
            <a:pPr marL="479006" lvl="1" indent="-239503" algn="l">
              <a:lnSpc>
                <a:spcPts val="4437"/>
              </a:lnSpc>
              <a:buFont typeface="Arial"/>
              <a:buChar char="•"/>
            </a:pPr>
            <a:r>
              <a:rPr lang="en-US" sz="22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Minimal manual effort required from the user.</a:t>
            </a:r>
          </a:p>
          <a:p>
            <a:pPr algn="l">
              <a:lnSpc>
                <a:spcPts val="3872"/>
              </a:lnSpc>
            </a:pPr>
            <a:endParaRPr lang="en-US" sz="221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872"/>
              </a:lnSpc>
            </a:pPr>
            <a:endParaRPr lang="en-US" sz="221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3746778" y="5353667"/>
            <a:ext cx="4124189" cy="4206258"/>
            <a:chOff x="0" y="0"/>
            <a:chExt cx="6062980" cy="6183630"/>
          </a:xfrm>
        </p:grpSpPr>
        <p:sp>
          <p:nvSpPr>
            <p:cNvPr id="10" name="Freeform 10"/>
            <p:cNvSpPr/>
            <p:nvPr/>
          </p:nvSpPr>
          <p:spPr>
            <a:xfrm>
              <a:off x="155" y="123"/>
              <a:ext cx="6062976" cy="6183206"/>
            </a:xfrm>
            <a:custGeom>
              <a:avLst/>
              <a:gdLst/>
              <a:ahLst/>
              <a:cxnLst/>
              <a:rect l="l" t="t" r="r" b="b"/>
              <a:pathLst>
                <a:path w="6062976" h="6183206">
                  <a:moveTo>
                    <a:pt x="3345025" y="695837"/>
                  </a:moveTo>
                  <a:cubicBezTo>
                    <a:pt x="2897985" y="1356237"/>
                    <a:pt x="2951325" y="1918847"/>
                    <a:pt x="2447135" y="2218567"/>
                  </a:cubicBezTo>
                  <a:cubicBezTo>
                    <a:pt x="1431135" y="2824357"/>
                    <a:pt x="389735" y="2246507"/>
                    <a:pt x="69695" y="3285367"/>
                  </a:cubicBezTo>
                  <a:cubicBezTo>
                    <a:pt x="-257965" y="4349627"/>
                    <a:pt x="581505" y="5378327"/>
                    <a:pt x="2339185" y="6022217"/>
                  </a:cubicBezTo>
                  <a:cubicBezTo>
                    <a:pt x="4388965" y="6775327"/>
                    <a:pt x="6481925" y="4725547"/>
                    <a:pt x="5990435" y="3200277"/>
                  </a:cubicBezTo>
                  <a:cubicBezTo>
                    <a:pt x="5584035" y="1936627"/>
                    <a:pt x="6287615" y="1382907"/>
                    <a:pt x="5864705" y="695837"/>
                  </a:cubicBezTo>
                  <a:cubicBezTo>
                    <a:pt x="5171285" y="-428113"/>
                    <a:pt x="3823815" y="-12823"/>
                    <a:pt x="3345025" y="695837"/>
                  </a:cubicBezTo>
                  <a:close/>
                </a:path>
              </a:pathLst>
            </a:custGeom>
            <a:blipFill>
              <a:blip r:embed="rId4"/>
              <a:stretch>
                <a:fillRect l="-8865" t="-15442" r="-886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759773" y="1722764"/>
            <a:ext cx="4111194" cy="3817418"/>
            <a:chOff x="-36830" y="-113030"/>
            <a:chExt cx="4278126" cy="3972421"/>
          </a:xfrm>
        </p:grpSpPr>
        <p:sp>
          <p:nvSpPr>
            <p:cNvPr id="12" name="Freeform 12"/>
            <p:cNvSpPr/>
            <p:nvPr/>
          </p:nvSpPr>
          <p:spPr>
            <a:xfrm>
              <a:off x="57195" y="75776"/>
              <a:ext cx="4220931" cy="3774843"/>
            </a:xfrm>
            <a:custGeom>
              <a:avLst/>
              <a:gdLst/>
              <a:ahLst/>
              <a:cxnLst/>
              <a:rect l="l" t="t" r="r" b="b"/>
              <a:pathLst>
                <a:path w="4220931" h="3774843">
                  <a:moveTo>
                    <a:pt x="4220931" y="2079633"/>
                  </a:moveTo>
                  <a:cubicBezTo>
                    <a:pt x="4220931" y="2275920"/>
                    <a:pt x="4060896" y="2471146"/>
                    <a:pt x="3725325" y="2548600"/>
                  </a:cubicBezTo>
                  <a:cubicBezTo>
                    <a:pt x="3261686" y="2656823"/>
                    <a:pt x="3204947" y="2930563"/>
                    <a:pt x="3258444" y="3208548"/>
                  </a:cubicBezTo>
                  <a:cubicBezTo>
                    <a:pt x="3329773" y="3580962"/>
                    <a:pt x="2741307" y="3896645"/>
                    <a:pt x="2214445" y="3728443"/>
                  </a:cubicBezTo>
                  <a:cubicBezTo>
                    <a:pt x="2099345" y="3695552"/>
                    <a:pt x="1989110" y="3653111"/>
                    <a:pt x="1864284" y="3640379"/>
                  </a:cubicBezTo>
                  <a:cubicBezTo>
                    <a:pt x="1707035" y="3623402"/>
                    <a:pt x="1543302" y="3647806"/>
                    <a:pt x="1384433" y="3631891"/>
                  </a:cubicBezTo>
                  <a:cubicBezTo>
                    <a:pt x="830011" y="3574596"/>
                    <a:pt x="402037" y="3521546"/>
                    <a:pt x="150764" y="3156558"/>
                  </a:cubicBezTo>
                  <a:cubicBezTo>
                    <a:pt x="-47013" y="2870085"/>
                    <a:pt x="-29180" y="2515708"/>
                    <a:pt x="275590" y="2263188"/>
                  </a:cubicBezTo>
                  <a:cubicBezTo>
                    <a:pt x="444186" y="2126318"/>
                    <a:pt x="528484" y="1945946"/>
                    <a:pt x="528484" y="1761330"/>
                  </a:cubicBezTo>
                  <a:cubicBezTo>
                    <a:pt x="528484" y="1571410"/>
                    <a:pt x="440943" y="1376184"/>
                    <a:pt x="264242" y="1217032"/>
                  </a:cubicBezTo>
                  <a:cubicBezTo>
                    <a:pt x="81056" y="1049393"/>
                    <a:pt x="0" y="859472"/>
                    <a:pt x="0" y="678039"/>
                  </a:cubicBezTo>
                  <a:cubicBezTo>
                    <a:pt x="0" y="480691"/>
                    <a:pt x="136174" y="239842"/>
                    <a:pt x="355024" y="98728"/>
                  </a:cubicBezTo>
                  <a:cubicBezTo>
                    <a:pt x="656552" y="-94376"/>
                    <a:pt x="1082906" y="20213"/>
                    <a:pt x="1290408" y="232415"/>
                  </a:cubicBezTo>
                  <a:cubicBezTo>
                    <a:pt x="1444414" y="391566"/>
                    <a:pt x="1760532" y="498728"/>
                    <a:pt x="2049091" y="456288"/>
                  </a:cubicBezTo>
                  <a:cubicBezTo>
                    <a:pt x="2152842" y="441434"/>
                    <a:pt x="2250109" y="413848"/>
                    <a:pt x="2348997" y="390505"/>
                  </a:cubicBezTo>
                  <a:cubicBezTo>
                    <a:pt x="2736444" y="300320"/>
                    <a:pt x="3206568" y="415970"/>
                    <a:pt x="3358953" y="673795"/>
                  </a:cubicBezTo>
                  <a:cubicBezTo>
                    <a:pt x="3449736" y="827642"/>
                    <a:pt x="3354089" y="934803"/>
                    <a:pt x="3328151" y="1085467"/>
                  </a:cubicBezTo>
                  <a:cubicBezTo>
                    <a:pt x="3289245" y="1308279"/>
                    <a:pt x="3456220" y="1533213"/>
                    <a:pt x="3775580" y="1624460"/>
                  </a:cubicBezTo>
                  <a:cubicBezTo>
                    <a:pt x="4080349" y="1711463"/>
                    <a:pt x="4220931" y="1896078"/>
                    <a:pt x="4220931" y="2079633"/>
                  </a:cubicBezTo>
                  <a:close/>
                </a:path>
              </a:pathLst>
            </a:custGeom>
            <a:blipFill>
              <a:blip r:embed="rId5"/>
              <a:stretch>
                <a:fillRect l="-2227" t="-7222" r="-1398" b="-864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259300" y="98129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07725" y="522409"/>
            <a:ext cx="13072550" cy="506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0"/>
              </a:lnSpc>
              <a:spcBef>
                <a:spcPct val="0"/>
              </a:spcBef>
            </a:pPr>
            <a:r>
              <a:rPr lang="en-US" sz="2922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Cultivation Recommendation System For Small-Scale Herbal Farmers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222" b="-12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4522" y="9559925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37754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960251" y="217128"/>
              <a:ext cx="7376693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IT22132796 |   D G T K WICKRAMASINGHE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63929" y="1763245"/>
            <a:ext cx="7099148" cy="3068547"/>
            <a:chOff x="0" y="0"/>
            <a:chExt cx="12407900" cy="5363210"/>
          </a:xfrm>
        </p:grpSpPr>
        <p:sp>
          <p:nvSpPr>
            <p:cNvPr id="9" name="Freeform 9"/>
            <p:cNvSpPr/>
            <p:nvPr/>
          </p:nvSpPr>
          <p:spPr>
            <a:xfrm>
              <a:off x="273" y="894"/>
              <a:ext cx="12408218" cy="5362900"/>
            </a:xfrm>
            <a:custGeom>
              <a:avLst/>
              <a:gdLst/>
              <a:ahLst/>
              <a:cxnLst/>
              <a:rect l="l" t="t" r="r" b="b"/>
              <a:pathLst>
                <a:path w="12408218" h="5362900">
                  <a:moveTo>
                    <a:pt x="257537" y="916046"/>
                  </a:moveTo>
                  <a:cubicBezTo>
                    <a:pt x="1389107" y="-1300104"/>
                    <a:pt x="5807437" y="1660266"/>
                    <a:pt x="7562577" y="579496"/>
                  </a:cubicBezTo>
                  <a:cubicBezTo>
                    <a:pt x="10082257" y="-971174"/>
                    <a:pt x="13390607" y="744596"/>
                    <a:pt x="12132037" y="3891656"/>
                  </a:cubicBezTo>
                  <a:cubicBezTo>
                    <a:pt x="11490687" y="5495666"/>
                    <a:pt x="8574767" y="4223126"/>
                    <a:pt x="7237457" y="4864476"/>
                  </a:cubicBezTo>
                  <a:cubicBezTo>
                    <a:pt x="3775437" y="6521826"/>
                    <a:pt x="-1188993" y="3748146"/>
                    <a:pt x="257537" y="916046"/>
                  </a:cubicBezTo>
                  <a:close/>
                </a:path>
              </a:pathLst>
            </a:custGeom>
            <a:blipFill>
              <a:blip r:embed="rId4">
                <a:alphaModFix amt="75000"/>
              </a:blip>
              <a:stretch>
                <a:fillRect t="-27123" b="-271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046127"/>
            <a:ext cx="11374384" cy="957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5"/>
              </a:lnSpc>
            </a:pPr>
            <a:r>
              <a:rPr lang="en-US" sz="237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Excellence / Contribution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and modern UI designed for easy understanding and usability.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Modular system architecture (frontend + backend + ML model separation).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data processing pipeline for quick predictions.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design that allows adding more herbal plants and features in the future.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AI/ML with real-world agricultural problem-solving.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 on performance optimization and reduced response time.</a:t>
            </a:r>
          </a:p>
          <a:p>
            <a:pPr algn="l">
              <a:lnSpc>
                <a:spcPts val="4755"/>
              </a:lnSpc>
            </a:pPr>
            <a:r>
              <a:rPr lang="en-US" sz="237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Feedback on Prototype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found the interface simple and easy to navigate.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Positive feedback on the quick response time of predictions.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appreciated the automated recommendation system compared to manual methods.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users suggested adding more plant categories and detailed explanations.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Farmers expressed interest in using it as a daily agricultural support tool.</a:t>
            </a:r>
          </a:p>
          <a:p>
            <a:pPr marL="513410" lvl="1" indent="-256705" algn="l">
              <a:lnSpc>
                <a:spcPts val="4755"/>
              </a:lnSpc>
              <a:buFont typeface="Arial"/>
              <a:buChar char="•"/>
            </a:pPr>
            <a:r>
              <a:rPr lang="en-US" sz="2377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considered useful for improving herbal cultivation decisions.</a:t>
            </a:r>
          </a:p>
          <a:p>
            <a:pPr algn="l">
              <a:lnSpc>
                <a:spcPts val="4755"/>
              </a:lnSpc>
            </a:pPr>
            <a:endParaRPr lang="en-US" sz="237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755"/>
              </a:lnSpc>
            </a:pPr>
            <a:endParaRPr lang="en-US" sz="2377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2860419" y="4831792"/>
            <a:ext cx="5102657" cy="4717574"/>
            <a:chOff x="-31750" y="-27940"/>
            <a:chExt cx="5233670" cy="4838700"/>
          </a:xfrm>
        </p:grpSpPr>
        <p:sp>
          <p:nvSpPr>
            <p:cNvPr id="12" name="Freeform 12"/>
            <p:cNvSpPr/>
            <p:nvPr/>
          </p:nvSpPr>
          <p:spPr>
            <a:xfrm>
              <a:off x="27940" y="27940"/>
              <a:ext cx="5175088" cy="4782820"/>
            </a:xfrm>
            <a:custGeom>
              <a:avLst/>
              <a:gdLst/>
              <a:ahLst/>
              <a:cxnLst/>
              <a:rect l="l" t="t" r="r" b="b"/>
              <a:pathLst>
                <a:path w="5175088" h="4782820">
                  <a:moveTo>
                    <a:pt x="5104130" y="2486660"/>
                  </a:moveTo>
                  <a:lnTo>
                    <a:pt x="2940050" y="4650740"/>
                  </a:lnTo>
                  <a:cubicBezTo>
                    <a:pt x="2839720" y="4751070"/>
                    <a:pt x="2668270" y="4742180"/>
                    <a:pt x="2556510" y="4631690"/>
                  </a:cubicBezTo>
                  <a:cubicBezTo>
                    <a:pt x="2444750" y="4519930"/>
                    <a:pt x="2435860" y="4348480"/>
                    <a:pt x="2537460" y="4248150"/>
                  </a:cubicBezTo>
                  <a:lnTo>
                    <a:pt x="2288540" y="4495800"/>
                  </a:lnTo>
                  <a:cubicBezTo>
                    <a:pt x="2188210" y="4596130"/>
                    <a:pt x="2016760" y="4587240"/>
                    <a:pt x="1905000" y="4476750"/>
                  </a:cubicBezTo>
                  <a:cubicBezTo>
                    <a:pt x="1814830" y="4386580"/>
                    <a:pt x="1791970" y="4254500"/>
                    <a:pt x="1841500" y="4155440"/>
                  </a:cubicBezTo>
                  <a:lnTo>
                    <a:pt x="1296670" y="4699000"/>
                  </a:lnTo>
                  <a:cubicBezTo>
                    <a:pt x="1184910" y="4810760"/>
                    <a:pt x="1004570" y="4810760"/>
                    <a:pt x="892810" y="4699000"/>
                  </a:cubicBezTo>
                  <a:cubicBezTo>
                    <a:pt x="781050" y="4587240"/>
                    <a:pt x="781050" y="4406900"/>
                    <a:pt x="892810" y="4295140"/>
                  </a:cubicBezTo>
                  <a:lnTo>
                    <a:pt x="1167130" y="4020820"/>
                  </a:lnTo>
                  <a:cubicBezTo>
                    <a:pt x="1164590" y="4023360"/>
                    <a:pt x="1163320" y="4024630"/>
                    <a:pt x="1160780" y="4027170"/>
                  </a:cubicBezTo>
                  <a:cubicBezTo>
                    <a:pt x="1178560" y="4008120"/>
                    <a:pt x="1192530" y="3987800"/>
                    <a:pt x="1203960" y="3966210"/>
                  </a:cubicBezTo>
                  <a:lnTo>
                    <a:pt x="1182370" y="3987800"/>
                  </a:lnTo>
                  <a:cubicBezTo>
                    <a:pt x="1082040" y="4088130"/>
                    <a:pt x="910590" y="4079240"/>
                    <a:pt x="798830" y="3968750"/>
                  </a:cubicBezTo>
                  <a:cubicBezTo>
                    <a:pt x="708660" y="3878580"/>
                    <a:pt x="685800" y="3746500"/>
                    <a:pt x="734060" y="3647440"/>
                  </a:cubicBezTo>
                  <a:lnTo>
                    <a:pt x="487680" y="3893820"/>
                  </a:lnTo>
                  <a:cubicBezTo>
                    <a:pt x="375920" y="4005580"/>
                    <a:pt x="195580" y="4005580"/>
                    <a:pt x="83820" y="3893820"/>
                  </a:cubicBezTo>
                  <a:cubicBezTo>
                    <a:pt x="-27940" y="3782060"/>
                    <a:pt x="-27940" y="3601720"/>
                    <a:pt x="83820" y="3489960"/>
                  </a:cubicBezTo>
                  <a:lnTo>
                    <a:pt x="692150" y="2882900"/>
                  </a:lnTo>
                  <a:cubicBezTo>
                    <a:pt x="580390" y="2994660"/>
                    <a:pt x="400050" y="2994660"/>
                    <a:pt x="288290" y="2882900"/>
                  </a:cubicBezTo>
                  <a:cubicBezTo>
                    <a:pt x="176530" y="2771140"/>
                    <a:pt x="176530" y="2590800"/>
                    <a:pt x="288290" y="2479040"/>
                  </a:cubicBezTo>
                  <a:lnTo>
                    <a:pt x="2686050" y="83820"/>
                  </a:lnTo>
                  <a:cubicBezTo>
                    <a:pt x="2797810" y="-27940"/>
                    <a:pt x="2978150" y="-27940"/>
                    <a:pt x="3089910" y="83820"/>
                  </a:cubicBezTo>
                  <a:cubicBezTo>
                    <a:pt x="3201670" y="195580"/>
                    <a:pt x="3201670" y="375920"/>
                    <a:pt x="3089910" y="487680"/>
                  </a:cubicBezTo>
                  <a:lnTo>
                    <a:pt x="2192020" y="1384300"/>
                  </a:lnTo>
                  <a:cubicBezTo>
                    <a:pt x="2080260" y="1496060"/>
                    <a:pt x="2080260" y="1676400"/>
                    <a:pt x="2192020" y="1788160"/>
                  </a:cubicBezTo>
                  <a:cubicBezTo>
                    <a:pt x="2282190" y="1878330"/>
                    <a:pt x="2419350" y="1896110"/>
                    <a:pt x="2527300" y="1838960"/>
                  </a:cubicBezTo>
                  <a:lnTo>
                    <a:pt x="2945130" y="1421130"/>
                  </a:lnTo>
                  <a:cubicBezTo>
                    <a:pt x="2964180" y="1402080"/>
                    <a:pt x="2984500" y="1388110"/>
                    <a:pt x="3007360" y="1376680"/>
                  </a:cubicBezTo>
                  <a:lnTo>
                    <a:pt x="3162300" y="1221740"/>
                  </a:lnTo>
                  <a:cubicBezTo>
                    <a:pt x="3274060" y="1109980"/>
                    <a:pt x="3454400" y="1109980"/>
                    <a:pt x="3566160" y="1221740"/>
                  </a:cubicBezTo>
                  <a:cubicBezTo>
                    <a:pt x="3656330" y="1311910"/>
                    <a:pt x="3674110" y="1449070"/>
                    <a:pt x="3616960" y="1557020"/>
                  </a:cubicBezTo>
                  <a:lnTo>
                    <a:pt x="3896360" y="1277620"/>
                  </a:lnTo>
                  <a:cubicBezTo>
                    <a:pt x="3996690" y="1177290"/>
                    <a:pt x="4168140" y="1186180"/>
                    <a:pt x="4279900" y="1296670"/>
                  </a:cubicBezTo>
                  <a:cubicBezTo>
                    <a:pt x="4391660" y="1408430"/>
                    <a:pt x="4400550" y="1579880"/>
                    <a:pt x="4298950" y="1680210"/>
                  </a:cubicBezTo>
                  <a:lnTo>
                    <a:pt x="4230370" y="1748790"/>
                  </a:lnTo>
                  <a:cubicBezTo>
                    <a:pt x="4217670" y="1772920"/>
                    <a:pt x="4201160" y="1795780"/>
                    <a:pt x="4179570" y="1817370"/>
                  </a:cubicBezTo>
                  <a:cubicBezTo>
                    <a:pt x="4159250" y="1837690"/>
                    <a:pt x="4136390" y="1854200"/>
                    <a:pt x="4110990" y="1868170"/>
                  </a:cubicBezTo>
                  <a:lnTo>
                    <a:pt x="4050030" y="1929130"/>
                  </a:lnTo>
                  <a:cubicBezTo>
                    <a:pt x="4051300" y="1927860"/>
                    <a:pt x="4053840" y="1925320"/>
                    <a:pt x="4056380" y="1924050"/>
                  </a:cubicBezTo>
                  <a:cubicBezTo>
                    <a:pt x="3961130" y="2025650"/>
                    <a:pt x="3972560" y="2193290"/>
                    <a:pt x="4081780" y="2302510"/>
                  </a:cubicBezTo>
                  <a:cubicBezTo>
                    <a:pt x="4191000" y="2411730"/>
                    <a:pt x="4358640" y="2421890"/>
                    <a:pt x="4460240" y="2327910"/>
                  </a:cubicBezTo>
                  <a:cubicBezTo>
                    <a:pt x="4458970" y="2330450"/>
                    <a:pt x="4456430" y="2331720"/>
                    <a:pt x="4455160" y="2334260"/>
                  </a:cubicBezTo>
                  <a:lnTo>
                    <a:pt x="4702810" y="2086610"/>
                  </a:lnTo>
                  <a:cubicBezTo>
                    <a:pt x="4803140" y="1986280"/>
                    <a:pt x="4974590" y="1995170"/>
                    <a:pt x="5086350" y="2105660"/>
                  </a:cubicBezTo>
                  <a:cubicBezTo>
                    <a:pt x="5196840" y="2213610"/>
                    <a:pt x="5205730" y="2386330"/>
                    <a:pt x="5104130" y="2486660"/>
                  </a:cubicBezTo>
                  <a:close/>
                </a:path>
              </a:pathLst>
            </a:custGeom>
            <a:blipFill>
              <a:blip r:embed="rId5"/>
              <a:stretch>
                <a:fillRect l="-19370" r="-1937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259300" y="98129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07725" y="522409"/>
            <a:ext cx="13072550" cy="506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7"/>
              </a:lnSpc>
              <a:spcBef>
                <a:spcPct val="0"/>
              </a:spcBef>
            </a:pPr>
            <a:r>
              <a:rPr lang="en-US" sz="291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Cultivation Recommendation System For Small-Scale Herbal Farmers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85" b="-1658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5168" y="9607577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57498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58971" y="217092"/>
              <a:ext cx="7376693" cy="330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IT22168986 |   H D SACHINTHA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15656" y="4517354"/>
            <a:ext cx="4403139" cy="4403139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450" r="-3450" b="-425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8129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65900" y="6614149"/>
            <a:ext cx="6981132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D SACHINTHA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IT22168986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3327" y="1224254"/>
            <a:ext cx="16305973" cy="2063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MOBILE-BASED DETECTION OF SRI LANKAN AYURVEDIC PLANTS 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USING IMAGE RECOGNITION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endParaRPr lang="en-US" sz="39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3070933" y="709408"/>
            <a:ext cx="12146133" cy="153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7"/>
              </a:lnSpc>
              <a:spcBef>
                <a:spcPct val="0"/>
              </a:spcBef>
            </a:pPr>
            <a:r>
              <a:rPr lang="en-US" sz="291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MOBILE-BASED DETECTION OF SRI LANKAN AYURVEDIC PLANTS </a:t>
            </a:r>
          </a:p>
          <a:p>
            <a:pPr algn="ctr">
              <a:lnSpc>
                <a:spcPts val="4087"/>
              </a:lnSpc>
              <a:spcBef>
                <a:spcPct val="0"/>
              </a:spcBef>
            </a:pPr>
            <a:r>
              <a:rPr lang="en-US" sz="291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USING IMAGE RECOGNITION</a:t>
            </a:r>
          </a:p>
          <a:p>
            <a:pPr algn="ctr">
              <a:lnSpc>
                <a:spcPts val="4087"/>
              </a:lnSpc>
              <a:spcBef>
                <a:spcPct val="0"/>
              </a:spcBef>
            </a:pPr>
            <a:endParaRPr lang="en-US" sz="291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4760" y="1611390"/>
            <a:ext cx="9272200" cy="8887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51"/>
              </a:lnSpc>
            </a:pPr>
            <a:r>
              <a:rPr lang="en-US" sz="252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the Solution Addresses the Sub-Problem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scan plant leaves or seeds using a smartphone camera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model identifies Sri Lankan Ayurvedic medicinal plants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displays medicinal uses and plant details instantly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difficulty in identifying similar-looking medicinal plants</a:t>
            </a:r>
          </a:p>
          <a:p>
            <a:pPr algn="l">
              <a:lnSpc>
                <a:spcPts val="5051"/>
              </a:lnSpc>
            </a:pPr>
            <a:endParaRPr lang="en-US" sz="252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51"/>
              </a:lnSpc>
            </a:pPr>
            <a:r>
              <a:rPr lang="en-US" sz="2525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Requirements Addressed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Image capture using mobile camera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Fast plant recognition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Display medicinal information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User-friendly mobile interface</a:t>
            </a:r>
          </a:p>
          <a:p>
            <a:pPr marL="545312" lvl="1" indent="-272656" algn="l">
              <a:lnSpc>
                <a:spcPts val="5051"/>
              </a:lnSpc>
              <a:buFont typeface="Arial"/>
              <a:buChar char="•"/>
            </a:pPr>
            <a:r>
              <a:rPr lang="en-US" sz="252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Accurate identification results</a:t>
            </a:r>
          </a:p>
          <a:p>
            <a:pPr algn="l">
              <a:lnSpc>
                <a:spcPts val="5051"/>
              </a:lnSpc>
            </a:pPr>
            <a:endParaRPr lang="en-US" sz="252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051"/>
              </a:lnSpc>
            </a:pPr>
            <a:endParaRPr lang="en-US" sz="252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77878" y="9559925"/>
            <a:ext cx="16741658" cy="602298"/>
            <a:chOff x="0" y="0"/>
            <a:chExt cx="22322210" cy="8030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21127" y="45678"/>
              <a:ext cx="357498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58971" y="217110"/>
              <a:ext cx="7376693" cy="3307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IT22168986 |   H D SACHINTHA | R-26-IT-021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3118952" y="248072"/>
            <a:ext cx="5032850" cy="7539168"/>
          </a:xfrm>
          <a:custGeom>
            <a:avLst/>
            <a:gdLst/>
            <a:ahLst/>
            <a:cxnLst/>
            <a:rect l="l" t="t" r="r" b="b"/>
            <a:pathLst>
              <a:path w="5032850" h="7539168">
                <a:moveTo>
                  <a:pt x="0" y="0"/>
                </a:moveTo>
                <a:lnTo>
                  <a:pt x="5032850" y="0"/>
                </a:lnTo>
                <a:lnTo>
                  <a:pt x="5032850" y="7539168"/>
                </a:lnTo>
                <a:lnTo>
                  <a:pt x="0" y="7539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73" r="-12316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3336211" y="2020757"/>
            <a:ext cx="4598332" cy="2510222"/>
          </a:xfrm>
          <a:custGeom>
            <a:avLst/>
            <a:gdLst/>
            <a:ahLst/>
            <a:cxnLst/>
            <a:rect l="l" t="t" r="r" b="b"/>
            <a:pathLst>
              <a:path w="4598332" h="2510222">
                <a:moveTo>
                  <a:pt x="0" y="0"/>
                </a:moveTo>
                <a:lnTo>
                  <a:pt x="4598332" y="0"/>
                </a:lnTo>
                <a:lnTo>
                  <a:pt x="4598332" y="2510222"/>
                </a:lnTo>
                <a:lnTo>
                  <a:pt x="0" y="25102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164756" y="5146403"/>
            <a:ext cx="3987046" cy="3798097"/>
          </a:xfrm>
          <a:custGeom>
            <a:avLst/>
            <a:gdLst/>
            <a:ahLst/>
            <a:cxnLst/>
            <a:rect l="l" t="t" r="r" b="b"/>
            <a:pathLst>
              <a:path w="3987046" h="3798097">
                <a:moveTo>
                  <a:pt x="0" y="0"/>
                </a:moveTo>
                <a:lnTo>
                  <a:pt x="3987046" y="0"/>
                </a:lnTo>
                <a:lnTo>
                  <a:pt x="3987046" y="3798097"/>
                </a:lnTo>
                <a:lnTo>
                  <a:pt x="0" y="3798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882" t="-11156" b="-111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7194231" y="9812973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67022" y="5472875"/>
            <a:ext cx="5779877" cy="408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71"/>
              </a:lnSpc>
            </a:pPr>
            <a:r>
              <a:rPr lang="en-US" sz="2335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Excellence / Contribution</a:t>
            </a:r>
          </a:p>
          <a:p>
            <a:pPr marL="504262" lvl="1" indent="-252131" algn="l">
              <a:lnSpc>
                <a:spcPts val="4671"/>
              </a:lnSpc>
              <a:buFont typeface="Arial"/>
              <a:buChar char="•"/>
            </a:pPr>
            <a:r>
              <a:rPr lang="en-US" sz="233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CNN-based intelligent plant recognition</a:t>
            </a:r>
          </a:p>
          <a:p>
            <a:pPr marL="504262" lvl="1" indent="-252131" algn="l">
              <a:lnSpc>
                <a:spcPts val="4671"/>
              </a:lnSpc>
              <a:buFont typeface="Arial"/>
              <a:buChar char="•"/>
            </a:pPr>
            <a:r>
              <a:rPr lang="en-US" sz="233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Mobile-first design for easy public access</a:t>
            </a:r>
          </a:p>
          <a:p>
            <a:pPr marL="504262" lvl="1" indent="-252131" algn="l">
              <a:lnSpc>
                <a:spcPts val="4671"/>
              </a:lnSpc>
              <a:buFont typeface="Arial"/>
              <a:buChar char="•"/>
            </a:pPr>
            <a:r>
              <a:rPr lang="en-US" sz="233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AI with Ayurvedic knowledge</a:t>
            </a:r>
          </a:p>
          <a:p>
            <a:pPr marL="504262" lvl="1" indent="-252131" algn="l">
              <a:lnSpc>
                <a:spcPts val="4671"/>
              </a:lnSpc>
              <a:buFont typeface="Arial"/>
              <a:buChar char="•"/>
            </a:pPr>
            <a:r>
              <a:rPr lang="en-US" sz="233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preservation of traditional medicinal knowledge</a:t>
            </a:r>
          </a:p>
          <a:p>
            <a:pPr algn="l">
              <a:lnSpc>
                <a:spcPts val="4671"/>
              </a:lnSpc>
            </a:pPr>
            <a:endParaRPr lang="en-US" sz="233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5168" y="9559925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57498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58971" y="217128"/>
              <a:ext cx="7376693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IT22168986 |   H D SACHINTHA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12265" y="1320687"/>
            <a:ext cx="4294150" cy="3070317"/>
            <a:chOff x="0" y="0"/>
            <a:chExt cx="7620000" cy="5448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618730" cy="5448300"/>
            </a:xfrm>
            <a:custGeom>
              <a:avLst/>
              <a:gdLst/>
              <a:ahLst/>
              <a:cxnLst/>
              <a:rect l="l" t="t" r="r" b="b"/>
              <a:pathLst>
                <a:path w="7618730" h="5448300">
                  <a:moveTo>
                    <a:pt x="6323330" y="0"/>
                  </a:moveTo>
                  <a:lnTo>
                    <a:pt x="1296670" y="0"/>
                  </a:lnTo>
                  <a:cubicBezTo>
                    <a:pt x="580390" y="0"/>
                    <a:pt x="0" y="580390"/>
                    <a:pt x="0" y="1296670"/>
                  </a:cubicBezTo>
                  <a:lnTo>
                    <a:pt x="0" y="5448300"/>
                  </a:lnTo>
                  <a:lnTo>
                    <a:pt x="6322060" y="5448300"/>
                  </a:lnTo>
                  <a:cubicBezTo>
                    <a:pt x="7038340" y="5448300"/>
                    <a:pt x="7618730" y="4867910"/>
                    <a:pt x="7618730" y="4151630"/>
                  </a:cubicBezTo>
                  <a:lnTo>
                    <a:pt x="7618730" y="0"/>
                  </a:lnTo>
                  <a:lnTo>
                    <a:pt x="6323330" y="0"/>
                  </a:lnTo>
                  <a:close/>
                </a:path>
              </a:pathLst>
            </a:custGeom>
            <a:blipFill>
              <a:blip r:embed="rId4"/>
              <a:stretch>
                <a:fillRect l="-14062" r="-1406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2195596" y="5274253"/>
            <a:ext cx="6092404" cy="4061603"/>
          </a:xfrm>
          <a:custGeom>
            <a:avLst/>
            <a:gdLst/>
            <a:ahLst/>
            <a:cxnLst/>
            <a:rect l="l" t="t" r="r" b="b"/>
            <a:pathLst>
              <a:path w="6092404" h="4061603">
                <a:moveTo>
                  <a:pt x="0" y="0"/>
                </a:moveTo>
                <a:lnTo>
                  <a:pt x="6092404" y="0"/>
                </a:lnTo>
                <a:lnTo>
                  <a:pt x="6092404" y="4061603"/>
                </a:lnTo>
                <a:lnTo>
                  <a:pt x="0" y="40616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7058839" y="1282415"/>
            <a:ext cx="6053426" cy="3336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47"/>
              </a:lnSpc>
            </a:pPr>
            <a:r>
              <a:rPr lang="en-US" sz="222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  <a:p>
            <a:pPr marL="480069" lvl="1" indent="-240034" algn="l">
              <a:lnSpc>
                <a:spcPts val="4447"/>
              </a:lnSpc>
              <a:buFont typeface="Arial"/>
              <a:buChar char="•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disease detection</a:t>
            </a:r>
          </a:p>
          <a:p>
            <a:pPr marL="480069" lvl="1" indent="-240034" algn="l">
              <a:lnSpc>
                <a:spcPts val="4447"/>
              </a:lnSpc>
              <a:buFont typeface="Arial"/>
              <a:buChar char="•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chatbot for herbal recommendations</a:t>
            </a:r>
          </a:p>
          <a:p>
            <a:pPr marL="480069" lvl="1" indent="-240034" algn="l">
              <a:lnSpc>
                <a:spcPts val="4447"/>
              </a:lnSpc>
              <a:buFont typeface="Arial"/>
              <a:buChar char="•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database expansion</a:t>
            </a:r>
          </a:p>
          <a:p>
            <a:pPr marL="480069" lvl="1" indent="-240034" algn="l">
              <a:lnSpc>
                <a:spcPts val="4447"/>
              </a:lnSpc>
              <a:buFont typeface="Arial"/>
              <a:buChar char="•"/>
            </a:pPr>
            <a:r>
              <a:rPr lang="en-US" sz="222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Multi-language support</a:t>
            </a:r>
          </a:p>
          <a:p>
            <a:pPr algn="l">
              <a:lnSpc>
                <a:spcPts val="4447"/>
              </a:lnSpc>
            </a:pPr>
            <a:endParaRPr lang="en-US" sz="222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259300" y="97429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09239" y="149525"/>
            <a:ext cx="13315601" cy="1181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MOBILE-BASED DETECTION OF SRI LANKAN AYURVEDIC PLANTS </a:t>
            </a:r>
          </a:p>
          <a:p>
            <a:pPr algn="ctr">
              <a:lnSpc>
                <a:spcPts val="3109"/>
              </a:lnSpc>
              <a:spcBef>
                <a:spcPct val="0"/>
              </a:spcBef>
            </a:pPr>
            <a:r>
              <a:rPr lang="en-US" sz="222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USING IMAGE RECOGNITION</a:t>
            </a:r>
          </a:p>
          <a:p>
            <a:pPr algn="ctr">
              <a:lnSpc>
                <a:spcPts val="3109"/>
              </a:lnSpc>
              <a:spcBef>
                <a:spcPct val="0"/>
              </a:spcBef>
            </a:pPr>
            <a:endParaRPr lang="en-US" sz="222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543658" y="1130187"/>
            <a:ext cx="5369786" cy="3958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4"/>
              </a:lnSpc>
            </a:pPr>
            <a:r>
              <a:rPr lang="en-US" sz="2287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Prototype Features</a:t>
            </a:r>
          </a:p>
          <a:p>
            <a:pPr marL="493782" lvl="1" indent="-246891" algn="l">
              <a:lnSpc>
                <a:spcPts val="4574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image scanning</a:t>
            </a:r>
          </a:p>
          <a:p>
            <a:pPr marL="493782" lvl="1" indent="-246891" algn="l">
              <a:lnSpc>
                <a:spcPts val="4574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preprocessing module</a:t>
            </a:r>
          </a:p>
          <a:p>
            <a:pPr marL="493782" lvl="1" indent="-246891" algn="l">
              <a:lnSpc>
                <a:spcPts val="4574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recognition model</a:t>
            </a:r>
          </a:p>
          <a:p>
            <a:pPr marL="493782" lvl="1" indent="-246891" algn="l">
              <a:lnSpc>
                <a:spcPts val="4574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Medicinal plant database integration</a:t>
            </a:r>
          </a:p>
          <a:p>
            <a:pPr marL="493782" lvl="1" indent="-246891" algn="l">
              <a:lnSpc>
                <a:spcPts val="4574"/>
              </a:lnSpc>
              <a:buFont typeface="Arial"/>
              <a:buChar char="•"/>
            </a:pPr>
            <a:r>
              <a:rPr lang="en-US" sz="228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display with plant details</a:t>
            </a:r>
          </a:p>
          <a:p>
            <a:pPr algn="l">
              <a:lnSpc>
                <a:spcPts val="4574"/>
              </a:lnSpc>
            </a:pPr>
            <a:endParaRPr lang="en-US" sz="228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43658" y="4646720"/>
            <a:ext cx="6017006" cy="4094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06"/>
              </a:lnSpc>
            </a:pPr>
            <a:r>
              <a:rPr lang="en-US" sz="235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Feedback on Prototype</a:t>
            </a:r>
          </a:p>
          <a:p>
            <a:pPr algn="just">
              <a:lnSpc>
                <a:spcPts val="4706"/>
              </a:lnSpc>
            </a:pPr>
            <a:r>
              <a:rPr lang="en-US" sz="2353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Positive Feedback</a:t>
            </a:r>
          </a:p>
          <a:p>
            <a:pPr marL="508117" lvl="1" indent="-254059" algn="just">
              <a:lnSpc>
                <a:spcPts val="4706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use mobile application</a:t>
            </a:r>
          </a:p>
          <a:p>
            <a:pPr marL="508117" lvl="1" indent="-254059" algn="just">
              <a:lnSpc>
                <a:spcPts val="4706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Helpful medicinal information</a:t>
            </a:r>
          </a:p>
          <a:p>
            <a:pPr marL="508117" lvl="1" indent="-254059" algn="just">
              <a:lnSpc>
                <a:spcPts val="4706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Quick plant identification</a:t>
            </a:r>
          </a:p>
          <a:p>
            <a:pPr marL="508117" lvl="1" indent="-254059" algn="just">
              <a:lnSpc>
                <a:spcPts val="4706"/>
              </a:lnSpc>
              <a:buFont typeface="Arial"/>
              <a:buChar char="•"/>
            </a:pPr>
            <a:r>
              <a:rPr lang="en-US" sz="235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Attractive and simple interface</a:t>
            </a:r>
          </a:p>
          <a:p>
            <a:pPr algn="ctr">
              <a:lnSpc>
                <a:spcPts val="4706"/>
              </a:lnSpc>
            </a:pPr>
            <a:endParaRPr lang="en-US" sz="2353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00656" y="4951343"/>
            <a:ext cx="5406233" cy="349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9"/>
              </a:lnSpc>
            </a:pPr>
            <a:r>
              <a:rPr lang="en-US" sz="234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Suggested Improvements</a:t>
            </a:r>
          </a:p>
          <a:p>
            <a:pPr marL="507364" lvl="1" indent="-253682" algn="l">
              <a:lnSpc>
                <a:spcPts val="4699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more Sri Lankan medicinal plants</a:t>
            </a:r>
          </a:p>
          <a:p>
            <a:pPr marL="507364" lvl="1" indent="-253682" algn="l">
              <a:lnSpc>
                <a:spcPts val="4699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Sinhala/Tamil voice support</a:t>
            </a:r>
          </a:p>
          <a:p>
            <a:pPr marL="507364" lvl="1" indent="-253682" algn="l">
              <a:lnSpc>
                <a:spcPts val="4699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Offline mode support</a:t>
            </a:r>
          </a:p>
          <a:p>
            <a:pPr marL="507364" lvl="1" indent="-253682" algn="l">
              <a:lnSpc>
                <a:spcPts val="4699"/>
              </a:lnSpc>
              <a:buFont typeface="Arial"/>
              <a:buChar char="•"/>
            </a:pPr>
            <a:r>
              <a:rPr lang="en-US" sz="234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camera optimization</a:t>
            </a:r>
          </a:p>
          <a:p>
            <a:pPr algn="l">
              <a:lnSpc>
                <a:spcPts val="4699"/>
              </a:lnSpc>
            </a:pPr>
            <a:endParaRPr lang="en-US" sz="234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85" b="-1658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0480" y="9559925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60259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99878" y="217128"/>
              <a:ext cx="7122489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IT22112132 |   PATTIYA ARACHCHI P A H K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67712" y="4866712"/>
            <a:ext cx="4391588" cy="439158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691" r="-369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80344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05909" y="6957731"/>
            <a:ext cx="6981132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PATTIYA ARACHCHI P A H K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IT22112132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87502" y="1668781"/>
            <a:ext cx="14389565" cy="137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SYSTEM FOR AYURVEDIC MEDICINAL PLANT QUALITY ASSESSMENT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79834" y="9559925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60259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99878" y="217128"/>
              <a:ext cx="7122489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IT22112132 |   PATTIYA ARACHCHI P A H K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59300" y="97334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8448" y="485776"/>
            <a:ext cx="16391104" cy="542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SYSTEM FOR AYURVEDIC MEDICINAL PLANT QUALITY ASSESSMENT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9401" y="1741314"/>
            <a:ext cx="5530342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58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Identification</a:t>
            </a:r>
          </a:p>
          <a:p>
            <a:pPr algn="ctr">
              <a:lnSpc>
                <a:spcPts val="3058"/>
              </a:lnSpc>
              <a:spcBef>
                <a:spcPct val="0"/>
              </a:spcBef>
            </a:pPr>
            <a:endParaRPr lang="en-US" sz="32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833327" y="2271961"/>
            <a:ext cx="10892625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3784" lvl="1" indent="-181892" algn="l">
              <a:lnSpc>
                <a:spcPts val="2358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Ayurvedic Medicinal Plant Quality Is Usually Checked Manually.</a:t>
            </a:r>
          </a:p>
          <a:p>
            <a:pPr marL="363784" lvl="1" indent="-181892" algn="l">
              <a:lnSpc>
                <a:spcPts val="2358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Inspection Depends On Expert Knowledge.</a:t>
            </a:r>
          </a:p>
          <a:p>
            <a:pPr marL="363784" lvl="1" indent="-181892" algn="l">
              <a:lnSpc>
                <a:spcPts val="2358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Plant Diseases, Pest Damage, And Over-maturity Can Reduce Medicinal Suitability.</a:t>
            </a:r>
          </a:p>
          <a:p>
            <a:pPr marL="363784" lvl="1" indent="-181892" algn="l">
              <a:lnSpc>
                <a:spcPts val="2358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Non-expert Users May Struggle To Identify Unsuitable Plant Materials.</a:t>
            </a:r>
          </a:p>
          <a:p>
            <a:pPr marL="363784" lvl="1" indent="-181892" algn="l">
              <a:lnSpc>
                <a:spcPts val="2358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 Quality Assessment Can Affect The Reliability Of Ayurvedic Preparations.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49400" y="4067067"/>
            <a:ext cx="4875199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58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System Gap</a:t>
            </a:r>
          </a:p>
          <a:p>
            <a:pPr algn="ctr">
              <a:lnSpc>
                <a:spcPts val="3058"/>
              </a:lnSpc>
              <a:spcBef>
                <a:spcPct val="0"/>
              </a:spcBef>
            </a:pPr>
            <a:endParaRPr lang="en-US" sz="32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33327" y="4674362"/>
            <a:ext cx="11347297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3784" lvl="1" indent="-181892" algn="l">
              <a:lnSpc>
                <a:spcPts val="235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Existing Systems Focus Only On Plant Identification Or Disease Detection.</a:t>
            </a:r>
          </a:p>
          <a:p>
            <a:pPr marL="363784" lvl="1" indent="-181892" algn="l">
              <a:lnSpc>
                <a:spcPts val="235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Focus On Medicinal Suitability Assessment.</a:t>
            </a:r>
          </a:p>
          <a:p>
            <a:pPr marL="363784" lvl="1" indent="-181892" algn="l">
              <a:lnSpc>
                <a:spcPts val="235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Systems Do Not Explain Why A Prediction Was Made.</a:t>
            </a:r>
          </a:p>
          <a:p>
            <a:pPr marL="363784" lvl="1" indent="-181892" algn="l">
              <a:lnSpc>
                <a:spcPts val="235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Explainable Ai Support Reduces User Trust.</a:t>
            </a:r>
          </a:p>
          <a:p>
            <a:pPr marL="363784" lvl="1" indent="-181892" algn="l">
              <a:lnSpc>
                <a:spcPts val="235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Support For Local Ayurvedic Medicinal Plant Quality Evaluation.</a:t>
            </a:r>
          </a:p>
          <a:p>
            <a:pPr algn="l">
              <a:lnSpc>
                <a:spcPts val="2358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49401" y="6393688"/>
            <a:ext cx="4570399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58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  <a:p>
            <a:pPr algn="ctr">
              <a:lnSpc>
                <a:spcPts val="3058"/>
              </a:lnSpc>
              <a:spcBef>
                <a:spcPct val="0"/>
              </a:spcBef>
            </a:pPr>
            <a:endParaRPr lang="en-US" sz="32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33327" y="6923631"/>
            <a:ext cx="14875426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3784" lvl="1" indent="-181892" algn="l">
              <a:lnSpc>
                <a:spcPts val="235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Ai-based Image Analysis System To Assess Medicinal Plant Quality.</a:t>
            </a:r>
          </a:p>
          <a:p>
            <a:pPr marL="363784" lvl="1" indent="-181892" algn="l">
              <a:lnSpc>
                <a:spcPts val="235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Classify Plant Samples As Suitable Or Not Suitable For Medicinal Use.</a:t>
            </a:r>
          </a:p>
          <a:p>
            <a:pPr marL="363784" lvl="1" indent="-181892" algn="l">
              <a:lnSpc>
                <a:spcPts val="235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Visible Quality Issues Such As Disease, Damage, Or Over-maturity.</a:t>
            </a:r>
          </a:p>
          <a:p>
            <a:pPr marL="363784" lvl="1" indent="-181892" algn="l">
              <a:lnSpc>
                <a:spcPts val="235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Resnet50 Transfer Learning For Image Classification.</a:t>
            </a:r>
          </a:p>
          <a:p>
            <a:pPr marL="363784" lvl="1" indent="-181892" algn="l">
              <a:lnSpc>
                <a:spcPts val="235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Grad-cam Heatmaps To Visually Explain Model Decisions.</a:t>
            </a:r>
          </a:p>
          <a:p>
            <a:pPr algn="l">
              <a:lnSpc>
                <a:spcPts val="2358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12389001" y="5285990"/>
            <a:ext cx="5124378" cy="3414117"/>
          </a:xfrm>
          <a:custGeom>
            <a:avLst/>
            <a:gdLst/>
            <a:ahLst/>
            <a:cxnLst/>
            <a:rect l="l" t="t" r="r" b="b"/>
            <a:pathLst>
              <a:path w="5124378" h="3414117">
                <a:moveTo>
                  <a:pt x="0" y="0"/>
                </a:moveTo>
                <a:lnTo>
                  <a:pt x="5124378" y="0"/>
                </a:lnTo>
                <a:lnTo>
                  <a:pt x="5124378" y="3414117"/>
                </a:lnTo>
                <a:lnTo>
                  <a:pt x="0" y="34141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90480" y="9559925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3602598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99878" y="217128"/>
              <a:ext cx="7122489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IT22112132 |   PATTIYA ARACHCHI P A H K | 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59300" y="9803448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5175" y="511811"/>
            <a:ext cx="16037650" cy="516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EXPLAINABLE AI SYSTEM FOR AYURVEDIC MEDICINAL PLANT QUALITY ASSESSMENT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75134" y="1499930"/>
            <a:ext cx="3782666" cy="375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8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Requirements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05815" y="2066288"/>
            <a:ext cx="6855493" cy="242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Or Capture Medicinal Plant Leaf/Fruit Images.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Get Quality Prediction Result Quickly.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Result As:</a:t>
            </a:r>
          </a:p>
          <a:p>
            <a:pPr marL="641210" lvl="2" indent="-213737" algn="l">
              <a:lnSpc>
                <a:spcPts val="2078"/>
              </a:lnSpc>
              <a:spcBef>
                <a:spcPct val="0"/>
              </a:spcBef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Suitable For Medicinal Use</a:t>
            </a:r>
          </a:p>
          <a:p>
            <a:pPr marL="641210" lvl="2" indent="-213737" algn="l">
              <a:lnSpc>
                <a:spcPts val="2078"/>
              </a:lnSpc>
              <a:spcBef>
                <a:spcPct val="0"/>
              </a:spcBef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Suitable For Medicinal Use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Prediction Confidence Percentage.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Grad-cam Heatmap For Explanation.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A Simple Interface</a:t>
            </a:r>
          </a:p>
          <a:p>
            <a:pPr algn="l">
              <a:lnSpc>
                <a:spcPts val="2078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05815" y="4705261"/>
            <a:ext cx="5813537" cy="37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8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Current Progress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823379" y="5217994"/>
            <a:ext cx="6556096" cy="4039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Studied Related Works On Medicinal Plant Identification, Plant Disease Detection, And Grad-cam.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Collected Datasets From </a:t>
            </a: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Kegalle 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 Collection And </a:t>
            </a: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Mendeley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And Tested Two Models:</a:t>
            </a:r>
          </a:p>
          <a:p>
            <a:pPr marL="641210" lvl="2" indent="-213737" algn="l">
              <a:lnSpc>
                <a:spcPts val="2078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Mobilenetv2 (Test Accuracy: </a:t>
            </a: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0.7015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641210" lvl="2" indent="-213737" algn="l">
              <a:lnSpc>
                <a:spcPts val="2078"/>
              </a:lnSpc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Resnet50 (Test Accuracy: </a:t>
            </a: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0.7415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</a:t>
            </a:r>
            <a:r>
              <a:rPr lang="en-US" sz="2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Resnet50</a:t>
            </a: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Due To Better Performance.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Image File Upload For Prediction.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Added Grad-cam For Visual Explanation.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System Shows:</a:t>
            </a:r>
          </a:p>
          <a:p>
            <a:pPr marL="641210" lvl="2" indent="-213737" algn="l">
              <a:lnSpc>
                <a:spcPts val="2078"/>
              </a:lnSpc>
              <a:spcBef>
                <a:spcPct val="0"/>
              </a:spcBef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 Result</a:t>
            </a:r>
          </a:p>
          <a:p>
            <a:pPr marL="641210" lvl="2" indent="-213737" algn="l">
              <a:lnSpc>
                <a:spcPts val="2078"/>
              </a:lnSpc>
              <a:spcBef>
                <a:spcPct val="0"/>
              </a:spcBef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Percentage</a:t>
            </a:r>
          </a:p>
          <a:p>
            <a:pPr marL="641210" lvl="2" indent="-213737" algn="l">
              <a:lnSpc>
                <a:spcPts val="2078"/>
              </a:lnSpc>
              <a:spcBef>
                <a:spcPct val="0"/>
              </a:spcBef>
              <a:buFont typeface="Arial"/>
              <a:buChar char="⚬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Grad-cam Heatmap</a:t>
            </a:r>
          </a:p>
          <a:p>
            <a:pPr algn="l">
              <a:lnSpc>
                <a:spcPts val="2078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9721704" y="1493910"/>
            <a:ext cx="4163666" cy="375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8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49144" y="2221134"/>
            <a:ext cx="8366394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Image Capture Option For Real-time Prediction.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 Dataset Size Using More Real-world Medicinal Plant Images.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Model Performance 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11Deploy The System As A Mobile Application.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The Mobile App With Real Users</a:t>
            </a:r>
          </a:p>
          <a:p>
            <a:pPr algn="l">
              <a:lnSpc>
                <a:spcPts val="2078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80320" y="3968814"/>
            <a:ext cx="4343322" cy="3751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18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Design Excellence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91199" y="4625904"/>
            <a:ext cx="6521291" cy="1885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Image Upload And Prediction Interface.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Ai-based Medicinal Plant Quality Assessment.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Explainable Prediction Using Grad-cam Heatmaps.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Confidence Score To Support User Decision-making.</a:t>
            </a:r>
          </a:p>
          <a:p>
            <a:pPr marL="320605" lvl="1" indent="-160303" algn="l">
              <a:lnSpc>
                <a:spcPts val="2078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System Design For Future Mobile App Deployment.</a:t>
            </a:r>
          </a:p>
          <a:p>
            <a:pPr algn="l">
              <a:lnSpc>
                <a:spcPts val="2078"/>
              </a:lnSpc>
              <a:spcBef>
                <a:spcPct val="0"/>
              </a:spcBef>
            </a:pPr>
            <a:endParaRPr lang="en-US"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696" b="-7696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2026/05/11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3488108" y="1790221"/>
            <a:ext cx="12151646" cy="7238642"/>
          </a:xfrm>
          <a:custGeom>
            <a:avLst/>
            <a:gdLst/>
            <a:ahLst/>
            <a:cxnLst/>
            <a:rect l="l" t="t" r="r" b="b"/>
            <a:pathLst>
              <a:path w="12151646" h="7238642">
                <a:moveTo>
                  <a:pt x="0" y="0"/>
                </a:moveTo>
                <a:lnTo>
                  <a:pt x="12151646" y="0"/>
                </a:lnTo>
                <a:lnTo>
                  <a:pt x="12151646" y="7238642"/>
                </a:lnTo>
                <a:lnTo>
                  <a:pt x="0" y="7238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367252" y="640080"/>
            <a:ext cx="7121571" cy="73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Ability of commercialization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574" b="-16574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0" y="9497013"/>
            <a:ext cx="16741658" cy="602298"/>
            <a:chOff x="0" y="0"/>
            <a:chExt cx="22322210" cy="80306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62680" cy="803064"/>
            </a:xfrm>
            <a:custGeom>
              <a:avLst/>
              <a:gdLst/>
              <a:ahLst/>
              <a:cxnLst/>
              <a:rect l="l" t="t" r="r" b="b"/>
              <a:pathLst>
                <a:path w="1262680" h="803064">
                  <a:moveTo>
                    <a:pt x="0" y="0"/>
                  </a:moveTo>
                  <a:lnTo>
                    <a:pt x="1262680" y="0"/>
                  </a:lnTo>
                  <a:lnTo>
                    <a:pt x="1262680" y="803064"/>
                  </a:lnTo>
                  <a:lnTo>
                    <a:pt x="0" y="803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21127" y="45678"/>
              <a:ext cx="4142627" cy="6736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078"/>
                </a:lnSpc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SLIIT</a:t>
              </a:r>
            </a:p>
            <a:p>
              <a:pPr algn="l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2C4783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FACULTY OF COMPUTING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163070" y="388578"/>
              <a:ext cx="5736134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R-26-IT-021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898521" y="363432"/>
              <a:ext cx="1423690" cy="3307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78"/>
                </a:lnSpc>
                <a:spcBef>
                  <a:spcPct val="0"/>
                </a:spcBef>
              </a:pPr>
              <a:r>
                <a:rPr lang="en-US" sz="1484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2026/03/16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7286137" y="9702551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2390</Words>
  <Application>Microsoft Office PowerPoint</Application>
  <PresentationFormat>Custom</PresentationFormat>
  <Paragraphs>372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Canva Sans</vt:lpstr>
      <vt:lpstr>Times New Roman Bold</vt:lpstr>
      <vt:lpstr>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PP1</dc:title>
  <cp:lastModifiedBy>Maneesha Munasinghe</cp:lastModifiedBy>
  <cp:revision>3</cp:revision>
  <dcterms:created xsi:type="dcterms:W3CDTF">2006-08-16T00:00:00Z</dcterms:created>
  <dcterms:modified xsi:type="dcterms:W3CDTF">2026-05-11T12:56:15Z</dcterms:modified>
  <dc:identifier>DAHJQXGHiXI</dc:identifier>
</cp:coreProperties>
</file>