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18288000" cy="10287000"/>
  <p:notesSz cx="6858000" cy="9144000"/>
  <p:embeddedFontLst>
    <p:embeddedFont>
      <p:font typeface="Canva Sans" panose="020B0604020202020204" charset="0"/>
      <p:regular r:id="rId33"/>
    </p:embeddedFont>
    <p:embeddedFont>
      <p:font typeface="Times New Roman Bold" panose="02020803070505020304" pitchFamily="18" charset="0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223" autoAdjust="0"/>
  </p:normalViewPr>
  <p:slideViewPr>
    <p:cSldViewPr>
      <p:cViewPr varScale="1">
        <p:scale>
          <a:sx n="56" d="100"/>
          <a:sy n="56" d="100"/>
        </p:scale>
        <p:origin x="3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0116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7499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6806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6612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8709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3823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9388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8772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8021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3702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2499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50470" y="2005713"/>
            <a:ext cx="16987060" cy="2217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AYURVEDIC HERBAL PLANT IDENTIFICATION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AND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 ANALYSIS IN SRI LANKA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7880" y="5402524"/>
            <a:ext cx="649224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897880" y="6255698"/>
            <a:ext cx="6492240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R-26-IT-021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315" t="4631" r="231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2848534" y="626628"/>
            <a:ext cx="5029317" cy="5029317"/>
          </a:xfrm>
          <a:custGeom>
            <a:avLst/>
            <a:gdLst/>
            <a:ahLst/>
            <a:cxnLst/>
            <a:rect l="l" t="t" r="r" b="b"/>
            <a:pathLst>
              <a:path w="5029317" h="5029317">
                <a:moveTo>
                  <a:pt x="0" y="0"/>
                </a:moveTo>
                <a:lnTo>
                  <a:pt x="5029316" y="0"/>
                </a:lnTo>
                <a:lnTo>
                  <a:pt x="5029316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712141" y="5991872"/>
            <a:ext cx="4477705" cy="2817150"/>
          </a:xfrm>
          <a:custGeom>
            <a:avLst/>
            <a:gdLst/>
            <a:ahLst/>
            <a:cxnLst/>
            <a:rect l="l" t="t" r="r" b="b"/>
            <a:pathLst>
              <a:path w="4477705" h="2817150">
                <a:moveTo>
                  <a:pt x="0" y="0"/>
                </a:moveTo>
                <a:lnTo>
                  <a:pt x="4477705" y="0"/>
                </a:lnTo>
                <a:lnTo>
                  <a:pt x="4477705" y="2817150"/>
                </a:lnTo>
                <a:lnTo>
                  <a:pt x="0" y="2817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7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123682" y="337185"/>
            <a:ext cx="804063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 and Stakeholders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640263"/>
            <a:ext cx="7083241" cy="190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Users:</a:t>
            </a:r>
          </a:p>
          <a:p>
            <a:pPr marL="1165860" lvl="2" indent="-388620" algn="just">
              <a:lnSpc>
                <a:spcPts val="3779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Farmers </a:t>
            </a:r>
          </a:p>
          <a:p>
            <a:pPr marL="1165860" lvl="2" indent="-388620" algn="just">
              <a:lnSpc>
                <a:spcPts val="3779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Ayurvedic Doctors (Heveralas) and Students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956685"/>
            <a:ext cx="8683441" cy="237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Users/Stakeholders:</a:t>
            </a:r>
          </a:p>
          <a:p>
            <a:pPr marL="1165860" lvl="2" indent="-388620" algn="just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Ayurvedic Manufacturers </a:t>
            </a:r>
          </a:p>
          <a:p>
            <a:pPr marL="1165860" lvl="2" indent="-388620" algn="just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Consumers/End-Users</a:t>
            </a:r>
          </a:p>
          <a:p>
            <a:pPr marL="1165860" lvl="2" indent="-388620" algn="just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Conservationists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3386645" y="974349"/>
            <a:ext cx="4660840" cy="4114800"/>
          </a:xfrm>
          <a:custGeom>
            <a:avLst/>
            <a:gdLst/>
            <a:ahLst/>
            <a:cxnLst/>
            <a:rect l="l" t="t" r="r" b="b"/>
            <a:pathLst>
              <a:path w="4660840" h="4114800">
                <a:moveTo>
                  <a:pt x="0" y="0"/>
                </a:moveTo>
                <a:lnTo>
                  <a:pt x="4660839" y="0"/>
                </a:lnTo>
                <a:lnTo>
                  <a:pt x="46608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766935" y="228483"/>
            <a:ext cx="10754131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of the Problem on Users and Society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640263"/>
            <a:ext cx="13171245" cy="285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on Farmers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loss of 30-60% due to poor crop selection and market timing 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Crop failures affecting 15-25% of cultivation attempts 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40% of farmers reported inappropriate species selection as cause of crop failures 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Vulnerability to middlemen exploitation without market intelligence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Trapped in low-income cycles despite high market demand for medicinal plants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076825"/>
            <a:ext cx="13171245" cy="333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on Manufacturers and Industry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73% of herbal manufacturers face inconsistent raw material availability as their biggest operational difficulty 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LKR 2.3 billion spent annually on importing herbs that could be grown locally 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production meets only 40-50% of industrial demand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adulteration undermines product efficacy and consumer trust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export potential damages Sri Lanka's global reputation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189106"/>
            <a:ext cx="13229980" cy="809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on Society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of Indigenous Knowledge: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knowledge concentrated among practitioners aged 55+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Oral transmission failing as elders pass away without documentation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Irreplaceable loss of preparation methods and healing practices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Health Risks: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30% of medicinal plants in classical literature have nomenclature disputes 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Adulterated or misidentified plants cause ineffective treatment or toxicity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Undermines trust in traditional medicine systems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Educational Gap: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than 30% of population can identify common medicinal plants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lack accessible learning resources in Sinhala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Younger generation disconnected from cultural heritage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Impact: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Unsustainable wild harvesting when cultivation fails 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Pressure on biodiversity from collection of rare species</a:t>
            </a:r>
          </a:p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of traditional conservation practices</a:t>
            </a:r>
          </a:p>
        </p:txBody>
      </p:sp>
      <p:sp>
        <p:nvSpPr>
          <p:cNvPr id="8" name="Freeform 8"/>
          <p:cNvSpPr/>
          <p:nvPr/>
        </p:nvSpPr>
        <p:spPr>
          <a:xfrm>
            <a:off x="11516216" y="5868451"/>
            <a:ext cx="6479575" cy="3628562"/>
          </a:xfrm>
          <a:custGeom>
            <a:avLst/>
            <a:gdLst/>
            <a:ahLst/>
            <a:cxnLst/>
            <a:rect l="l" t="t" r="r" b="b"/>
            <a:pathLst>
              <a:path w="6479575" h="3628562">
                <a:moveTo>
                  <a:pt x="0" y="0"/>
                </a:moveTo>
                <a:lnTo>
                  <a:pt x="6479575" y="0"/>
                </a:lnTo>
                <a:lnTo>
                  <a:pt x="6479575" y="3628562"/>
                </a:lnTo>
                <a:lnTo>
                  <a:pt x="0" y="362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944351" y="919998"/>
            <a:ext cx="6343649" cy="3552443"/>
          </a:xfrm>
          <a:custGeom>
            <a:avLst/>
            <a:gdLst/>
            <a:ahLst/>
            <a:cxnLst/>
            <a:rect l="l" t="t" r="r" b="b"/>
            <a:pathLst>
              <a:path w="6343649" h="3552443">
                <a:moveTo>
                  <a:pt x="0" y="0"/>
                </a:moveTo>
                <a:lnTo>
                  <a:pt x="6343649" y="0"/>
                </a:lnTo>
                <a:lnTo>
                  <a:pt x="6343649" y="3552444"/>
                </a:lnTo>
                <a:lnTo>
                  <a:pt x="0" y="3552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766935" y="228483"/>
            <a:ext cx="10754131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of the Problem on Users and Society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04904" y="1788668"/>
            <a:ext cx="12290837" cy="564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integrated AI-powered ecosystem that connects the complete medicinal plant value chain:</a:t>
            </a:r>
          </a:p>
          <a:p>
            <a:pPr algn="l">
              <a:lnSpc>
                <a:spcPts val="2484"/>
              </a:lnSpc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Mobile-Based Plant Detection – 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Instantly identifies Sri Lankan medicinal plants from leaf/flower/seeds images using deep learning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 AI Assistant –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Answers questions about plant uses, preparation, and properties in Sinhala/English using RAG technology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Cultivation Recommendation System –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Advises farmers on optimal crops based on soil, climate, and market prices using ML algorithms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Quality Assessment –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Evaluates plant quality with visual heatmaps showing which features influenced the decision (Grad-CAM)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3918458" y="6408619"/>
            <a:ext cx="3989554" cy="2849681"/>
          </a:xfrm>
          <a:custGeom>
            <a:avLst/>
            <a:gdLst/>
            <a:ahLst/>
            <a:cxnLst/>
            <a:rect l="l" t="t" r="r" b="b"/>
            <a:pathLst>
              <a:path w="3989554" h="2849681">
                <a:moveTo>
                  <a:pt x="0" y="0"/>
                </a:moveTo>
                <a:lnTo>
                  <a:pt x="3989554" y="0"/>
                </a:lnTo>
                <a:lnTo>
                  <a:pt x="3989554" y="2849681"/>
                </a:lnTo>
                <a:lnTo>
                  <a:pt x="0" y="2849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000" t="-20000" r="-20000" b="-2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766935" y="228483"/>
            <a:ext cx="10754131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Proposed Solution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079" y="9563519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IT22640598  |   M P MUNASINGHE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382172" y="4912916"/>
            <a:ext cx="4345384" cy="434538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346" t="-36924" r="-13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54826" y="1717354"/>
            <a:ext cx="13386926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 INTELLIGENCE SYSTEM - AI ASSISTANT FOR SRI LANKAN MEDICINAL PLANTS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86137" y="972458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4600" y="6842220"/>
            <a:ext cx="5606616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MUNASINGHE M P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IT22640598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651" y="9560210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IT22640598  |   M P MUNASINGHE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259300" y="976312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405" y="386715"/>
            <a:ext cx="17171190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 Intelligence System - AI Assistant for Sri Lankan Medicinal Plants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9962" y="1723382"/>
            <a:ext cx="13638988" cy="285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Problem: 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Lanka has 1,400 medicinal plant species used in Ayurveda for over 3,000 years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Indigenous knowledge is rapidly disappearing: elderly practitioners (55+) passing away, little transmission to youth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than 30% of population can name common garden medicinal plants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information is scattered, expensive books, unreliable websites, mostly English-only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9962" y="5076825"/>
            <a:ext cx="10855886" cy="333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Gap: 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require technical queries. 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chatbots rely on pattern matching and cannot answer new questions.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true semantic understanding of Sinhala medical queries.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knowledge bases → hard &amp; manual to update.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natural-language conversational depth + factual grounding.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325848" y="5486453"/>
            <a:ext cx="6678850" cy="3511782"/>
          </a:xfrm>
          <a:custGeom>
            <a:avLst/>
            <a:gdLst/>
            <a:ahLst/>
            <a:cxnLst/>
            <a:rect l="l" t="t" r="r" b="b"/>
            <a:pathLst>
              <a:path w="6678850" h="3511782">
                <a:moveTo>
                  <a:pt x="0" y="0"/>
                </a:moveTo>
                <a:lnTo>
                  <a:pt x="6678850" y="0"/>
                </a:lnTo>
                <a:lnTo>
                  <a:pt x="6678850" y="3511782"/>
                </a:lnTo>
                <a:lnTo>
                  <a:pt x="0" y="3511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360875" y="1577340"/>
            <a:ext cx="3580310" cy="3580310"/>
          </a:xfrm>
          <a:custGeom>
            <a:avLst/>
            <a:gdLst/>
            <a:ahLst/>
            <a:cxnLst/>
            <a:rect l="l" t="t" r="r" b="b"/>
            <a:pathLst>
              <a:path w="3580310" h="3580310">
                <a:moveTo>
                  <a:pt x="0" y="0"/>
                </a:moveTo>
                <a:lnTo>
                  <a:pt x="3580310" y="0"/>
                </a:lnTo>
                <a:lnTo>
                  <a:pt x="3580310" y="3580310"/>
                </a:lnTo>
                <a:lnTo>
                  <a:pt x="0" y="3580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8" y="9550692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IT22640598  |   M P MUNASINGHE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344468" y="9753607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8643" y="386715"/>
            <a:ext cx="16830714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 Intelligence System - AI Assistant for Sri Lankan Medicinal Plants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8765" y="1764854"/>
            <a:ext cx="17170470" cy="285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Solution: </a:t>
            </a:r>
          </a:p>
          <a:p>
            <a:pPr algn="l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Conversational AI Assistant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intelligent system that makes this knowledge accessible to everyone.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(RAG): Combines a deep, curated knowledge base with the power of Large Language Models (LLMs) for accurate, context-aware answers.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Support: Users can ask questions in English and Sinhala using natural, everyday language.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941749" y="5716213"/>
            <a:ext cx="4679554" cy="3282022"/>
          </a:xfrm>
          <a:custGeom>
            <a:avLst/>
            <a:gdLst/>
            <a:ahLst/>
            <a:cxnLst/>
            <a:rect l="l" t="t" r="r" b="b"/>
            <a:pathLst>
              <a:path w="4679554" h="3282022">
                <a:moveTo>
                  <a:pt x="0" y="0"/>
                </a:moveTo>
                <a:lnTo>
                  <a:pt x="4679554" y="0"/>
                </a:lnTo>
                <a:lnTo>
                  <a:pt x="4679554" y="3282022"/>
                </a:lnTo>
                <a:lnTo>
                  <a:pt x="0" y="328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04" b="-459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58765" y="5363399"/>
            <a:ext cx="14540341" cy="285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 Objective: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 an optimized RAG pipeline for multilingual herbal knowledge retrieval.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Sub-objectives: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semantic search for English &amp; Sinhala queries using OpenAI embeddings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chunking strategies for maximum retrieval accuracy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context-aware prompt engineering for GPT-3.5-turbo response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876" y="9564449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IT22640598  |   M P MUNASINGHE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5327953" y="7287754"/>
            <a:ext cx="2483077" cy="2001801"/>
          </a:xfrm>
          <a:custGeom>
            <a:avLst/>
            <a:gdLst/>
            <a:ahLst/>
            <a:cxnLst/>
            <a:rect l="l" t="t" r="r" b="b"/>
            <a:pathLst>
              <a:path w="2483077" h="2001801">
                <a:moveTo>
                  <a:pt x="0" y="0"/>
                </a:moveTo>
                <a:lnTo>
                  <a:pt x="2483076" y="0"/>
                </a:lnTo>
                <a:lnTo>
                  <a:pt x="2483076" y="2001802"/>
                </a:lnTo>
                <a:lnTo>
                  <a:pt x="0" y="2001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9" t="-8903" b="-119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50470" y="1733550"/>
            <a:ext cx="7245025" cy="305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Domains of Knowledge: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(RAG): retrieval module + generation module 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databases: how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ChromaDB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performs similarity search</a:t>
            </a:r>
          </a:p>
          <a:p>
            <a:pPr algn="l">
              <a:lnSpc>
                <a:spcPts val="3779"/>
              </a:lnSpc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323176" y="9744096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0470" y="386715"/>
            <a:ext cx="16987060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 Intelligence System - AI Assistant for Sri Lankan Medicinal Plants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0470" y="4695825"/>
            <a:ext cx="9050709" cy="415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Used: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Model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Language Model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Database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Tools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Python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Flask (backend)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React Native (frontend)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15504" y="1733550"/>
            <a:ext cx="6993285" cy="305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Availability &amp; Ethics: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data sourced from publicly available research and validated books.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 No personal data stored; HTTPS for API communication.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15504" y="4695825"/>
            <a:ext cx="7795526" cy="357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•Validation Strategy: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Technical: Retrieval accuracy, answer faithfulness 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Ayurvedic doctor/expert validation of 50–100 sample Q&amp;A pairs.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User: Usability testing with general public &amp; students (qualitative feedback)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876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21712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IT22640598  |   M P MUNASINGHE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0044374" y="3901766"/>
            <a:ext cx="7341951" cy="4763091"/>
          </a:xfrm>
          <a:custGeom>
            <a:avLst/>
            <a:gdLst/>
            <a:ahLst/>
            <a:cxnLst/>
            <a:rect l="l" t="t" r="r" b="b"/>
            <a:pathLst>
              <a:path w="7341951" h="4763091">
                <a:moveTo>
                  <a:pt x="0" y="0"/>
                </a:moveTo>
                <a:lnTo>
                  <a:pt x="7341951" y="0"/>
                </a:lnTo>
                <a:lnTo>
                  <a:pt x="7341951" y="4763091"/>
                </a:lnTo>
                <a:lnTo>
                  <a:pt x="0" y="4763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0470" y="386715"/>
            <a:ext cx="16987060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 Intelligence System - AI Assistant for Sri Lankan Medicinal Plants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8280" y="1358591"/>
            <a:ext cx="8963997" cy="799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Overview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asks a question about a medicinal plant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 sends the query to the backend API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converts the query into embeddings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database searches for relevant knowledge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generates a contextual answer</a:t>
            </a:r>
          </a:p>
          <a:p>
            <a:pPr algn="l">
              <a:lnSpc>
                <a:spcPts val="2322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50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Dependencies and common components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Models (CNN) – plant species 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identification from leaf and flower images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Algorithms – cultivation 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recommendation based on soil, climate, and market data 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Retrieval System (RAG) – answering herbal medicine questions using plant knowledge database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 Tools – displaying suitability score, profit prediction, and Grad-CAM heatmaps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1810" y="1358591"/>
            <a:ext cx="8265720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medicinal plant information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Uses, preparation methods, and plant parts</a:t>
            </a:r>
          </a:p>
          <a:p>
            <a:pPr marL="582930" lvl="1" indent="-291465" algn="l">
              <a:lnSpc>
                <a:spcPts val="405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Response in Sinhala or English</a:t>
            </a:r>
          </a:p>
          <a:p>
            <a:pPr algn="l">
              <a:lnSpc>
                <a:spcPts val="3779"/>
              </a:lnSpc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977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5897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IT22132796 |   D G T K WICKRAMASINGHE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456773" y="5201694"/>
            <a:ext cx="4056606" cy="405660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391" t="-39038" b="-619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24478" y="6630900"/>
            <a:ext cx="5638453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IT22132796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Wickramasinghe D G T 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940" y="1218077"/>
            <a:ext cx="15686121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CULTIVATION RECOMMENDATION SYSTEM FOR SMALL-SCALE HERBAL FARMERS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22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37754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6025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IT22132796 |   D G T K WICKRAMASINGHE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3208847" y="5636562"/>
            <a:ext cx="4721589" cy="3147726"/>
          </a:xfrm>
          <a:custGeom>
            <a:avLst/>
            <a:gdLst/>
            <a:ahLst/>
            <a:cxnLst/>
            <a:rect l="l" t="t" r="r" b="b"/>
            <a:pathLst>
              <a:path w="4721589" h="3147726">
                <a:moveTo>
                  <a:pt x="0" y="0"/>
                </a:moveTo>
                <a:lnTo>
                  <a:pt x="4721589" y="0"/>
                </a:lnTo>
                <a:lnTo>
                  <a:pt x="4721589" y="3147726"/>
                </a:lnTo>
                <a:lnTo>
                  <a:pt x="0" y="3147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11648" y="1427948"/>
            <a:ext cx="12616249" cy="859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4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Definition</a:t>
            </a:r>
          </a:p>
          <a:p>
            <a:pPr marL="528855" lvl="1" indent="-264428" algn="l">
              <a:lnSpc>
                <a:spcPts val="4899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Small-scale farmers in Sri Lanka cultivate Ayurvedic medicinal plants, but they often lack knowledge about suitable crops for their soil and climate.</a:t>
            </a:r>
          </a:p>
          <a:p>
            <a:pPr marL="528855" lvl="1" indent="-264428" algn="l">
              <a:lnSpc>
                <a:spcPts val="4899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also lack market demand information and profit predictions.</a:t>
            </a:r>
          </a:p>
          <a:p>
            <a:pPr marL="528855" lvl="1" indent="-264428" algn="l">
              <a:lnSpc>
                <a:spcPts val="4899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leads to low yield, crop failures, and reduced farmer income.</a:t>
            </a:r>
          </a:p>
          <a:p>
            <a:pPr algn="l">
              <a:lnSpc>
                <a:spcPts val="4899"/>
              </a:lnSpc>
            </a:pPr>
            <a:r>
              <a:rPr lang="en-US" sz="24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</a:t>
            </a:r>
          </a:p>
          <a:p>
            <a:pPr algn="l">
              <a:lnSpc>
                <a:spcPts val="4899"/>
              </a:lnSpc>
            </a:pPr>
            <a:r>
              <a:rPr lang="en-US" sz="24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AI-based cultivation recommendation system that suggests the most suitable and profitable medicinal plants for farmers.</a:t>
            </a:r>
          </a:p>
          <a:p>
            <a:pPr algn="l">
              <a:lnSpc>
                <a:spcPts val="4899"/>
              </a:lnSpc>
            </a:pPr>
            <a:r>
              <a:rPr lang="en-US" sz="24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Sub-Objectives</a:t>
            </a:r>
          </a:p>
          <a:p>
            <a:pPr marL="528855" lvl="1" indent="-264428" algn="l">
              <a:lnSpc>
                <a:spcPts val="4899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soil and climate data</a:t>
            </a:r>
          </a:p>
          <a:p>
            <a:pPr marL="528855" lvl="1" indent="-264428" algn="l">
              <a:lnSpc>
                <a:spcPts val="4899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plant suitability</a:t>
            </a:r>
          </a:p>
          <a:p>
            <a:pPr marL="528855" lvl="1" indent="-264428" algn="l">
              <a:lnSpc>
                <a:spcPts val="4899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 profit and risk</a:t>
            </a:r>
          </a:p>
          <a:p>
            <a:pPr marL="528855" lvl="1" indent="-264428" algn="l">
              <a:lnSpc>
                <a:spcPts val="4899"/>
              </a:lnSpc>
              <a:buFont typeface="Arial"/>
              <a:buChar char="•"/>
            </a:pPr>
            <a:r>
              <a:rPr lang="en-US" sz="24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recommendations through a mobile platform</a:t>
            </a:r>
          </a:p>
          <a:p>
            <a:pPr algn="l">
              <a:lnSpc>
                <a:spcPts val="4699"/>
              </a:lnSpc>
            </a:pPr>
            <a:endParaRPr lang="en-US" sz="244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3208847" y="2939170"/>
            <a:ext cx="4721589" cy="2697392"/>
          </a:xfrm>
          <a:custGeom>
            <a:avLst/>
            <a:gdLst/>
            <a:ahLst/>
            <a:cxnLst/>
            <a:rect l="l" t="t" r="r" b="b"/>
            <a:pathLst>
              <a:path w="4721589" h="2697392">
                <a:moveTo>
                  <a:pt x="0" y="0"/>
                </a:moveTo>
                <a:lnTo>
                  <a:pt x="4721589" y="0"/>
                </a:lnTo>
                <a:lnTo>
                  <a:pt x="4721589" y="2697392"/>
                </a:lnTo>
                <a:lnTo>
                  <a:pt x="0" y="2697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259300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07725" y="522409"/>
            <a:ext cx="13072550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0"/>
              </a:lnSpc>
              <a:spcBef>
                <a:spcPct val="0"/>
              </a:spcBef>
            </a:pPr>
            <a:r>
              <a:rPr lang="en-US" sz="29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Cultivation Recommendation System For Small-Scale Herbal Farmers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975" y="1430950"/>
            <a:ext cx="4299480" cy="3440958"/>
          </a:xfrm>
          <a:custGeom>
            <a:avLst/>
            <a:gdLst/>
            <a:ahLst/>
            <a:cxnLst/>
            <a:rect l="l" t="t" r="r" b="b"/>
            <a:pathLst>
              <a:path w="4299480" h="3440958">
                <a:moveTo>
                  <a:pt x="0" y="0"/>
                </a:moveTo>
                <a:lnTo>
                  <a:pt x="4299480" y="0"/>
                </a:lnTo>
                <a:lnTo>
                  <a:pt x="4299480" y="3440958"/>
                </a:lnTo>
                <a:lnTo>
                  <a:pt x="0" y="3440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522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37754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6025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IT22132796 |   D G T K WICKRAMASINGHE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3894739" y="4423843"/>
            <a:ext cx="4224715" cy="2615923"/>
          </a:xfrm>
          <a:custGeom>
            <a:avLst/>
            <a:gdLst/>
            <a:ahLst/>
            <a:cxnLst/>
            <a:rect l="l" t="t" r="r" b="b"/>
            <a:pathLst>
              <a:path w="4224715" h="2615923">
                <a:moveTo>
                  <a:pt x="0" y="0"/>
                </a:moveTo>
                <a:lnTo>
                  <a:pt x="4224716" y="0"/>
                </a:lnTo>
                <a:lnTo>
                  <a:pt x="4224716" y="2615923"/>
                </a:lnTo>
                <a:lnTo>
                  <a:pt x="0" y="2615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1501646"/>
            <a:ext cx="8854070" cy="464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233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Methodology</a:t>
            </a:r>
          </a:p>
          <a:p>
            <a:pPr algn="l">
              <a:lnSpc>
                <a:spcPts val="4668"/>
              </a:lnSpc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analyzes multiple datasets to generate intelligent cultivation recommendations.</a:t>
            </a:r>
          </a:p>
          <a:p>
            <a:pPr algn="l">
              <a:lnSpc>
                <a:spcPts val="4668"/>
              </a:lnSpc>
            </a:pPr>
            <a:r>
              <a:rPr lang="en-US" sz="233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Domain Knowledge</a:t>
            </a:r>
          </a:p>
          <a:p>
            <a:pPr marL="504006" lvl="1" indent="-252003" algn="l">
              <a:lnSpc>
                <a:spcPts val="4668"/>
              </a:lnSpc>
              <a:buFont typeface="Arial"/>
              <a:buChar char="•"/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Agriculture and Ayurvedic herbal cultivation</a:t>
            </a:r>
          </a:p>
          <a:p>
            <a:pPr marL="504006" lvl="1" indent="-252003" algn="l">
              <a:lnSpc>
                <a:spcPts val="4668"/>
              </a:lnSpc>
              <a:buFont typeface="Arial"/>
              <a:buChar char="•"/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for prediction</a:t>
            </a:r>
          </a:p>
          <a:p>
            <a:pPr marL="504006" lvl="1" indent="-252003" algn="l">
              <a:lnSpc>
                <a:spcPts val="4668"/>
              </a:lnSpc>
              <a:buFont typeface="Arial"/>
              <a:buChar char="•"/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analysis for economic evaluatiron</a:t>
            </a:r>
          </a:p>
          <a:p>
            <a:pPr algn="l">
              <a:lnSpc>
                <a:spcPts val="4668"/>
              </a:lnSpc>
            </a:pPr>
            <a:endParaRPr lang="en-US" sz="23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259300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07725" y="522409"/>
            <a:ext cx="13072550" cy="506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7"/>
              </a:lnSpc>
              <a:spcBef>
                <a:spcPct val="0"/>
              </a:spcBef>
            </a:pPr>
            <a:r>
              <a:rPr lang="en-US" sz="291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Cultivation Recommendation System For Small-Scale Herbal Farmers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068457"/>
            <a:ext cx="5130441" cy="2484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3"/>
              </a:lnSpc>
            </a:pPr>
            <a:r>
              <a:rPr lang="en-US" sz="25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Validation &amp; Evaluation</a:t>
            </a:r>
          </a:p>
          <a:p>
            <a:pPr marL="555746" lvl="1" indent="-277873" algn="just">
              <a:lnSpc>
                <a:spcPts val="3603"/>
              </a:lnSpc>
              <a:buFont typeface="Arial"/>
              <a:buChar char="•"/>
            </a:pPr>
            <a:r>
              <a:rPr lang="en-US" sz="2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accuracy testing</a:t>
            </a:r>
          </a:p>
          <a:p>
            <a:pPr marL="555746" lvl="1" indent="-277873" algn="just">
              <a:lnSpc>
                <a:spcPts val="5148"/>
              </a:lnSpc>
              <a:buFont typeface="Arial"/>
              <a:buChar char="•"/>
            </a:pPr>
            <a:r>
              <a:rPr lang="en-US" sz="2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with real farming data</a:t>
            </a:r>
          </a:p>
          <a:p>
            <a:pPr marL="555746" lvl="1" indent="-277873" algn="just">
              <a:lnSpc>
                <a:spcPts val="3603"/>
              </a:lnSpc>
              <a:buFont typeface="Arial"/>
              <a:buChar char="•"/>
            </a:pPr>
            <a:r>
              <a:rPr lang="en-US" sz="2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 metrics</a:t>
            </a:r>
          </a:p>
          <a:p>
            <a:pPr algn="ctr">
              <a:lnSpc>
                <a:spcPts val="3603"/>
              </a:lnSpc>
              <a:spcBef>
                <a:spcPct val="0"/>
              </a:spcBef>
            </a:pPr>
            <a:endParaRPr lang="en-US" sz="257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882770" y="1350899"/>
            <a:ext cx="6426674" cy="7696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1"/>
              </a:lnSpc>
            </a:pPr>
            <a:r>
              <a:rPr lang="en-US" sz="23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  <a:p>
            <a:pPr marL="509671" lvl="1" indent="-254835" algn="l">
              <a:lnSpc>
                <a:spcPts val="4721"/>
              </a:lnSpc>
              <a:buFont typeface="Arial"/>
              <a:buChar char="•"/>
            </a:pPr>
            <a:r>
              <a:rPr lang="en-US" sz="23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 Algorithms</a:t>
            </a:r>
          </a:p>
          <a:p>
            <a:pPr marL="1019342" lvl="2" indent="-339781" algn="l">
              <a:lnSpc>
                <a:spcPts val="4721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</a:p>
          <a:p>
            <a:pPr marL="1019342" lvl="2" indent="-339781" algn="l">
              <a:lnSpc>
                <a:spcPts val="4721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Boosting</a:t>
            </a:r>
          </a:p>
          <a:p>
            <a:pPr marL="509671" lvl="1" indent="-254835" algn="l">
              <a:lnSpc>
                <a:spcPts val="4721"/>
              </a:lnSpc>
              <a:buFont typeface="Arial"/>
              <a:buChar char="•"/>
            </a:pPr>
            <a:r>
              <a:rPr lang="en-US" sz="23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Sources</a:t>
            </a:r>
          </a:p>
          <a:p>
            <a:pPr marL="1019342" lvl="2" indent="-339781" algn="l">
              <a:lnSpc>
                <a:spcPts val="4721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data</a:t>
            </a:r>
          </a:p>
          <a:p>
            <a:pPr marL="1019342" lvl="2" indent="-339781" algn="l">
              <a:lnSpc>
                <a:spcPts val="4721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Climate data</a:t>
            </a:r>
          </a:p>
          <a:p>
            <a:pPr marL="1019342" lvl="2" indent="-339781" algn="l">
              <a:lnSpc>
                <a:spcPts val="4721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price datasets</a:t>
            </a:r>
          </a:p>
          <a:p>
            <a:pPr marL="509671" lvl="1" indent="-254835" algn="l">
              <a:lnSpc>
                <a:spcPts val="4721"/>
              </a:lnSpc>
              <a:buFont typeface="Arial"/>
              <a:buChar char="•"/>
            </a:pPr>
            <a:r>
              <a:rPr lang="en-US" sz="23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 Tools</a:t>
            </a:r>
          </a:p>
          <a:p>
            <a:pPr marL="1019342" lvl="2" indent="-339781" algn="l">
              <a:lnSpc>
                <a:spcPts val="4721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</a:p>
          <a:p>
            <a:pPr marL="1019342" lvl="2" indent="-339781" algn="l">
              <a:lnSpc>
                <a:spcPts val="4721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</a:t>
            </a:r>
          </a:p>
          <a:p>
            <a:pPr marL="1019342" lvl="2" indent="-339781" algn="l">
              <a:lnSpc>
                <a:spcPts val="4721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application interface</a:t>
            </a:r>
          </a:p>
          <a:p>
            <a:pPr algn="l">
              <a:lnSpc>
                <a:spcPts val="4721"/>
              </a:lnSpc>
            </a:pPr>
            <a:endParaRPr lang="en-US" sz="2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70280"/>
            <a:ext cx="8189097" cy="889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5"/>
              </a:lnSpc>
            </a:pPr>
            <a:r>
              <a:rPr lang="en-US" sz="255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Overview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 inputs farm details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collects soil, climate, and market data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model analyzes suitability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generates crop recommendations</a:t>
            </a:r>
          </a:p>
          <a:p>
            <a:pPr algn="l">
              <a:lnSpc>
                <a:spcPts val="5115"/>
              </a:lnSpc>
            </a:pPr>
            <a:r>
              <a:rPr lang="en-US" sz="255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medicinal plants to cultivate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Suitability score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profit and risk level</a:t>
            </a:r>
          </a:p>
          <a:p>
            <a:pPr algn="l">
              <a:lnSpc>
                <a:spcPts val="5115"/>
              </a:lnSpc>
            </a:pPr>
            <a:r>
              <a:rPr lang="en-US" sz="255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Dependencies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Herbal plant dataset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Climate and soil datasets</a:t>
            </a:r>
          </a:p>
          <a:p>
            <a:pPr marL="552229" lvl="1" indent="-276114" algn="l">
              <a:lnSpc>
                <a:spcPts val="5115"/>
              </a:lnSpc>
              <a:buFont typeface="Arial"/>
              <a:buChar char="•"/>
            </a:pPr>
            <a:r>
              <a:rPr lang="en-US" sz="25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other project components</a:t>
            </a:r>
          </a:p>
          <a:p>
            <a:pPr algn="just">
              <a:lnSpc>
                <a:spcPts val="3580"/>
              </a:lnSpc>
              <a:spcBef>
                <a:spcPct val="0"/>
              </a:spcBef>
            </a:pPr>
            <a:endParaRPr lang="en-US" sz="255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3876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37754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6025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IT22132796 |   D G T K WICKRAMASINGHE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2096277" y="5404619"/>
            <a:ext cx="5445558" cy="2973561"/>
          </a:xfrm>
          <a:custGeom>
            <a:avLst/>
            <a:gdLst/>
            <a:ahLst/>
            <a:cxnLst/>
            <a:rect l="l" t="t" r="r" b="b"/>
            <a:pathLst>
              <a:path w="5445558" h="2973561">
                <a:moveTo>
                  <a:pt x="0" y="0"/>
                </a:moveTo>
                <a:lnTo>
                  <a:pt x="5445558" y="0"/>
                </a:lnTo>
                <a:lnTo>
                  <a:pt x="5445558" y="2973562"/>
                </a:lnTo>
                <a:lnTo>
                  <a:pt x="0" y="297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096277" y="2545701"/>
            <a:ext cx="5445558" cy="2858918"/>
          </a:xfrm>
          <a:custGeom>
            <a:avLst/>
            <a:gdLst/>
            <a:ahLst/>
            <a:cxnLst/>
            <a:rect l="l" t="t" r="r" b="b"/>
            <a:pathLst>
              <a:path w="5445558" h="2858918">
                <a:moveTo>
                  <a:pt x="0" y="0"/>
                </a:moveTo>
                <a:lnTo>
                  <a:pt x="5445558" y="0"/>
                </a:lnTo>
                <a:lnTo>
                  <a:pt x="5445558" y="2858918"/>
                </a:lnTo>
                <a:lnTo>
                  <a:pt x="0" y="2858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259300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07725" y="522409"/>
            <a:ext cx="13072550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0"/>
              </a:lnSpc>
              <a:spcBef>
                <a:spcPct val="0"/>
              </a:spcBef>
            </a:pPr>
            <a:r>
              <a:rPr lang="en-US" sz="29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Cultivation Recommendation System For Small-Scale Herbal Farmers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876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37754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6025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IT22132796 |   D G T K WICKRAMASINGHE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3393605" y="6971630"/>
            <a:ext cx="4573340" cy="2286670"/>
          </a:xfrm>
          <a:custGeom>
            <a:avLst/>
            <a:gdLst/>
            <a:ahLst/>
            <a:cxnLst/>
            <a:rect l="l" t="t" r="r" b="b"/>
            <a:pathLst>
              <a:path w="4573340" h="2286670">
                <a:moveTo>
                  <a:pt x="0" y="0"/>
                </a:moveTo>
                <a:lnTo>
                  <a:pt x="4573340" y="0"/>
                </a:lnTo>
                <a:lnTo>
                  <a:pt x="4573340" y="2286670"/>
                </a:lnTo>
                <a:lnTo>
                  <a:pt x="0" y="2286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07725" y="522409"/>
            <a:ext cx="13072550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0"/>
              </a:lnSpc>
              <a:spcBef>
                <a:spcPct val="0"/>
              </a:spcBef>
            </a:pPr>
            <a:r>
              <a:rPr lang="en-US" sz="29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Cultivation Recommendation System For Small-Scale Herbal Farmers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07550" y="1446022"/>
            <a:ext cx="3054310" cy="36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COMMERCIALIZATION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082418"/>
            <a:ext cx="6661831" cy="777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1"/>
              </a:lnSpc>
            </a:pPr>
            <a:r>
              <a:rPr lang="en-US" sz="28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Market</a:t>
            </a:r>
          </a:p>
          <a:p>
            <a:pPr algn="l">
              <a:lnSpc>
                <a:spcPts val="5631"/>
              </a:lnSpc>
            </a:pPr>
            <a:r>
              <a:rPr lang="en-US" sz="2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Small-scale herbal farmers</a:t>
            </a:r>
          </a:p>
          <a:p>
            <a:pPr algn="l">
              <a:lnSpc>
                <a:spcPts val="5631"/>
              </a:lnSpc>
            </a:pPr>
            <a:r>
              <a:rPr lang="en-US" sz="2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Ayurvedic cultivation farms</a:t>
            </a:r>
          </a:p>
          <a:p>
            <a:pPr algn="l">
              <a:lnSpc>
                <a:spcPts val="5631"/>
              </a:lnSpc>
            </a:pPr>
            <a:r>
              <a:rPr lang="en-US" sz="2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Agricultural advisory organizations</a:t>
            </a:r>
          </a:p>
          <a:p>
            <a:pPr algn="l">
              <a:lnSpc>
                <a:spcPts val="5631"/>
              </a:lnSpc>
            </a:pPr>
            <a:endParaRPr lang="en-US" sz="2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631"/>
              </a:lnSpc>
            </a:pPr>
            <a:r>
              <a:rPr lang="en-US" sz="281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Value Proposition</a:t>
            </a:r>
          </a:p>
          <a:p>
            <a:pPr algn="l">
              <a:lnSpc>
                <a:spcPts val="5631"/>
              </a:lnSpc>
            </a:pPr>
            <a:r>
              <a:rPr lang="en-US" sz="2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Helps farmers select profitable crops</a:t>
            </a:r>
          </a:p>
          <a:p>
            <a:pPr algn="l">
              <a:lnSpc>
                <a:spcPts val="5631"/>
              </a:lnSpc>
            </a:pPr>
            <a:r>
              <a:rPr lang="en-US" sz="2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Reduces cultivation risk</a:t>
            </a:r>
          </a:p>
          <a:p>
            <a:pPr algn="l">
              <a:lnSpc>
                <a:spcPts val="5631"/>
              </a:lnSpc>
            </a:pPr>
            <a:r>
              <a:rPr lang="en-US" sz="2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Improves herbal supply chain</a:t>
            </a:r>
          </a:p>
          <a:p>
            <a:pPr algn="l">
              <a:lnSpc>
                <a:spcPts val="5631"/>
              </a:lnSpc>
            </a:pPr>
            <a:endParaRPr lang="en-US" sz="2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631"/>
              </a:lnSpc>
            </a:pPr>
            <a:endParaRPr lang="en-US" sz="2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159631" y="2082418"/>
            <a:ext cx="9009243" cy="689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0"/>
              </a:lnSpc>
            </a:pPr>
            <a:r>
              <a:rPr lang="en-US" sz="27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Investment / Cost</a:t>
            </a:r>
          </a:p>
          <a:p>
            <a:pPr algn="l">
              <a:lnSpc>
                <a:spcPts val="5490"/>
              </a:lnSpc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System development</a:t>
            </a:r>
          </a:p>
          <a:p>
            <a:pPr algn="l">
              <a:lnSpc>
                <a:spcPts val="5490"/>
              </a:lnSpc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Dataset collection</a:t>
            </a:r>
          </a:p>
          <a:p>
            <a:pPr algn="l">
              <a:lnSpc>
                <a:spcPts val="5490"/>
              </a:lnSpc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Mobile application deployment</a:t>
            </a:r>
          </a:p>
          <a:p>
            <a:pPr algn="l">
              <a:lnSpc>
                <a:spcPts val="5490"/>
              </a:lnSpc>
            </a:pPr>
            <a:endParaRPr lang="en-US" sz="27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490"/>
              </a:lnSpc>
            </a:pPr>
            <a:r>
              <a:rPr lang="en-US" sz="27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Revenue Model</a:t>
            </a:r>
          </a:p>
          <a:p>
            <a:pPr algn="l">
              <a:lnSpc>
                <a:spcPts val="5490"/>
              </a:lnSpc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Farmer subscription plans</a:t>
            </a:r>
          </a:p>
          <a:p>
            <a:pPr algn="l">
              <a:lnSpc>
                <a:spcPts val="5490"/>
              </a:lnSpc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Agricultural advisory services</a:t>
            </a:r>
          </a:p>
          <a:p>
            <a:pPr algn="l">
              <a:lnSpc>
                <a:spcPts val="5490"/>
              </a:lnSpc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Government / NGO partnerships</a:t>
            </a:r>
          </a:p>
          <a:p>
            <a:pPr algn="l">
              <a:lnSpc>
                <a:spcPts val="5490"/>
              </a:lnSpc>
            </a:pPr>
            <a:endParaRPr lang="en-US" sz="27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8" y="9607577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58971" y="217092"/>
              <a:ext cx="7376693" cy="330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IT22168986 |   H D SACHINTHA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315656" y="4517354"/>
            <a:ext cx="4403139" cy="440313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450" r="-3450" b="-425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259300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65900" y="6614149"/>
            <a:ext cx="6981132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D SACHINTHA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IT22168986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3327" y="1224254"/>
            <a:ext cx="16305973" cy="206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MOBILE-BASED DETECTION OF SRI LANKAN AYURVEDIC PLANTS 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IMAGE RECOGNITION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endParaRPr lang="en-US" sz="39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94231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70933" y="709408"/>
            <a:ext cx="12146133" cy="153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7"/>
              </a:lnSpc>
              <a:spcBef>
                <a:spcPct val="0"/>
              </a:spcBef>
            </a:pPr>
            <a:r>
              <a:rPr lang="en-US" sz="291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MOBILE-BASED DETECTION OF SRI LANKAN AYURVEDIC PLANTS </a:t>
            </a:r>
          </a:p>
          <a:p>
            <a:pPr algn="ctr">
              <a:lnSpc>
                <a:spcPts val="4087"/>
              </a:lnSpc>
              <a:spcBef>
                <a:spcPct val="0"/>
              </a:spcBef>
            </a:pPr>
            <a:r>
              <a:rPr lang="en-US" sz="291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IMAGE RECOGNITION</a:t>
            </a:r>
          </a:p>
          <a:p>
            <a:pPr algn="ctr">
              <a:lnSpc>
                <a:spcPts val="4087"/>
              </a:lnSpc>
              <a:spcBef>
                <a:spcPct val="0"/>
              </a:spcBef>
            </a:pPr>
            <a:endParaRPr lang="en-US" sz="291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43247" y="1701165"/>
            <a:ext cx="11976863" cy="829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1"/>
              </a:lnSpc>
            </a:pPr>
            <a:r>
              <a:rPr lang="en-US" sz="252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Definition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image recognition model using machine learning techniques to identify medicinal plants from scanned images..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knowledge about medicinal plants is gradually disappearing and not easily accessible.</a:t>
            </a:r>
          </a:p>
          <a:p>
            <a:pPr algn="l">
              <a:lnSpc>
                <a:spcPts val="5051"/>
              </a:lnSpc>
            </a:pPr>
            <a:r>
              <a:rPr lang="en-US" sz="252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</a:t>
            </a:r>
          </a:p>
          <a:p>
            <a:pPr algn="l">
              <a:lnSpc>
                <a:spcPts val="5051"/>
              </a:lnSpc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Traditional knowledge about medicinal plants is gradually disappearing and       not easily accessible.</a:t>
            </a:r>
          </a:p>
          <a:p>
            <a:pPr algn="l">
              <a:lnSpc>
                <a:spcPts val="5051"/>
              </a:lnSpc>
            </a:pPr>
            <a:r>
              <a:rPr lang="en-US" sz="252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Sub-Objectives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and build a medicinal plant information database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image-based plant detection model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plant identification and medicinal details through a mobile application</a:t>
            </a:r>
          </a:p>
          <a:p>
            <a:pPr algn="l">
              <a:lnSpc>
                <a:spcPts val="5051"/>
              </a:lnSpc>
            </a:pPr>
            <a:endParaRPr lang="en-US" sz="252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8045989" y="2071512"/>
            <a:ext cx="9148242" cy="6660510"/>
          </a:xfrm>
          <a:custGeom>
            <a:avLst/>
            <a:gdLst/>
            <a:ahLst/>
            <a:cxnLst/>
            <a:rect l="l" t="t" r="r" b="b"/>
            <a:pathLst>
              <a:path w="9148242" h="6660510">
                <a:moveTo>
                  <a:pt x="0" y="0"/>
                </a:moveTo>
                <a:lnTo>
                  <a:pt x="9148242" y="0"/>
                </a:lnTo>
                <a:lnTo>
                  <a:pt x="9148242" y="6660510"/>
                </a:lnTo>
                <a:lnTo>
                  <a:pt x="0" y="6660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38" r="-463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7878" y="9559925"/>
            <a:ext cx="16741658" cy="602298"/>
            <a:chOff x="0" y="0"/>
            <a:chExt cx="22322210" cy="803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58971" y="217110"/>
              <a:ext cx="7376693" cy="330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IT22168986 |   H D SACHINTHA | R-26-IT-021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70388" y="1789852"/>
            <a:ext cx="5452669" cy="7468448"/>
          </a:xfrm>
          <a:custGeom>
            <a:avLst/>
            <a:gdLst/>
            <a:ahLst/>
            <a:cxnLst/>
            <a:rect l="l" t="t" r="r" b="b"/>
            <a:pathLst>
              <a:path w="5452669" h="7468448">
                <a:moveTo>
                  <a:pt x="0" y="0"/>
                </a:moveTo>
                <a:lnTo>
                  <a:pt x="5452669" y="0"/>
                </a:lnTo>
                <a:lnTo>
                  <a:pt x="5452669" y="7468448"/>
                </a:lnTo>
                <a:lnTo>
                  <a:pt x="0" y="74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" t="-9811" r="-1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69492" y="1247346"/>
            <a:ext cx="13380353" cy="698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9"/>
              </a:lnSpc>
            </a:pPr>
            <a:r>
              <a:rPr lang="en-US" sz="25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Overview</a:t>
            </a:r>
          </a:p>
          <a:p>
            <a:pPr marL="557022" lvl="1" indent="-278511" algn="l">
              <a:lnSpc>
                <a:spcPts val="5159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scans a plant leaf , Feed , flowers using </a:t>
            </a:r>
          </a:p>
          <a:p>
            <a:pPr algn="l">
              <a:lnSpc>
                <a:spcPts val="5159"/>
              </a:lnSpc>
            </a:pPr>
            <a:r>
              <a:rPr lang="en-US" sz="2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the mobile application.</a:t>
            </a:r>
          </a:p>
          <a:p>
            <a:pPr marL="557022" lvl="1" indent="-278511" algn="l">
              <a:lnSpc>
                <a:spcPts val="5159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captures and processes the plant image</a:t>
            </a:r>
          </a:p>
          <a:p>
            <a:pPr marL="557022" lvl="1" indent="-278511" algn="l">
              <a:lnSpc>
                <a:spcPts val="5159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image recognition model analyzes plant</a:t>
            </a:r>
          </a:p>
          <a:p>
            <a:pPr algn="l">
              <a:lnSpc>
                <a:spcPts val="5159"/>
              </a:lnSpc>
            </a:pPr>
            <a:r>
              <a:rPr lang="en-US" sz="2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features such as shape, and texture</a:t>
            </a:r>
          </a:p>
          <a:p>
            <a:pPr marL="557022" lvl="1" indent="-278511" algn="l">
              <a:lnSpc>
                <a:spcPts val="5159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identifies the plant species using </a:t>
            </a:r>
          </a:p>
          <a:p>
            <a:pPr algn="l">
              <a:lnSpc>
                <a:spcPts val="5159"/>
              </a:lnSpc>
            </a:pPr>
            <a:r>
              <a:rPr lang="en-US" sz="2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the trained AI model</a:t>
            </a:r>
          </a:p>
          <a:p>
            <a:pPr algn="l">
              <a:lnSpc>
                <a:spcPts val="5159"/>
              </a:lnSpc>
            </a:pPr>
            <a:endParaRPr lang="en-US" sz="25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159"/>
              </a:lnSpc>
            </a:pPr>
            <a:endParaRPr lang="en-US" sz="25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611"/>
              </a:lnSpc>
              <a:spcBef>
                <a:spcPct val="0"/>
              </a:spcBef>
            </a:pPr>
            <a:endParaRPr lang="en-US" sz="25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607725" y="522409"/>
            <a:ext cx="13072550" cy="153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0"/>
              </a:lnSpc>
            </a:pPr>
            <a:r>
              <a:rPr lang="en-US" sz="29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Mobile-Based Detection of Sri Lankan Ayurvedic Plants </a:t>
            </a:r>
          </a:p>
          <a:p>
            <a:pPr algn="ctr">
              <a:lnSpc>
                <a:spcPts val="4090"/>
              </a:lnSpc>
            </a:pPr>
            <a:r>
              <a:rPr lang="en-US" sz="29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Image Recognition</a:t>
            </a:r>
          </a:p>
          <a:p>
            <a:pPr algn="ctr">
              <a:lnSpc>
                <a:spcPts val="4090"/>
              </a:lnSpc>
              <a:spcBef>
                <a:spcPct val="0"/>
              </a:spcBef>
            </a:pPr>
            <a:endParaRPr lang="en-US" sz="292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77878" y="9559925"/>
            <a:ext cx="16741658" cy="602298"/>
            <a:chOff x="0" y="0"/>
            <a:chExt cx="22322210" cy="8030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58971" y="217110"/>
              <a:ext cx="7376693" cy="330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IT22168986 |   H D SACHINTHA | R-26-IT-021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6621837"/>
            <a:ext cx="1427798" cy="9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8"/>
              </a:lnSpc>
              <a:spcBef>
                <a:spcPct val="0"/>
              </a:spcBef>
            </a:pPr>
            <a:r>
              <a:rPr lang="en-US" sz="258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  <a:p>
            <a:pPr algn="ctr">
              <a:lnSpc>
                <a:spcPts val="3618"/>
              </a:lnSpc>
              <a:spcBef>
                <a:spcPct val="0"/>
              </a:spcBef>
            </a:pPr>
            <a:endParaRPr lang="en-US" sz="2584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7342485"/>
            <a:ext cx="8258849" cy="1406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  <a:spcBef>
                <a:spcPct val="0"/>
              </a:spcBef>
            </a:pPr>
            <a:r>
              <a:rPr lang="en-US" sz="19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Lee, S. H., Chan, C. S., Mayo, S. J., &amp; Remagnino, P. (2015). Deep-Plant: Plant Identification with Convolutional Neural Networks. Proceedings of the IEEE International Conference on Image Processing (ICIP). https://doi.org/10.1109/ICIP.2015.7350987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7959" y="659902"/>
            <a:ext cx="15683023" cy="1090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endParaRPr/>
          </a:p>
          <a:p>
            <a:pPr algn="l">
              <a:lnSpc>
                <a:spcPts val="4875"/>
              </a:lnSpc>
            </a:pPr>
            <a:r>
              <a:rPr lang="en-US" sz="243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  <a:p>
            <a:pPr marL="526357" lvl="1" indent="-263179" algn="l">
              <a:lnSpc>
                <a:spcPts val="487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name (Sinhala and English)</a:t>
            </a:r>
          </a:p>
          <a:p>
            <a:pPr marL="526357" lvl="1" indent="-263179" algn="l">
              <a:lnSpc>
                <a:spcPts val="487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Ayurvedic medicinal benefits of the plant</a:t>
            </a:r>
          </a:p>
          <a:p>
            <a:pPr marL="526357" lvl="1" indent="-263179" algn="l">
              <a:lnSpc>
                <a:spcPts val="487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Parts of the plant used for medicine</a:t>
            </a:r>
          </a:p>
          <a:p>
            <a:pPr marL="526357" lvl="1" indent="-263179" algn="l">
              <a:lnSpc>
                <a:spcPts val="487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Traditional uses and health applications</a:t>
            </a:r>
          </a:p>
          <a:p>
            <a:pPr algn="l">
              <a:lnSpc>
                <a:spcPts val="4875"/>
              </a:lnSpc>
            </a:pPr>
            <a:endParaRPr lang="en-US" sz="243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875"/>
              </a:lnSpc>
            </a:pPr>
            <a:r>
              <a:rPr lang="en-US" sz="243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Dependencies and common components</a:t>
            </a:r>
          </a:p>
          <a:p>
            <a:pPr marL="526357" lvl="1" indent="-263179" algn="l">
              <a:lnSpc>
                <a:spcPts val="487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Models (CNN) – plant species </a:t>
            </a:r>
          </a:p>
          <a:p>
            <a:pPr algn="l">
              <a:lnSpc>
                <a:spcPts val="4875"/>
              </a:lnSpc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identification from leaf and flower images [1]</a:t>
            </a:r>
          </a:p>
          <a:p>
            <a:pPr marL="526357" lvl="1" indent="-263179" algn="l">
              <a:lnSpc>
                <a:spcPts val="487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Machine Learning Algorithms – cultivation </a:t>
            </a:r>
          </a:p>
          <a:p>
            <a:pPr algn="l">
              <a:lnSpc>
                <a:spcPts val="4875"/>
              </a:lnSpc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recommendation based on soil, climate, and market data [2]</a:t>
            </a:r>
          </a:p>
          <a:p>
            <a:pPr marL="526357" lvl="1" indent="-263179" algn="l">
              <a:lnSpc>
                <a:spcPts val="487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Retrieval System (RAG) – answering herbal medicine questions using plant knowledge database</a:t>
            </a:r>
          </a:p>
          <a:p>
            <a:pPr marL="526357" lvl="1" indent="-263179" algn="l">
              <a:lnSpc>
                <a:spcPts val="4875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 Tools – displaying suitability score, profit prediction, and Grad-CAM heatmaps</a:t>
            </a:r>
          </a:p>
          <a:p>
            <a:pPr algn="l">
              <a:lnSpc>
                <a:spcPts val="4875"/>
              </a:lnSpc>
            </a:pPr>
            <a:endParaRPr lang="en-US" sz="243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875"/>
              </a:lnSpc>
            </a:pPr>
            <a:endParaRPr lang="en-US" sz="243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875"/>
              </a:lnSpc>
            </a:pPr>
            <a:endParaRPr lang="en-US" sz="243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413"/>
              </a:lnSpc>
              <a:spcBef>
                <a:spcPct val="0"/>
              </a:spcBef>
            </a:pPr>
            <a:endParaRPr lang="en-US" sz="243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74522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58971" y="217092"/>
              <a:ext cx="7376693" cy="330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IT22168986 |   H D SACHINTHA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5977" y="1761382"/>
            <a:ext cx="4210628" cy="4118298"/>
            <a:chOff x="0" y="0"/>
            <a:chExt cx="888092" cy="8686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8092" cy="868618"/>
            </a:xfrm>
            <a:custGeom>
              <a:avLst/>
              <a:gdLst/>
              <a:ahLst/>
              <a:cxnLst/>
              <a:rect l="l" t="t" r="r" b="b"/>
              <a:pathLst>
                <a:path w="888092" h="868618">
                  <a:moveTo>
                    <a:pt x="35911" y="0"/>
                  </a:moveTo>
                  <a:lnTo>
                    <a:pt x="852181" y="0"/>
                  </a:lnTo>
                  <a:cubicBezTo>
                    <a:pt x="872014" y="0"/>
                    <a:pt x="888092" y="16078"/>
                    <a:pt x="888092" y="35911"/>
                  </a:cubicBezTo>
                  <a:lnTo>
                    <a:pt x="888092" y="832707"/>
                  </a:lnTo>
                  <a:cubicBezTo>
                    <a:pt x="888092" y="852540"/>
                    <a:pt x="872014" y="868618"/>
                    <a:pt x="852181" y="868618"/>
                  </a:cubicBezTo>
                  <a:lnTo>
                    <a:pt x="35911" y="868618"/>
                  </a:lnTo>
                  <a:cubicBezTo>
                    <a:pt x="16078" y="868618"/>
                    <a:pt x="0" y="852540"/>
                    <a:pt x="0" y="832707"/>
                  </a:cubicBezTo>
                  <a:lnTo>
                    <a:pt x="0" y="35911"/>
                  </a:lnTo>
                  <a:cubicBezTo>
                    <a:pt x="0" y="16078"/>
                    <a:pt x="16078" y="0"/>
                    <a:pt x="3591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88092" cy="906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94378" y="1945570"/>
            <a:ext cx="11693825" cy="3702716"/>
            <a:chOff x="0" y="0"/>
            <a:chExt cx="15591767" cy="4936955"/>
          </a:xfrm>
        </p:grpSpPr>
        <p:sp>
          <p:nvSpPr>
            <p:cNvPr id="12" name="TextBox 12"/>
            <p:cNvSpPr txBox="1"/>
            <p:nvPr/>
          </p:nvSpPr>
          <p:spPr>
            <a:xfrm>
              <a:off x="5073723" y="-57150"/>
              <a:ext cx="6071348" cy="1916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18"/>
                </a:lnSpc>
              </a:pPr>
              <a:r>
                <a:rPr lang="en-US" sz="20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RESEARCH METHODOLOGY</a:t>
              </a:r>
            </a:p>
            <a:p>
              <a:pPr algn="ctr">
                <a:lnSpc>
                  <a:spcPts val="2918"/>
                </a:lnSpc>
                <a:spcBef>
                  <a:spcPct val="0"/>
                </a:spcBef>
              </a:pPr>
              <a:endParaRPr lang="en-US" sz="208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918"/>
                </a:lnSpc>
                <a:spcBef>
                  <a:spcPct val="0"/>
                </a:spcBef>
              </a:pPr>
              <a:endParaRPr lang="en-US" sz="208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2918"/>
                </a:lnSpc>
                <a:spcBef>
                  <a:spcPct val="0"/>
                </a:spcBef>
              </a:pPr>
              <a:endParaRPr lang="en-US" sz="208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07341"/>
              <a:ext cx="15591767" cy="43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8"/>
                </a:lnSpc>
              </a:pPr>
              <a:r>
                <a:rPr lang="en-US" sz="208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IDENTIFICATION </a:t>
              </a:r>
            </a:p>
            <a:p>
              <a:pPr algn="ctr">
                <a:lnSpc>
                  <a:spcPts val="2918"/>
                </a:lnSpc>
              </a:pPr>
              <a:endParaRPr lang="en-US" sz="20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2918"/>
                </a:lnSpc>
              </a:pPr>
              <a:r>
                <a:rPr lang="en-US" sz="208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COLLECTION </a:t>
              </a:r>
            </a:p>
            <a:p>
              <a:pPr algn="ctr">
                <a:lnSpc>
                  <a:spcPts val="2918"/>
                </a:lnSpc>
              </a:pPr>
              <a:endParaRPr lang="en-US" sz="20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2918"/>
                </a:lnSpc>
              </a:pPr>
              <a:r>
                <a:rPr lang="en-US" sz="208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PLANT DETECTION MODEL</a:t>
              </a:r>
            </a:p>
            <a:p>
              <a:pPr algn="ctr">
                <a:lnSpc>
                  <a:spcPts val="2918"/>
                </a:lnSpc>
              </a:pPr>
              <a:r>
                <a:rPr lang="en-US" sz="208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  <a:p>
              <a:pPr algn="ctr">
                <a:lnSpc>
                  <a:spcPts val="2918"/>
                </a:lnSpc>
              </a:pPr>
              <a:r>
                <a:rPr lang="en-US" sz="208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DEVELOPMENT </a:t>
              </a:r>
            </a:p>
            <a:p>
              <a:pPr algn="ctr">
                <a:lnSpc>
                  <a:spcPts val="2918"/>
                </a:lnSpc>
              </a:pPr>
              <a:endParaRPr lang="en-US" sz="20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2918"/>
                </a:lnSpc>
              </a:pPr>
              <a:r>
                <a:rPr lang="en-US" sz="208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EVALUATION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7376963" y="1150373"/>
              <a:ext cx="418921" cy="474514"/>
              <a:chOff x="0" y="0"/>
              <a:chExt cx="717574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1757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17574" h="812800">
                    <a:moveTo>
                      <a:pt x="35878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514374" y="0"/>
                    </a:lnTo>
                    <a:lnTo>
                      <a:pt x="514374" y="406400"/>
                    </a:lnTo>
                    <a:lnTo>
                      <a:pt x="717574" y="406400"/>
                    </a:lnTo>
                    <a:lnTo>
                      <a:pt x="358787" y="812800"/>
                    </a:lnTo>
                    <a:close/>
                  </a:path>
                </a:pathLst>
              </a:custGeom>
              <a:solidFill>
                <a:srgbClr val="ABBEC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03200" y="-38100"/>
                <a:ext cx="311174" cy="749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8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2527100" y="3497973"/>
            <a:ext cx="314191" cy="1777874"/>
            <a:chOff x="0" y="0"/>
            <a:chExt cx="418921" cy="2370499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18921" cy="474514"/>
              <a:chOff x="0" y="0"/>
              <a:chExt cx="717574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1757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17574" h="812800">
                    <a:moveTo>
                      <a:pt x="35878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514374" y="0"/>
                    </a:lnTo>
                    <a:lnTo>
                      <a:pt x="514374" y="406400"/>
                    </a:lnTo>
                    <a:lnTo>
                      <a:pt x="717574" y="406400"/>
                    </a:lnTo>
                    <a:lnTo>
                      <a:pt x="358787" y="812800"/>
                    </a:lnTo>
                    <a:close/>
                  </a:path>
                </a:pathLst>
              </a:custGeom>
              <a:solidFill>
                <a:srgbClr val="ABBEC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03200" y="-38100"/>
                <a:ext cx="311174" cy="749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8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895829"/>
              <a:ext cx="418921" cy="474514"/>
              <a:chOff x="0" y="0"/>
              <a:chExt cx="717574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1757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17574" h="812800">
                    <a:moveTo>
                      <a:pt x="35878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514374" y="0"/>
                    </a:lnTo>
                    <a:lnTo>
                      <a:pt x="514374" y="406400"/>
                    </a:lnTo>
                    <a:lnTo>
                      <a:pt x="717574" y="406400"/>
                    </a:lnTo>
                    <a:lnTo>
                      <a:pt x="358787" y="812800"/>
                    </a:lnTo>
                    <a:close/>
                  </a:path>
                </a:pathLst>
              </a:custGeom>
              <a:solidFill>
                <a:srgbClr val="ABBEC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03200" y="-38100"/>
                <a:ext cx="311174" cy="749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8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1895985"/>
              <a:ext cx="418921" cy="474514"/>
              <a:chOff x="0" y="0"/>
              <a:chExt cx="717574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1757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17574" h="812800">
                    <a:moveTo>
                      <a:pt x="35878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514374" y="0"/>
                    </a:lnTo>
                    <a:lnTo>
                      <a:pt x="514374" y="406400"/>
                    </a:lnTo>
                    <a:lnTo>
                      <a:pt x="717574" y="406400"/>
                    </a:lnTo>
                    <a:lnTo>
                      <a:pt x="358787" y="812800"/>
                    </a:lnTo>
                    <a:close/>
                  </a:path>
                </a:pathLst>
              </a:custGeom>
              <a:solidFill>
                <a:srgbClr val="ABBEC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03200" y="-38100"/>
                <a:ext cx="311174" cy="749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8"/>
                  </a:lnSpc>
                </a:pPr>
                <a:endParaRPr/>
              </a:p>
            </p:txBody>
          </p:sp>
        </p:grpSp>
      </p:grpSp>
      <p:sp>
        <p:nvSpPr>
          <p:cNvPr id="27" name="Freeform 27"/>
          <p:cNvSpPr/>
          <p:nvPr/>
        </p:nvSpPr>
        <p:spPr>
          <a:xfrm>
            <a:off x="15845028" y="1021134"/>
            <a:ext cx="1701105" cy="8237166"/>
          </a:xfrm>
          <a:custGeom>
            <a:avLst/>
            <a:gdLst/>
            <a:ahLst/>
            <a:cxnLst/>
            <a:rect l="l" t="t" r="r" b="b"/>
            <a:pathLst>
              <a:path w="1701105" h="8237166">
                <a:moveTo>
                  <a:pt x="0" y="0"/>
                </a:moveTo>
                <a:lnTo>
                  <a:pt x="1701104" y="0"/>
                </a:lnTo>
                <a:lnTo>
                  <a:pt x="1701104" y="8237166"/>
                </a:lnTo>
                <a:lnTo>
                  <a:pt x="0" y="8237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527" t="-14007" r="-771626" b="-153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7259300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07725" y="522409"/>
            <a:ext cx="13072550" cy="153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0"/>
              </a:lnSpc>
            </a:pPr>
            <a:r>
              <a:rPr lang="en-US" sz="29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Mobile-Based Detection of Sri Lankan Ayurvedic Plants </a:t>
            </a:r>
          </a:p>
          <a:p>
            <a:pPr algn="ctr">
              <a:lnSpc>
                <a:spcPts val="4090"/>
              </a:lnSpc>
            </a:pPr>
            <a:r>
              <a:rPr lang="en-US" sz="29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Image Recognition</a:t>
            </a:r>
          </a:p>
          <a:p>
            <a:pPr algn="ctr">
              <a:lnSpc>
                <a:spcPts val="4090"/>
              </a:lnSpc>
              <a:spcBef>
                <a:spcPct val="0"/>
              </a:spcBef>
            </a:pPr>
            <a:endParaRPr lang="en-US" sz="292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8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5897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IT22168986 |   H D SACHINTHA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4538042" y="871415"/>
            <a:ext cx="1450985" cy="3576205"/>
          </a:xfrm>
          <a:custGeom>
            <a:avLst/>
            <a:gdLst/>
            <a:ahLst/>
            <a:cxnLst/>
            <a:rect l="l" t="t" r="r" b="b"/>
            <a:pathLst>
              <a:path w="1450985" h="3576205">
                <a:moveTo>
                  <a:pt x="0" y="0"/>
                </a:moveTo>
                <a:lnTo>
                  <a:pt x="1450984" y="0"/>
                </a:lnTo>
                <a:lnTo>
                  <a:pt x="1450984" y="3576205"/>
                </a:lnTo>
                <a:lnTo>
                  <a:pt x="0" y="3576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710" r="-246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909239" y="5143500"/>
            <a:ext cx="4651425" cy="5419645"/>
          </a:xfrm>
          <a:custGeom>
            <a:avLst/>
            <a:gdLst/>
            <a:ahLst/>
            <a:cxnLst/>
            <a:rect l="l" t="t" r="r" b="b"/>
            <a:pathLst>
              <a:path w="4651425" h="5419645">
                <a:moveTo>
                  <a:pt x="0" y="0"/>
                </a:moveTo>
                <a:lnTo>
                  <a:pt x="4651424" y="0"/>
                </a:lnTo>
                <a:lnTo>
                  <a:pt x="4651424" y="5419645"/>
                </a:lnTo>
                <a:lnTo>
                  <a:pt x="0" y="5419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8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259300" y="97429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9239" y="149525"/>
            <a:ext cx="13315601" cy="118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MOBILE-BASED DETECTION OF SRI LANKAN AYURVEDIC PLANTS </a:t>
            </a:r>
          </a:p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IMAGE RECOGNITION</a:t>
            </a:r>
          </a:p>
          <a:p>
            <a:pPr algn="ctr">
              <a:lnSpc>
                <a:spcPts val="3109"/>
              </a:lnSpc>
              <a:spcBef>
                <a:spcPct val="0"/>
              </a:spcBef>
            </a:pPr>
            <a:endParaRPr lang="en-US" sz="222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3658" y="1282415"/>
            <a:ext cx="9541894" cy="4576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4"/>
              </a:lnSpc>
            </a:pPr>
            <a:r>
              <a:rPr lang="en-US" sz="228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Methodology</a:t>
            </a:r>
          </a:p>
          <a:p>
            <a:pPr algn="l">
              <a:lnSpc>
                <a:spcPts val="4574"/>
              </a:lnSpc>
            </a:pPr>
            <a:r>
              <a:rPr lang="en-US" sz="22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analyzes multiple datasets to generate intelligent cultivation recommendations.</a:t>
            </a:r>
          </a:p>
          <a:p>
            <a:pPr algn="l">
              <a:lnSpc>
                <a:spcPts val="4574"/>
              </a:lnSpc>
            </a:pPr>
            <a:r>
              <a:rPr lang="en-US" sz="228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Domain Knowledge</a:t>
            </a:r>
          </a:p>
          <a:p>
            <a:pPr marL="493783" lvl="1" indent="-246891" algn="l">
              <a:lnSpc>
                <a:spcPts val="4574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Ayurvedic Medicinal Plants</a:t>
            </a:r>
          </a:p>
          <a:p>
            <a:pPr marL="493783" lvl="1" indent="-246891" algn="l">
              <a:lnSpc>
                <a:spcPts val="4574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and Computer Vision</a:t>
            </a:r>
          </a:p>
          <a:p>
            <a:pPr marL="493783" lvl="1" indent="-246891" algn="l">
              <a:lnSpc>
                <a:spcPts val="4574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Application Development</a:t>
            </a:r>
          </a:p>
          <a:p>
            <a:pPr algn="l">
              <a:lnSpc>
                <a:spcPts val="4574"/>
              </a:lnSpc>
            </a:pPr>
            <a:endParaRPr lang="en-US" sz="228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3658" y="5414823"/>
            <a:ext cx="5243462" cy="367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94"/>
              </a:lnSpc>
            </a:pPr>
            <a:r>
              <a:rPr lang="en-US" sz="235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Validation &amp; Evaluation</a:t>
            </a:r>
          </a:p>
          <a:p>
            <a:pPr marL="508118" lvl="1" indent="-254059" algn="just">
              <a:lnSpc>
                <a:spcPts val="3294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accuracy testing</a:t>
            </a:r>
          </a:p>
          <a:p>
            <a:pPr marL="508118" lvl="1" indent="-254059" algn="just">
              <a:lnSpc>
                <a:spcPts val="4706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and Testing of the Ayurvedic</a:t>
            </a:r>
          </a:p>
          <a:p>
            <a:pPr algn="just">
              <a:lnSpc>
                <a:spcPts val="4706"/>
              </a:lnSpc>
            </a:pPr>
            <a:r>
              <a:rPr lang="en-US" sz="23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Plant Detection System</a:t>
            </a:r>
          </a:p>
          <a:p>
            <a:pPr marL="508118" lvl="1" indent="-254059" algn="just">
              <a:lnSpc>
                <a:spcPts val="3294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Performance Evaluation </a:t>
            </a:r>
          </a:p>
          <a:p>
            <a:pPr algn="just">
              <a:lnSpc>
                <a:spcPts val="3294"/>
              </a:lnSpc>
            </a:pPr>
            <a:r>
              <a:rPr lang="en-US" sz="23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and Accuracy Assessment</a:t>
            </a:r>
          </a:p>
          <a:p>
            <a:pPr algn="just">
              <a:lnSpc>
                <a:spcPts val="3294"/>
              </a:lnSpc>
            </a:pPr>
            <a:endParaRPr lang="en-US" sz="23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294"/>
              </a:lnSpc>
              <a:spcBef>
                <a:spcPct val="0"/>
              </a:spcBef>
            </a:pPr>
            <a:endParaRPr lang="en-US" sz="23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63540" y="1125883"/>
            <a:ext cx="6053426" cy="783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7"/>
              </a:lnSpc>
            </a:pPr>
            <a:r>
              <a:rPr lang="en-US" sz="222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  <a:p>
            <a:pPr marL="480070" lvl="1" indent="-240035" algn="l">
              <a:lnSpc>
                <a:spcPts val="4447"/>
              </a:lnSpc>
              <a:buFont typeface="Arial"/>
              <a:buChar char="•"/>
            </a:pPr>
            <a:r>
              <a:rPr lang="en-US" sz="222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 /AI Techniques</a:t>
            </a:r>
          </a:p>
          <a:p>
            <a:pPr marL="960139" lvl="2" indent="-320046" algn="l">
              <a:lnSpc>
                <a:spcPts val="4447"/>
              </a:lnSpc>
              <a:buFont typeface="Arial"/>
              <a:buChar char="⚬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Convolutional Neural Networks (CNN)</a:t>
            </a:r>
          </a:p>
          <a:p>
            <a:pPr marL="960139" lvl="2" indent="-320046" algn="l">
              <a:lnSpc>
                <a:spcPts val="4447"/>
              </a:lnSpc>
              <a:buFont typeface="Arial"/>
              <a:buChar char="⚬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Recognition Algorithms</a:t>
            </a:r>
          </a:p>
          <a:p>
            <a:pPr marL="480070" lvl="1" indent="-240035" algn="l">
              <a:lnSpc>
                <a:spcPts val="4447"/>
              </a:lnSpc>
              <a:buFont typeface="Arial"/>
              <a:buChar char="•"/>
            </a:pPr>
            <a:r>
              <a:rPr lang="en-US" sz="222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Sources</a:t>
            </a:r>
          </a:p>
          <a:p>
            <a:pPr marL="960139" lvl="2" indent="-320046" algn="l">
              <a:lnSpc>
                <a:spcPts val="4447"/>
              </a:lnSpc>
              <a:buFont typeface="Arial"/>
              <a:buChar char="⚬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Leaf and Flower Image Datasets</a:t>
            </a:r>
          </a:p>
          <a:p>
            <a:pPr marL="960139" lvl="2" indent="-320046" algn="l">
              <a:lnSpc>
                <a:spcPts val="4447"/>
              </a:lnSpc>
              <a:buFont typeface="Arial"/>
              <a:buChar char="⚬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Lankan Ayurvedic Medicinal Plant Information</a:t>
            </a:r>
          </a:p>
          <a:p>
            <a:pPr marL="480070" lvl="1" indent="-240035" algn="l">
              <a:lnSpc>
                <a:spcPts val="4447"/>
              </a:lnSpc>
              <a:buFont typeface="Arial"/>
              <a:buChar char="•"/>
            </a:pPr>
            <a:r>
              <a:rPr lang="en-US" sz="222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 Tools</a:t>
            </a:r>
          </a:p>
          <a:p>
            <a:pPr marL="960139" lvl="2" indent="-320046" algn="l">
              <a:lnSpc>
                <a:spcPts val="4447"/>
              </a:lnSpc>
              <a:buFont typeface="Arial"/>
              <a:buChar char="⚬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</a:p>
          <a:p>
            <a:pPr marL="960139" lvl="2" indent="-320046" algn="l">
              <a:lnSpc>
                <a:spcPts val="4447"/>
              </a:lnSpc>
              <a:buFont typeface="Arial"/>
              <a:buChar char="⚬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TensorFlow</a:t>
            </a:r>
          </a:p>
          <a:p>
            <a:pPr marL="960139" lvl="2" indent="-320046" algn="l">
              <a:lnSpc>
                <a:spcPts val="4447"/>
              </a:lnSpc>
              <a:buFont typeface="Arial"/>
              <a:buChar char="⚬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</a:t>
            </a:r>
          </a:p>
          <a:p>
            <a:pPr algn="l">
              <a:lnSpc>
                <a:spcPts val="4447"/>
              </a:lnSpc>
            </a:pPr>
            <a:endParaRPr lang="en-US" sz="222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447"/>
              </a:lnSpc>
            </a:pPr>
            <a:endParaRPr lang="en-US" sz="222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4392490" y="2659517"/>
            <a:ext cx="1446713" cy="3576205"/>
          </a:xfrm>
          <a:custGeom>
            <a:avLst/>
            <a:gdLst/>
            <a:ahLst/>
            <a:cxnLst/>
            <a:rect l="l" t="t" r="r" b="b"/>
            <a:pathLst>
              <a:path w="1446713" h="3576205">
                <a:moveTo>
                  <a:pt x="0" y="0"/>
                </a:moveTo>
                <a:lnTo>
                  <a:pt x="1446712" y="0"/>
                </a:lnTo>
                <a:lnTo>
                  <a:pt x="1446712" y="3576205"/>
                </a:lnTo>
                <a:lnTo>
                  <a:pt x="0" y="3576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706" r="-1393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4460653" y="4447620"/>
            <a:ext cx="1528373" cy="3576205"/>
          </a:xfrm>
          <a:custGeom>
            <a:avLst/>
            <a:gdLst/>
            <a:ahLst/>
            <a:cxnLst/>
            <a:rect l="l" t="t" r="r" b="b"/>
            <a:pathLst>
              <a:path w="1528373" h="3576205">
                <a:moveTo>
                  <a:pt x="0" y="0"/>
                </a:moveTo>
                <a:lnTo>
                  <a:pt x="1528373" y="0"/>
                </a:lnTo>
                <a:lnTo>
                  <a:pt x="1528373" y="3576204"/>
                </a:lnTo>
                <a:lnTo>
                  <a:pt x="0" y="3576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2263" r="-89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606889" y="3204753"/>
            <a:ext cx="4652411" cy="6969273"/>
          </a:xfrm>
          <a:custGeom>
            <a:avLst/>
            <a:gdLst/>
            <a:ahLst/>
            <a:cxnLst/>
            <a:rect l="l" t="t" r="r" b="b"/>
            <a:pathLst>
              <a:path w="4652411" h="6969273">
                <a:moveTo>
                  <a:pt x="0" y="0"/>
                </a:moveTo>
                <a:lnTo>
                  <a:pt x="4652411" y="0"/>
                </a:lnTo>
                <a:lnTo>
                  <a:pt x="4652411" y="6969273"/>
                </a:lnTo>
                <a:lnTo>
                  <a:pt x="0" y="6969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3" r="-12316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480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60259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99878" y="217128"/>
              <a:ext cx="7122489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IT22112132 |   PATTIYA ARACHCHI P A H K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867712" y="4866712"/>
            <a:ext cx="4391588" cy="439158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691" r="-36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05909" y="6957731"/>
            <a:ext cx="6981132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PATTIYA ARACHCHI P A H K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IT22112132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87502" y="1668781"/>
            <a:ext cx="14389565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SYSTEM FOR AYURVEDIC MEDICINAL PLANT QUALITY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834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60259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99878" y="217128"/>
              <a:ext cx="7122489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IT22112132 |   PATTIYA ARACHCHI P A H K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0519366" y="4510048"/>
            <a:ext cx="6739934" cy="4490481"/>
          </a:xfrm>
          <a:custGeom>
            <a:avLst/>
            <a:gdLst/>
            <a:ahLst/>
            <a:cxnLst/>
            <a:rect l="l" t="t" r="r" b="b"/>
            <a:pathLst>
              <a:path w="6739934" h="4490481">
                <a:moveTo>
                  <a:pt x="0" y="0"/>
                </a:moveTo>
                <a:lnTo>
                  <a:pt x="6739934" y="0"/>
                </a:lnTo>
                <a:lnTo>
                  <a:pt x="6739934" y="4490482"/>
                </a:lnTo>
                <a:lnTo>
                  <a:pt x="0" y="4490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259300" y="97334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8448" y="485776"/>
            <a:ext cx="16391104" cy="54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SYSTEM FOR AYURVEDIC MEDICINAL PLANT QUALITY ASSESSMENT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5953" y="1499989"/>
            <a:ext cx="3581400" cy="47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Definition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2979" y="2207686"/>
            <a:ext cx="12792890" cy="1248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052" lvl="1" indent="-259526" algn="just">
              <a:lnSpc>
                <a:spcPts val="3365"/>
              </a:lnSpc>
              <a:spcBef>
                <a:spcPct val="0"/>
              </a:spcBef>
              <a:buFont typeface="Arial"/>
              <a:buChar char="•"/>
            </a:pPr>
            <a:r>
              <a:rPr lang="en-US" sz="24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assessment of Ayurvedic medicinal plants is mainly done manually by experts.</a:t>
            </a:r>
          </a:p>
          <a:p>
            <a:pPr marL="519052" lvl="1" indent="-259526" algn="just">
              <a:lnSpc>
                <a:spcPts val="3365"/>
              </a:lnSpc>
              <a:spcBef>
                <a:spcPct val="0"/>
              </a:spcBef>
              <a:buFont typeface="Arial"/>
              <a:buChar char="•"/>
            </a:pPr>
            <a:r>
              <a:rPr lang="en-US" sz="24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inspection is time-consuming, subjective, and not always available, especially in rural areas.</a:t>
            </a:r>
          </a:p>
          <a:p>
            <a:pPr marL="519052" lvl="1" indent="-259526" algn="just">
              <a:lnSpc>
                <a:spcPts val="3365"/>
              </a:lnSpc>
              <a:spcBef>
                <a:spcPct val="0"/>
              </a:spcBef>
              <a:buFont typeface="Arial"/>
              <a:buChar char="•"/>
            </a:pPr>
            <a:r>
              <a:rPr lang="en-US" sz="24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Diseased or over-mature plant materials can reduce the effectiveness of herbal medicine.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4800" y="3697904"/>
            <a:ext cx="2564613" cy="472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8355" y="4452898"/>
            <a:ext cx="9328578" cy="830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052" lvl="1" indent="-259526" algn="l">
              <a:lnSpc>
                <a:spcPts val="3365"/>
              </a:lnSpc>
              <a:buFont typeface="Arial"/>
              <a:buChar char="•"/>
            </a:pPr>
            <a:r>
              <a:rPr lang="en-US" sz="24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AI-based system that evaluates the quality of medicinal plant leaves or fruits using images.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766" y="5790586"/>
            <a:ext cx="3634008" cy="50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Sub-Objectives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8355" y="6411289"/>
            <a:ext cx="9328578" cy="2082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052" lvl="1" indent="-259526" algn="l">
              <a:lnSpc>
                <a:spcPts val="3365"/>
              </a:lnSpc>
              <a:spcBef>
                <a:spcPct val="0"/>
              </a:spcBef>
              <a:buFont typeface="Arial"/>
              <a:buChar char="•"/>
            </a:pPr>
            <a:r>
              <a:rPr lang="en-US" sz="24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a deep learning model to classify plant condition.</a:t>
            </a:r>
          </a:p>
          <a:p>
            <a:pPr marL="519052" lvl="1" indent="-259526" algn="l">
              <a:lnSpc>
                <a:spcPts val="3365"/>
              </a:lnSpc>
              <a:spcBef>
                <a:spcPct val="0"/>
              </a:spcBef>
              <a:buFont typeface="Arial"/>
              <a:buChar char="•"/>
            </a:pPr>
            <a:r>
              <a:rPr lang="en-US" sz="24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transfer learning to work with limited datasets.</a:t>
            </a:r>
          </a:p>
          <a:p>
            <a:pPr marL="519052" lvl="1" indent="-259526" algn="l">
              <a:lnSpc>
                <a:spcPts val="3365"/>
              </a:lnSpc>
              <a:spcBef>
                <a:spcPct val="0"/>
              </a:spcBef>
              <a:buFont typeface="Arial"/>
              <a:buChar char="•"/>
            </a:pPr>
            <a:r>
              <a:rPr lang="en-US" sz="24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Explainable AI (Grad-CAM) to visualize model decisions.</a:t>
            </a:r>
          </a:p>
          <a:p>
            <a:pPr marL="519052" lvl="1" indent="-259526" algn="l">
              <a:lnSpc>
                <a:spcPts val="3365"/>
              </a:lnSpc>
              <a:spcBef>
                <a:spcPct val="0"/>
              </a:spcBef>
              <a:buFont typeface="Arial"/>
              <a:buChar char="•"/>
            </a:pPr>
            <a:r>
              <a:rPr lang="en-US" sz="24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 farmers, herbal suppliers, Ayurvedic practitioners, and beginners in identifying plant quality.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480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60259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99878" y="217128"/>
              <a:ext cx="7122489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IT22112132 |   PATTIYA ARACHCHI P A H K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0003439" y="4028848"/>
            <a:ext cx="7382900" cy="4888936"/>
          </a:xfrm>
          <a:custGeom>
            <a:avLst/>
            <a:gdLst/>
            <a:ahLst/>
            <a:cxnLst/>
            <a:rect l="l" t="t" r="r" b="b"/>
            <a:pathLst>
              <a:path w="7382900" h="4888936">
                <a:moveTo>
                  <a:pt x="0" y="0"/>
                </a:moveTo>
                <a:lnTo>
                  <a:pt x="7382901" y="0"/>
                </a:lnTo>
                <a:lnTo>
                  <a:pt x="7382901" y="4888937"/>
                </a:lnTo>
                <a:lnTo>
                  <a:pt x="0" y="4888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06" b="-3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175" y="511811"/>
            <a:ext cx="16037650" cy="51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SYSTEM FOR AYURVEDIC MEDICINAL PLANT QUALITY ASSESSMENT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9913" y="2144747"/>
            <a:ext cx="12541772" cy="356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3535" lvl="1" indent="-276768" algn="just">
              <a:lnSpc>
                <a:spcPts val="3589"/>
              </a:lnSpc>
              <a:spcBef>
                <a:spcPct val="0"/>
              </a:spcBef>
              <a:buAutoNum type="arabicPeriod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collection of medicinal plant leaves or fruits</a:t>
            </a:r>
          </a:p>
          <a:p>
            <a:pPr marL="553535" lvl="1" indent="-276768" algn="just">
              <a:lnSpc>
                <a:spcPts val="3589"/>
              </a:lnSpc>
              <a:spcBef>
                <a:spcPct val="0"/>
              </a:spcBef>
              <a:buAutoNum type="arabicPeriod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preprocessing and normalization</a:t>
            </a:r>
          </a:p>
          <a:p>
            <a:pPr marL="553535" lvl="1" indent="-276768" algn="l">
              <a:lnSpc>
                <a:spcPts val="3589"/>
              </a:lnSpc>
              <a:buAutoNum type="arabicPeriod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using a pretrained CNN model</a:t>
            </a:r>
          </a:p>
          <a:p>
            <a:pPr marL="553535" lvl="1" indent="-276768" algn="just">
              <a:lnSpc>
                <a:spcPts val="3589"/>
              </a:lnSpc>
              <a:spcBef>
                <a:spcPct val="0"/>
              </a:spcBef>
              <a:buAutoNum type="arabicPeriod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into:</a:t>
            </a:r>
          </a:p>
          <a:p>
            <a:pPr marL="1107070" lvl="2" indent="-369023" algn="just">
              <a:lnSpc>
                <a:spcPts val="3589"/>
              </a:lnSpc>
              <a:spcBef>
                <a:spcPct val="0"/>
              </a:spcBef>
              <a:buFont typeface="Arial"/>
              <a:buChar char="⚬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Healthy</a:t>
            </a:r>
          </a:p>
          <a:p>
            <a:pPr marL="1107070" lvl="2" indent="-369023" algn="just">
              <a:lnSpc>
                <a:spcPts val="3589"/>
              </a:lnSpc>
              <a:spcBef>
                <a:spcPct val="0"/>
              </a:spcBef>
              <a:buFont typeface="Arial"/>
              <a:buChar char="⚬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Diseased</a:t>
            </a:r>
          </a:p>
          <a:p>
            <a:pPr marL="1107070" lvl="2" indent="-369023" algn="just">
              <a:lnSpc>
                <a:spcPts val="3589"/>
              </a:lnSpc>
              <a:spcBef>
                <a:spcPct val="0"/>
              </a:spcBef>
              <a:buFont typeface="Arial"/>
              <a:buChar char="⚬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Overmature</a:t>
            </a:r>
          </a:p>
          <a:p>
            <a:pPr marL="553535" lvl="1" indent="-276768" algn="just">
              <a:lnSpc>
                <a:spcPts val="3589"/>
              </a:lnSpc>
              <a:spcBef>
                <a:spcPct val="0"/>
              </a:spcBef>
              <a:buAutoNum type="arabicPeriod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 visualization using Grad-CAM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4573" y="1370376"/>
            <a:ext cx="7091482" cy="53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7"/>
              </a:lnSpc>
              <a:spcBef>
                <a:spcPct val="0"/>
              </a:spcBef>
            </a:pPr>
            <a:r>
              <a:rPr lang="en-US" sz="30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Methodology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87974" y="6690799"/>
            <a:ext cx="7091482" cy="222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3535" lvl="1" indent="-276768" algn="l">
              <a:lnSpc>
                <a:spcPts val="3589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</a:p>
          <a:p>
            <a:pPr marL="553535" lvl="1" indent="-276768" algn="l">
              <a:lnSpc>
                <a:spcPts val="3589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</a:t>
            </a:r>
          </a:p>
          <a:p>
            <a:pPr marL="553535" lvl="1" indent="-276768" algn="l">
              <a:lnSpc>
                <a:spcPts val="3589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</a:t>
            </a:r>
          </a:p>
          <a:p>
            <a:pPr marL="553535" lvl="1" indent="-276768" algn="l">
              <a:lnSpc>
                <a:spcPts val="3589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 (Transfer Learning)</a:t>
            </a:r>
          </a:p>
          <a:p>
            <a:pPr marL="553535" lvl="1" indent="-276768" algn="l">
              <a:lnSpc>
                <a:spcPts val="3589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Grad-CAM (Explainable AI)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7284" y="5923611"/>
            <a:ext cx="3036397" cy="53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sz="30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188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60259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99878" y="217128"/>
              <a:ext cx="7122489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IT22112132 |   PATTIYA ARACHCHI P A H K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4538285" y="1653997"/>
            <a:ext cx="2367359" cy="2533943"/>
          </a:xfrm>
          <a:custGeom>
            <a:avLst/>
            <a:gdLst/>
            <a:ahLst/>
            <a:cxnLst/>
            <a:rect l="l" t="t" r="r" b="b"/>
            <a:pathLst>
              <a:path w="2367359" h="2533943">
                <a:moveTo>
                  <a:pt x="0" y="0"/>
                </a:moveTo>
                <a:lnTo>
                  <a:pt x="2367359" y="0"/>
                </a:lnTo>
                <a:lnTo>
                  <a:pt x="2367359" y="2533943"/>
                </a:lnTo>
                <a:lnTo>
                  <a:pt x="0" y="2533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493" t="-59328" r="-248845" b="-705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281104" y="4730865"/>
            <a:ext cx="2881721" cy="1942440"/>
          </a:xfrm>
          <a:custGeom>
            <a:avLst/>
            <a:gdLst/>
            <a:ahLst/>
            <a:cxnLst/>
            <a:rect l="l" t="t" r="r" b="b"/>
            <a:pathLst>
              <a:path w="2881721" h="1942440">
                <a:moveTo>
                  <a:pt x="0" y="0"/>
                </a:moveTo>
                <a:lnTo>
                  <a:pt x="2881721" y="0"/>
                </a:lnTo>
                <a:lnTo>
                  <a:pt x="2881721" y="1942440"/>
                </a:lnTo>
                <a:lnTo>
                  <a:pt x="0" y="1942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006" t="-100037" r="-99408" b="-998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281104" y="7218518"/>
            <a:ext cx="2829403" cy="2039782"/>
          </a:xfrm>
          <a:custGeom>
            <a:avLst/>
            <a:gdLst/>
            <a:ahLst/>
            <a:cxnLst/>
            <a:rect l="l" t="t" r="r" b="b"/>
            <a:pathLst>
              <a:path w="2829403" h="2039782">
                <a:moveTo>
                  <a:pt x="0" y="0"/>
                </a:moveTo>
                <a:lnTo>
                  <a:pt x="2829403" y="0"/>
                </a:lnTo>
                <a:lnTo>
                  <a:pt x="2829403" y="2039782"/>
                </a:lnTo>
                <a:lnTo>
                  <a:pt x="0" y="2039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9025" t="-90452" b="-951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175" y="511811"/>
            <a:ext cx="16037650" cy="51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SYSTEM FOR AYURVEDIC MEDICINAL PLANT QUALITY ASSESSMENT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40693" y="1372052"/>
            <a:ext cx="2995641" cy="510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  <a:spcBef>
                <a:spcPct val="0"/>
              </a:spcBef>
            </a:pPr>
            <a:r>
              <a:rPr lang="en-US" sz="28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Evaluation Metrics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5005" y="1872178"/>
            <a:ext cx="6107852" cy="2092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1560" lvl="1" indent="-260780" algn="just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</a:p>
          <a:p>
            <a:pPr marL="521560" lvl="1" indent="-260780" algn="just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</a:p>
          <a:p>
            <a:pPr marL="521560" lvl="1" indent="-260780" algn="just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</a:p>
          <a:p>
            <a:pPr marL="521560" lvl="1" indent="-260780" algn="just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</a:t>
            </a:r>
          </a:p>
          <a:p>
            <a:pPr marL="521560" lvl="1" indent="-260780" algn="just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evaluation of Grad-CAM explanations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885" y="7205823"/>
            <a:ext cx="3938449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  <a:spcBef>
                <a:spcPct val="0"/>
              </a:spcBef>
            </a:pPr>
            <a:r>
              <a:rPr lang="en-US" sz="287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&amp; Ethics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52600" y="7880131"/>
            <a:ext cx="7760111" cy="125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1560" lvl="1" indent="-260780" algn="l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personal or sensitive data collected</a:t>
            </a:r>
          </a:p>
          <a:p>
            <a:pPr marL="521560" lvl="1" indent="-260780" algn="l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used only for research purposes</a:t>
            </a:r>
          </a:p>
          <a:p>
            <a:pPr marL="521560" lvl="1" indent="-260780" algn="l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handled according to academic research guidelines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9974" y="4499028"/>
            <a:ext cx="4139872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  <a:spcBef>
                <a:spcPct val="0"/>
              </a:spcBef>
            </a:pPr>
            <a:r>
              <a:rPr lang="en-US" sz="287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Availability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52600" y="5176609"/>
            <a:ext cx="9650322" cy="167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2"/>
              </a:lnSpc>
              <a:spcBef>
                <a:spcPct val="0"/>
              </a:spcBef>
            </a:pPr>
            <a:r>
              <a:rPr lang="en-US" sz="24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images collected from:</a:t>
            </a:r>
          </a:p>
          <a:p>
            <a:pPr marL="521560" lvl="1" indent="-260780" algn="l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Herbal Gardens</a:t>
            </a:r>
          </a:p>
          <a:p>
            <a:pPr marL="521560" lvl="1" indent="-260780" algn="l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photography</a:t>
            </a:r>
          </a:p>
          <a:p>
            <a:pPr marL="521560" lvl="1" indent="-260780" algn="l">
              <a:lnSpc>
                <a:spcPts val="3382"/>
              </a:lnSpc>
              <a:spcBef>
                <a:spcPct val="0"/>
              </a:spcBef>
              <a:buFont typeface="Arial"/>
              <a:buChar char="•"/>
            </a:pPr>
            <a:r>
              <a:rPr lang="en-US" sz="24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plant image datasets (</a:t>
            </a:r>
            <a:r>
              <a:rPr lang="en-US" sz="241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</a:t>
            </a:r>
            <a:r>
              <a:rPr lang="en-US" sz="24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plant village)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188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60259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99878" y="217128"/>
              <a:ext cx="7122489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IT22112132 |   PATTIYA ARACHCHI P A H K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761024" y="1785793"/>
            <a:ext cx="10336690" cy="6886820"/>
          </a:xfrm>
          <a:custGeom>
            <a:avLst/>
            <a:gdLst/>
            <a:ahLst/>
            <a:cxnLst/>
            <a:rect l="l" t="t" r="r" b="b"/>
            <a:pathLst>
              <a:path w="10336690" h="6886820">
                <a:moveTo>
                  <a:pt x="0" y="0"/>
                </a:moveTo>
                <a:lnTo>
                  <a:pt x="10336690" y="0"/>
                </a:lnTo>
                <a:lnTo>
                  <a:pt x="10336690" y="6886819"/>
                </a:lnTo>
                <a:lnTo>
                  <a:pt x="0" y="6886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175" y="381591"/>
            <a:ext cx="16037650" cy="51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SYSTEM FOR AYURVEDIC MEDICINAL PLANT QUALITY ASSESSMENT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09202" y="1832292"/>
            <a:ext cx="3640336" cy="48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8"/>
              </a:lnSpc>
              <a:spcBef>
                <a:spcPct val="0"/>
              </a:spcBef>
            </a:pPr>
            <a:r>
              <a:rPr lang="en-US" sz="268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WORKFLOW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188" y="9559925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360259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99878" y="217128"/>
              <a:ext cx="7122489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IT22112132 |   PATTIYA ARACHCHI P A H K | 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361580">
            <a:off x="10063352" y="5507763"/>
            <a:ext cx="5291137" cy="3525220"/>
          </a:xfrm>
          <a:custGeom>
            <a:avLst/>
            <a:gdLst/>
            <a:ahLst/>
            <a:cxnLst/>
            <a:rect l="l" t="t" r="r" b="b"/>
            <a:pathLst>
              <a:path w="5291137" h="3525220">
                <a:moveTo>
                  <a:pt x="0" y="0"/>
                </a:moveTo>
                <a:lnTo>
                  <a:pt x="5291138" y="0"/>
                </a:lnTo>
                <a:lnTo>
                  <a:pt x="5291138" y="3525220"/>
                </a:lnTo>
                <a:lnTo>
                  <a:pt x="0" y="3525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501461">
            <a:off x="9671382" y="2101168"/>
            <a:ext cx="5448231" cy="3629884"/>
          </a:xfrm>
          <a:custGeom>
            <a:avLst/>
            <a:gdLst/>
            <a:ahLst/>
            <a:cxnLst/>
            <a:rect l="l" t="t" r="r" b="b"/>
            <a:pathLst>
              <a:path w="5448231" h="3629884">
                <a:moveTo>
                  <a:pt x="0" y="0"/>
                </a:moveTo>
                <a:lnTo>
                  <a:pt x="5448231" y="0"/>
                </a:lnTo>
                <a:lnTo>
                  <a:pt x="5448231" y="3629884"/>
                </a:lnTo>
                <a:lnTo>
                  <a:pt x="0" y="3629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975528">
            <a:off x="14230059" y="3177681"/>
            <a:ext cx="5161573" cy="3438898"/>
          </a:xfrm>
          <a:custGeom>
            <a:avLst/>
            <a:gdLst/>
            <a:ahLst/>
            <a:cxnLst/>
            <a:rect l="l" t="t" r="r" b="b"/>
            <a:pathLst>
              <a:path w="5161573" h="3438898">
                <a:moveTo>
                  <a:pt x="0" y="0"/>
                </a:moveTo>
                <a:lnTo>
                  <a:pt x="5161573" y="0"/>
                </a:lnTo>
                <a:lnTo>
                  <a:pt x="5161573" y="3438898"/>
                </a:lnTo>
                <a:lnTo>
                  <a:pt x="0" y="3438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175" y="511811"/>
            <a:ext cx="16037650" cy="51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SYSTEM FOR AYURVEDIC MEDICINAL PLANT QUALITY ASSESSMENT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31266" y="2519082"/>
            <a:ext cx="5049596" cy="237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00"/>
              </a:lnSpc>
              <a:spcBef>
                <a:spcPct val="0"/>
              </a:spcBef>
            </a:pPr>
            <a:r>
              <a:rPr lang="en-US" sz="364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Dependencies</a:t>
            </a:r>
          </a:p>
          <a:p>
            <a:pPr marL="531563" lvl="1" indent="-265782" algn="l">
              <a:lnSpc>
                <a:spcPts val="3446"/>
              </a:lnSpc>
              <a:buFont typeface="Arial"/>
              <a:buChar char="•"/>
            </a:pPr>
            <a:r>
              <a:rPr lang="en-US" sz="24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 Deep Learning Framework</a:t>
            </a:r>
          </a:p>
          <a:p>
            <a:pPr marL="531563" lvl="1" indent="-265782" algn="l">
              <a:lnSpc>
                <a:spcPts val="3446"/>
              </a:lnSpc>
              <a:buFont typeface="Arial"/>
              <a:buChar char="•"/>
            </a:pPr>
            <a:r>
              <a:rPr lang="en-US" sz="24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 Image Processing</a:t>
            </a:r>
          </a:p>
          <a:p>
            <a:pPr marL="531563" lvl="1" indent="-265782" algn="l">
              <a:lnSpc>
                <a:spcPts val="3446"/>
              </a:lnSpc>
              <a:buFont typeface="Arial"/>
              <a:buChar char="•"/>
            </a:pPr>
            <a:r>
              <a:rPr lang="en-US" sz="24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Pretrained ResNet50 Model</a:t>
            </a:r>
          </a:p>
          <a:p>
            <a:pPr marL="531563" lvl="1" indent="-265782" algn="l">
              <a:lnSpc>
                <a:spcPts val="3446"/>
              </a:lnSpc>
              <a:buFont typeface="Arial"/>
              <a:buChar char="•"/>
            </a:pPr>
            <a:r>
              <a:rPr lang="en-US" sz="24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 Environment (Google Colab)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46448" y="5479528"/>
            <a:ext cx="6546800" cy="1433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7"/>
              </a:lnSpc>
              <a:spcBef>
                <a:spcPct val="0"/>
              </a:spcBef>
            </a:pPr>
            <a:r>
              <a:rPr lang="en-US" sz="29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Output</a:t>
            </a:r>
          </a:p>
          <a:p>
            <a:pPr marL="554809" lvl="1" indent="-277405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quality prediction</a:t>
            </a:r>
          </a:p>
          <a:p>
            <a:pPr marL="554809" lvl="1" indent="-277405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explanation highlighting affected areas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670984" y="1795753"/>
            <a:ext cx="12707830" cy="7227578"/>
          </a:xfrm>
          <a:custGeom>
            <a:avLst/>
            <a:gdLst/>
            <a:ahLst/>
            <a:cxnLst/>
            <a:rect l="l" t="t" r="r" b="b"/>
            <a:pathLst>
              <a:path w="12707830" h="7227578">
                <a:moveTo>
                  <a:pt x="0" y="0"/>
                </a:moveTo>
                <a:lnTo>
                  <a:pt x="12707829" y="0"/>
                </a:lnTo>
                <a:lnTo>
                  <a:pt x="12707829" y="7227578"/>
                </a:lnTo>
                <a:lnTo>
                  <a:pt x="0" y="7227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67252" y="630555"/>
            <a:ext cx="4287169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Gantt Chart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804928" y="4015505"/>
            <a:ext cx="4906604" cy="4906604"/>
          </a:xfrm>
          <a:custGeom>
            <a:avLst/>
            <a:gdLst/>
            <a:ahLst/>
            <a:cxnLst/>
            <a:rect l="l" t="t" r="r" b="b"/>
            <a:pathLst>
              <a:path w="4906604" h="4906604">
                <a:moveTo>
                  <a:pt x="0" y="0"/>
                </a:moveTo>
                <a:lnTo>
                  <a:pt x="4906604" y="0"/>
                </a:lnTo>
                <a:lnTo>
                  <a:pt x="4906604" y="4906604"/>
                </a:lnTo>
                <a:lnTo>
                  <a:pt x="0" y="4906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406" y="2160441"/>
            <a:ext cx="6249649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 BREAKDOWN 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C7BCBC-C9A5-3865-C78F-BE18172FF3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647700"/>
            <a:ext cx="9045458" cy="845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r>
          </a:p>
        </p:txBody>
      </p:sp>
      <p:sp>
        <p:nvSpPr>
          <p:cNvPr id="8" name="Freeform 8"/>
          <p:cNvSpPr/>
          <p:nvPr/>
        </p:nvSpPr>
        <p:spPr>
          <a:xfrm>
            <a:off x="3818791" y="1415854"/>
            <a:ext cx="10697325" cy="6670137"/>
          </a:xfrm>
          <a:custGeom>
            <a:avLst/>
            <a:gdLst/>
            <a:ahLst/>
            <a:cxnLst/>
            <a:rect l="l" t="t" r="r" b="b"/>
            <a:pathLst>
              <a:path w="10697325" h="6670137">
                <a:moveTo>
                  <a:pt x="0" y="0"/>
                </a:moveTo>
                <a:lnTo>
                  <a:pt x="10697326" y="0"/>
                </a:lnTo>
                <a:lnTo>
                  <a:pt x="10697326" y="6670137"/>
                </a:lnTo>
                <a:lnTo>
                  <a:pt x="0" y="6670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31" b="-613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2327</Words>
  <Application>Microsoft Office PowerPoint</Application>
  <PresentationFormat>Custom</PresentationFormat>
  <Paragraphs>489</Paragraphs>
  <Slides>30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Calibri</vt:lpstr>
      <vt:lpstr>Times New Roman Bold</vt:lpstr>
      <vt:lpstr>Times New Roman</vt:lpstr>
      <vt:lpstr>Canva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Maneesha Munasinghe</cp:lastModifiedBy>
  <cp:revision>5</cp:revision>
  <dcterms:created xsi:type="dcterms:W3CDTF">2006-08-16T00:00:00Z</dcterms:created>
  <dcterms:modified xsi:type="dcterms:W3CDTF">2026-03-20T17:43:58Z</dcterms:modified>
  <dc:identifier>DAHEASPA3q8</dc:identifier>
</cp:coreProperties>
</file>