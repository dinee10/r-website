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imes New Roman Bold" charset="1" panose="02020803070505020304"/>
      <p:regular r:id="rId18"/>
    </p:embeddedFont>
    <p:embeddedFont>
      <p:font typeface="Times New Roman" charset="1" panose="02020603050405020304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VAHJRsM9QNA.mp4" Type="http://schemas.openxmlformats.org/officeDocument/2006/relationships/video"/><Relationship Id="rId4" Target="../media/VAHJRsM9QNA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0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2" Target="../media/image11.jpeg" Type="http://schemas.openxmlformats.org/officeDocument/2006/relationships/image"/><Relationship Id="rId3" Target="../media/image2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.png" Type="http://schemas.openxmlformats.org/officeDocument/2006/relationships/image"/><Relationship Id="rId4" Target="../media/image24.jpeg" Type="http://schemas.openxmlformats.org/officeDocument/2006/relationships/image"/><Relationship Id="rId5" Target="../media/image25.jpe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jpeg" Type="http://schemas.openxmlformats.org/officeDocument/2006/relationships/image"/><Relationship Id="rId3" Target="../media/image2.png" Type="http://schemas.openxmlformats.org/officeDocument/2006/relationships/image"/><Relationship Id="rId4" Target="../media/image29.jpe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2.pn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2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2.pn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Relationship Id="rId3" Target="../media/image2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497013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2026/08/30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5897880" y="5402524"/>
            <a:ext cx="649224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650470" y="2005713"/>
            <a:ext cx="16987060" cy="22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AYURVEDIC HERBAL PLANT IDENTIFICATION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 ANALYSIS IN SRI LANKA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97880" y="6255698"/>
            <a:ext cx="6492240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R-26-IT-021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111" r="0" b="-21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461739"/>
            <a:ext cx="3460607" cy="3460607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346" t="-36924" r="-134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92407" y="5461739"/>
            <a:ext cx="3460607" cy="346060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450" t="0" r="-3450" b="-4253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426861" y="5461739"/>
            <a:ext cx="3458519" cy="345851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3691" t="0" r="-369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11597" y="5461739"/>
            <a:ext cx="3458519" cy="345851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391" t="-39038" r="0" b="-619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774645" y="409296"/>
            <a:ext cx="3339549" cy="3339549"/>
            <a:chOff x="0" y="0"/>
            <a:chExt cx="13716000" cy="1371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814130" y="419264"/>
            <a:ext cx="3339549" cy="3339549"/>
            <a:chOff x="0" y="0"/>
            <a:chExt cx="13716000" cy="1371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6630" y="587707"/>
            <a:ext cx="4504968" cy="149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98"/>
              </a:lnSpc>
            </a:pPr>
            <a:r>
              <a:rPr lang="en-US" b="true" sz="42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RESEARCH </a:t>
            </a:r>
          </a:p>
          <a:p>
            <a:pPr algn="ctr">
              <a:lnSpc>
                <a:spcPts val="5998"/>
              </a:lnSpc>
              <a:spcBef>
                <a:spcPct val="0"/>
              </a:spcBef>
            </a:pPr>
            <a:r>
              <a:rPr lang="en-US" b="true" sz="42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9490" y="4099174"/>
            <a:ext cx="3649861" cy="101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288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Supervisor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b="true" sz="28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Mr. Nelum Amarasena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15598" y="4063614"/>
            <a:ext cx="4336613" cy="101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288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Co-supervisor 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b="true" sz="28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Ms. Kaushika kahatapitiya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8814" y="9015539"/>
            <a:ext cx="3040380" cy="101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288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Leader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b="true" sz="28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M.P. Munasinghhe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94546" y="9015539"/>
            <a:ext cx="3986332" cy="101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288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 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b="true" sz="28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D.G.T.K.Wickramsinghe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0003" y="9015539"/>
            <a:ext cx="2926405" cy="101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288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 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b="true" sz="28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H.D. Sachintha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265051" y="9015539"/>
            <a:ext cx="3782139" cy="101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8"/>
              </a:lnSpc>
            </a:pPr>
            <a:r>
              <a:rPr lang="en-US" sz="288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</a:t>
            </a:r>
          </a:p>
          <a:p>
            <a:pPr algn="ctr">
              <a:lnSpc>
                <a:spcPts val="4038"/>
              </a:lnSpc>
              <a:spcBef>
                <a:spcPct val="0"/>
              </a:spcBef>
            </a:pPr>
            <a:r>
              <a:rPr lang="en-US" b="true" sz="28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P.A.H.K. Pattiyarachchi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555" r="0" b="-9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497013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2026/08/30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1071" y="3231670"/>
            <a:ext cx="4090997" cy="6342631"/>
          </a:xfrm>
          <a:custGeom>
            <a:avLst/>
            <a:gdLst/>
            <a:ahLst/>
            <a:cxnLst/>
            <a:rect r="r" b="b" t="t" l="l"/>
            <a:pathLst>
              <a:path h="6342631" w="4090997">
                <a:moveTo>
                  <a:pt x="0" y="0"/>
                </a:moveTo>
                <a:lnTo>
                  <a:pt x="4090997" y="0"/>
                </a:lnTo>
                <a:lnTo>
                  <a:pt x="4090997" y="6342631"/>
                </a:lnTo>
                <a:lnTo>
                  <a:pt x="0" y="6342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69774" y="3231670"/>
            <a:ext cx="4090997" cy="6342631"/>
          </a:xfrm>
          <a:custGeom>
            <a:avLst/>
            <a:gdLst/>
            <a:ahLst/>
            <a:cxnLst/>
            <a:rect r="r" b="b" t="t" l="l"/>
            <a:pathLst>
              <a:path h="6342631" w="4090997">
                <a:moveTo>
                  <a:pt x="0" y="0"/>
                </a:moveTo>
                <a:lnTo>
                  <a:pt x="4090997" y="0"/>
                </a:lnTo>
                <a:lnTo>
                  <a:pt x="4090997" y="6342631"/>
                </a:lnTo>
                <a:lnTo>
                  <a:pt x="0" y="6342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69481" y="3231670"/>
            <a:ext cx="4090997" cy="6342631"/>
          </a:xfrm>
          <a:custGeom>
            <a:avLst/>
            <a:gdLst/>
            <a:ahLst/>
            <a:cxnLst/>
            <a:rect r="r" b="b" t="t" l="l"/>
            <a:pathLst>
              <a:path h="6342631" w="4090997">
                <a:moveTo>
                  <a:pt x="0" y="0"/>
                </a:moveTo>
                <a:lnTo>
                  <a:pt x="4090997" y="0"/>
                </a:lnTo>
                <a:lnTo>
                  <a:pt x="4090997" y="6342631"/>
                </a:lnTo>
                <a:lnTo>
                  <a:pt x="0" y="6342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901643" y="3231670"/>
            <a:ext cx="4090997" cy="6342631"/>
          </a:xfrm>
          <a:custGeom>
            <a:avLst/>
            <a:gdLst/>
            <a:ahLst/>
            <a:cxnLst/>
            <a:rect r="r" b="b" t="t" l="l"/>
            <a:pathLst>
              <a:path h="6342631" w="4090997">
                <a:moveTo>
                  <a:pt x="0" y="0"/>
                </a:moveTo>
                <a:lnTo>
                  <a:pt x="4090997" y="0"/>
                </a:lnTo>
                <a:lnTo>
                  <a:pt x="4090997" y="6342631"/>
                </a:lnTo>
                <a:lnTo>
                  <a:pt x="0" y="63426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341235" y="803127"/>
            <a:ext cx="10493324" cy="1923481"/>
            <a:chOff x="0" y="0"/>
            <a:chExt cx="2763674" cy="5065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63674" cy="506596"/>
            </a:xfrm>
            <a:custGeom>
              <a:avLst/>
              <a:gdLst/>
              <a:ahLst/>
              <a:cxnLst/>
              <a:rect r="r" b="b" t="t" l="l"/>
              <a:pathLst>
                <a:path h="506596" w="2763674">
                  <a:moveTo>
                    <a:pt x="34676" y="0"/>
                  </a:moveTo>
                  <a:lnTo>
                    <a:pt x="2728997" y="0"/>
                  </a:lnTo>
                  <a:cubicBezTo>
                    <a:pt x="2738194" y="0"/>
                    <a:pt x="2747014" y="3653"/>
                    <a:pt x="2753517" y="10156"/>
                  </a:cubicBezTo>
                  <a:cubicBezTo>
                    <a:pt x="2760020" y="16660"/>
                    <a:pt x="2763674" y="25480"/>
                    <a:pt x="2763674" y="34676"/>
                  </a:cubicBezTo>
                  <a:lnTo>
                    <a:pt x="2763674" y="471919"/>
                  </a:lnTo>
                  <a:cubicBezTo>
                    <a:pt x="2763674" y="481116"/>
                    <a:pt x="2760020" y="489936"/>
                    <a:pt x="2753517" y="496439"/>
                  </a:cubicBezTo>
                  <a:cubicBezTo>
                    <a:pt x="2747014" y="502942"/>
                    <a:pt x="2738194" y="506596"/>
                    <a:pt x="2728997" y="506596"/>
                  </a:cubicBezTo>
                  <a:lnTo>
                    <a:pt x="34676" y="506596"/>
                  </a:lnTo>
                  <a:cubicBezTo>
                    <a:pt x="25480" y="506596"/>
                    <a:pt x="16660" y="502942"/>
                    <a:pt x="10156" y="496439"/>
                  </a:cubicBezTo>
                  <a:cubicBezTo>
                    <a:pt x="3653" y="489936"/>
                    <a:pt x="0" y="481116"/>
                    <a:pt x="0" y="471919"/>
                  </a:cubicBezTo>
                  <a:lnTo>
                    <a:pt x="0" y="34676"/>
                  </a:lnTo>
                  <a:cubicBezTo>
                    <a:pt x="0" y="25480"/>
                    <a:pt x="3653" y="16660"/>
                    <a:pt x="10156" y="10156"/>
                  </a:cubicBezTo>
                  <a:cubicBezTo>
                    <a:pt x="16660" y="3653"/>
                    <a:pt x="25480" y="0"/>
                    <a:pt x="34676" y="0"/>
                  </a:cubicBezTo>
                  <a:close/>
                </a:path>
              </a:pathLst>
            </a:custGeom>
            <a:solidFill>
              <a:srgbClr val="BFECAC">
                <a:alpha val="37647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63674" cy="544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03815" y="898694"/>
            <a:ext cx="1467014" cy="1868808"/>
          </a:xfrm>
          <a:custGeom>
            <a:avLst/>
            <a:gdLst/>
            <a:ahLst/>
            <a:cxnLst/>
            <a:rect r="r" b="b" t="t" l="l"/>
            <a:pathLst>
              <a:path h="1868808" w="1467014">
                <a:moveTo>
                  <a:pt x="0" y="0"/>
                </a:moveTo>
                <a:lnTo>
                  <a:pt x="1467014" y="0"/>
                </a:lnTo>
                <a:lnTo>
                  <a:pt x="1467014" y="1868808"/>
                </a:lnTo>
                <a:lnTo>
                  <a:pt x="0" y="18688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0118" y="2948920"/>
            <a:ext cx="2159900" cy="1760319"/>
          </a:xfrm>
          <a:custGeom>
            <a:avLst/>
            <a:gdLst/>
            <a:ahLst/>
            <a:cxnLst/>
            <a:rect r="r" b="b" t="t" l="l"/>
            <a:pathLst>
              <a:path h="1760319" w="2159900">
                <a:moveTo>
                  <a:pt x="0" y="0"/>
                </a:moveTo>
                <a:lnTo>
                  <a:pt x="2159900" y="0"/>
                </a:lnTo>
                <a:lnTo>
                  <a:pt x="2159900" y="1760319"/>
                </a:lnTo>
                <a:lnTo>
                  <a:pt x="0" y="17603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060486" y="3019484"/>
            <a:ext cx="1686657" cy="1619191"/>
          </a:xfrm>
          <a:custGeom>
            <a:avLst/>
            <a:gdLst/>
            <a:ahLst/>
            <a:cxnLst/>
            <a:rect r="r" b="b" t="t" l="l"/>
            <a:pathLst>
              <a:path h="1619191" w="1686657">
                <a:moveTo>
                  <a:pt x="0" y="0"/>
                </a:moveTo>
                <a:lnTo>
                  <a:pt x="1686657" y="0"/>
                </a:lnTo>
                <a:lnTo>
                  <a:pt x="1686657" y="1619191"/>
                </a:lnTo>
                <a:lnTo>
                  <a:pt x="0" y="16191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689262" y="2878120"/>
            <a:ext cx="1652021" cy="1544640"/>
          </a:xfrm>
          <a:custGeom>
            <a:avLst/>
            <a:gdLst/>
            <a:ahLst/>
            <a:cxnLst/>
            <a:rect r="r" b="b" t="t" l="l"/>
            <a:pathLst>
              <a:path h="1544640" w="1652021">
                <a:moveTo>
                  <a:pt x="0" y="0"/>
                </a:moveTo>
                <a:lnTo>
                  <a:pt x="1652021" y="0"/>
                </a:lnTo>
                <a:lnTo>
                  <a:pt x="1652021" y="1544640"/>
                </a:lnTo>
                <a:lnTo>
                  <a:pt x="0" y="154464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018096" y="2878120"/>
            <a:ext cx="1735550" cy="1544640"/>
          </a:xfrm>
          <a:custGeom>
            <a:avLst/>
            <a:gdLst/>
            <a:ahLst/>
            <a:cxnLst/>
            <a:rect r="r" b="b" t="t" l="l"/>
            <a:pathLst>
              <a:path h="1544640" w="1735550">
                <a:moveTo>
                  <a:pt x="0" y="0"/>
                </a:moveTo>
                <a:lnTo>
                  <a:pt x="1735550" y="0"/>
                </a:lnTo>
                <a:lnTo>
                  <a:pt x="1735550" y="1544640"/>
                </a:lnTo>
                <a:lnTo>
                  <a:pt x="0" y="15446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1324" y="4729162"/>
            <a:ext cx="3420695" cy="3616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PLANT IDENTIFICATI</a:t>
            </a:r>
            <a:r>
              <a:rPr lang="en-US" b="true" sz="2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</a:t>
            </a:r>
          </a:p>
          <a:p>
            <a:pPr algn="ctr">
              <a:lnSpc>
                <a:spcPts val="4878"/>
              </a:lnSpc>
              <a:spcBef>
                <a:spcPct val="0"/>
              </a:spcBef>
            </a:pPr>
          </a:p>
          <a:p>
            <a:pPr algn="ctr">
              <a:lnSpc>
                <a:spcPts val="4318"/>
              </a:lnSpc>
              <a:spcBef>
                <a:spcPct val="0"/>
              </a:spcBef>
            </a:pPr>
            <a:r>
              <a:rPr lang="en-US" b="true" sz="30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Non-experts often struggle to correctly identify medicinal plants.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52333" y="164443"/>
            <a:ext cx="661537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and Motivation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65838" y="1113451"/>
            <a:ext cx="9447338" cy="137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8"/>
              </a:lnSpc>
              <a:spcBef>
                <a:spcPct val="0"/>
              </a:spcBef>
            </a:pPr>
            <a:r>
              <a:rPr lang="en-US" b="true" sz="25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Sri Lanka has a rich tradition of Ayurvedic medicine and medicinal plants, but traditional herbal knowledge is becoming difficult to access and apply effectively.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1809" y="2159805"/>
            <a:ext cx="3396615" cy="56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8"/>
              </a:lnSpc>
              <a:spcBef>
                <a:spcPct val="0"/>
              </a:spcBef>
            </a:pPr>
            <a:r>
              <a:rPr lang="en-US" b="true" sz="31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Obse</a:t>
            </a:r>
            <a:r>
              <a:rPr lang="en-US" b="true" sz="31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rved Problems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97336" y="4829175"/>
            <a:ext cx="3367170" cy="341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</a:t>
            </a:r>
            <a:r>
              <a:rPr lang="en-US" b="true" sz="2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LITY ASSESSMENT</a:t>
            </a:r>
          </a:p>
          <a:p>
            <a:pPr algn="ctr">
              <a:lnSpc>
                <a:spcPts val="3338"/>
              </a:lnSpc>
              <a:spcBef>
                <a:spcPct val="0"/>
              </a:spcBef>
            </a:pPr>
          </a:p>
          <a:p>
            <a:pPr algn="ctr">
              <a:lnSpc>
                <a:spcPts val="4318"/>
              </a:lnSpc>
              <a:spcBef>
                <a:spcPct val="0"/>
              </a:spcBef>
            </a:pPr>
            <a:r>
              <a:rPr lang="en-US" b="true" sz="30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ASSESSMENTS</a:t>
            </a:r>
            <a:r>
              <a:rPr lang="en-US" b="true" sz="30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of plant quality can be subjective and inconsistent.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84199" y="4581525"/>
            <a:ext cx="3862146" cy="462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</a:t>
            </a:r>
            <a:r>
              <a:rPr lang="en-US" b="true" sz="2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OWLEDGE ACCESSIBILITY</a:t>
            </a:r>
          </a:p>
          <a:p>
            <a:pPr algn="ctr">
              <a:lnSpc>
                <a:spcPts val="4318"/>
              </a:lnSpc>
              <a:spcBef>
                <a:spcPct val="0"/>
              </a:spcBef>
            </a:pPr>
          </a:p>
          <a:p>
            <a:pPr algn="ctr">
              <a:lnSpc>
                <a:spcPts val="4318"/>
              </a:lnSpc>
              <a:spcBef>
                <a:spcPct val="0"/>
              </a:spcBef>
            </a:pPr>
            <a:r>
              <a:rPr lang="en-US" b="true" sz="30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Existing medicinal plant knowledge is scattered and difficult to access through simple natural-language interaction.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42189" y="4518010"/>
            <a:ext cx="3545581" cy="450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8"/>
              </a:lnSpc>
              <a:spcBef>
                <a:spcPct val="0"/>
              </a:spcBef>
            </a:pPr>
            <a:r>
              <a:rPr lang="en-US" b="true" sz="2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CULTIVATI</a:t>
            </a:r>
            <a:r>
              <a:rPr lang="en-US" b="true" sz="2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 DECISIONS</a:t>
            </a:r>
          </a:p>
          <a:p>
            <a:pPr algn="ctr">
              <a:lnSpc>
                <a:spcPts val="3338"/>
              </a:lnSpc>
              <a:spcBef>
                <a:spcPct val="0"/>
              </a:spcBef>
            </a:pPr>
          </a:p>
          <a:p>
            <a:pPr algn="ctr">
              <a:lnSpc>
                <a:spcPts val="4318"/>
              </a:lnSpc>
              <a:spcBef>
                <a:spcPct val="0"/>
              </a:spcBef>
            </a:pPr>
            <a:r>
              <a:rPr lang="en-US" b="true" sz="30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Small-scale farmers lack data-driven support for selecting profitable and suitable medicinal plants.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38" r="0" b="-92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643833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2026/08/30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282194"/>
            <a:ext cx="2172204" cy="2172204"/>
            <a:chOff x="0" y="0"/>
            <a:chExt cx="13716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602359" y="3136922"/>
            <a:ext cx="2543018" cy="2543018"/>
            <a:chOff x="0" y="0"/>
            <a:chExt cx="13716000" cy="137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144000" y="3322329"/>
            <a:ext cx="2365393" cy="2172204"/>
          </a:xfrm>
          <a:custGeom>
            <a:avLst/>
            <a:gdLst/>
            <a:ahLst/>
            <a:cxnLst/>
            <a:rect r="r" b="b" t="t" l="l"/>
            <a:pathLst>
              <a:path h="2172204" w="2365393">
                <a:moveTo>
                  <a:pt x="0" y="0"/>
                </a:moveTo>
                <a:lnTo>
                  <a:pt x="2365393" y="0"/>
                </a:lnTo>
                <a:lnTo>
                  <a:pt x="2365393" y="2172204"/>
                </a:lnTo>
                <a:lnTo>
                  <a:pt x="0" y="21722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199945" y="3415268"/>
            <a:ext cx="2034773" cy="1986326"/>
          </a:xfrm>
          <a:custGeom>
            <a:avLst/>
            <a:gdLst/>
            <a:ahLst/>
            <a:cxnLst/>
            <a:rect r="r" b="b" t="t" l="l"/>
            <a:pathLst>
              <a:path h="1986326" w="2034773">
                <a:moveTo>
                  <a:pt x="0" y="0"/>
                </a:moveTo>
                <a:lnTo>
                  <a:pt x="2034773" y="0"/>
                </a:lnTo>
                <a:lnTo>
                  <a:pt x="2034773" y="1986326"/>
                </a:lnTo>
                <a:lnTo>
                  <a:pt x="0" y="19863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4880" y="386715"/>
            <a:ext cx="1555824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Ayurvedic Herbal Plant Id</a:t>
            </a: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entification and Economic Analysis in sri lanka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1494374"/>
            <a:ext cx="13171245" cy="658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Overview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6647" y="2504122"/>
            <a:ext cx="9694442" cy="49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  <a:spcBef>
                <a:spcPct val="0"/>
              </a:spcBef>
            </a:pPr>
            <a:r>
              <a:rPr lang="en-US" b="true" sz="283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Integrated AI Ecosystem for Sri Lankan Ayurvedic Plants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0961" y="5654422"/>
            <a:ext cx="3307682" cy="3230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</a:pPr>
            <a:r>
              <a:rPr lang="en-US" sz="3084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Plant Detection</a:t>
            </a:r>
          </a:p>
          <a:p>
            <a:pPr algn="ctr">
              <a:lnSpc>
                <a:spcPts val="4318"/>
              </a:lnSpc>
            </a:pPr>
          </a:p>
          <a:p>
            <a:pPr algn="ctr">
              <a:lnSpc>
                <a:spcPts val="4257"/>
              </a:lnSpc>
            </a:pPr>
            <a:r>
              <a:rPr lang="en-US" sz="30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Sri Lankan Ay</a:t>
            </a:r>
            <a:r>
              <a:rPr lang="en-US" sz="30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urvedic plants from leaf, flower or fruit images.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14936" y="5594215"/>
            <a:ext cx="3709600" cy="4350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  <a:spcBef>
                <a:spcPct val="0"/>
              </a:spcBef>
            </a:pPr>
            <a:r>
              <a:rPr lang="en-US" b="true" sz="30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</a:t>
            </a:r>
            <a:r>
              <a:rPr lang="en-US" b="true" sz="30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uality Assessment</a:t>
            </a:r>
          </a:p>
          <a:p>
            <a:pPr algn="ctr">
              <a:lnSpc>
                <a:spcPts val="4318"/>
              </a:lnSpc>
              <a:spcBef>
                <a:spcPct val="0"/>
              </a:spcBef>
            </a:pPr>
          </a:p>
          <a:p>
            <a:pPr algn="ctr">
              <a:lnSpc>
                <a:spcPts val="4318"/>
              </a:lnSpc>
              <a:spcBef>
                <a:spcPct val="0"/>
              </a:spcBef>
            </a:pPr>
            <a:r>
              <a:rPr lang="en-US" sz="308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plant materials as Healthy, Diseased or Overmature and explain the prediction using Grad-CAM.</a:t>
            </a:r>
          </a:p>
          <a:p>
            <a:pPr algn="ctr">
              <a:lnSpc>
                <a:spcPts val="4318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044882" y="5368672"/>
            <a:ext cx="4368295" cy="4893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2"/>
              </a:lnSpc>
              <a:spcBef>
                <a:spcPct val="0"/>
              </a:spcBef>
            </a:pPr>
            <a:r>
              <a:rPr lang="en-US" b="true" sz="30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30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ultivation Recommendation</a:t>
            </a:r>
          </a:p>
          <a:p>
            <a:pPr algn="ctr">
              <a:lnSpc>
                <a:spcPts val="4312"/>
              </a:lnSpc>
              <a:spcBef>
                <a:spcPct val="0"/>
              </a:spcBef>
            </a:pPr>
          </a:p>
          <a:p>
            <a:pPr algn="ctr">
              <a:lnSpc>
                <a:spcPts val="4312"/>
              </a:lnSpc>
              <a:spcBef>
                <a:spcPct val="0"/>
              </a:spcBef>
            </a:pPr>
            <a:r>
              <a:rPr lang="en-US" sz="30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 suitable medicinal plants by considering soil, climate, land, market demand, cost, profit and risk.</a:t>
            </a:r>
          </a:p>
          <a:p>
            <a:pPr algn="ctr">
              <a:lnSpc>
                <a:spcPts val="4312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370829" y="5559620"/>
            <a:ext cx="4429462" cy="435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2"/>
              </a:lnSpc>
              <a:spcBef>
                <a:spcPct val="0"/>
              </a:spcBef>
            </a:pPr>
            <a:r>
              <a:rPr lang="en-US" b="true" sz="30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</a:t>
            </a:r>
            <a:r>
              <a:rPr lang="en-US" b="true" sz="308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erbal Knowledge Assistant</a:t>
            </a:r>
          </a:p>
          <a:p>
            <a:pPr algn="ctr">
              <a:lnSpc>
                <a:spcPts val="4312"/>
              </a:lnSpc>
              <a:spcBef>
                <a:spcPct val="0"/>
              </a:spcBef>
            </a:pPr>
          </a:p>
          <a:p>
            <a:pPr algn="ctr">
              <a:lnSpc>
                <a:spcPts val="4312"/>
              </a:lnSpc>
              <a:spcBef>
                <a:spcPct val="0"/>
              </a:spcBef>
            </a:pPr>
            <a:r>
              <a:rPr lang="en-US" sz="30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Ayurvedic plant information through a Sinhala + English conversational AI assistant.</a:t>
            </a:r>
          </a:p>
          <a:p>
            <a:pPr algn="ctr">
              <a:lnSpc>
                <a:spcPts val="4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11" r="0" b="-911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497013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2026/08/30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59813" y="2313999"/>
            <a:ext cx="11268194" cy="6146288"/>
          </a:xfrm>
          <a:custGeom>
            <a:avLst/>
            <a:gdLst/>
            <a:ahLst/>
            <a:cxnLst/>
            <a:rect r="r" b="b" t="t" l="l"/>
            <a:pathLst>
              <a:path h="6146288" w="11268194">
                <a:moveTo>
                  <a:pt x="0" y="0"/>
                </a:moveTo>
                <a:lnTo>
                  <a:pt x="11268194" y="0"/>
                </a:lnTo>
                <a:lnTo>
                  <a:pt x="11268194" y="6146287"/>
                </a:lnTo>
                <a:lnTo>
                  <a:pt x="0" y="6146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88283" y="2416902"/>
            <a:ext cx="5326348" cy="6043384"/>
          </a:xfrm>
          <a:custGeom>
            <a:avLst/>
            <a:gdLst/>
            <a:ahLst/>
            <a:cxnLst/>
            <a:rect r="r" b="b" t="t" l="l"/>
            <a:pathLst>
              <a:path h="6043384" w="5326348">
                <a:moveTo>
                  <a:pt x="0" y="0"/>
                </a:moveTo>
                <a:lnTo>
                  <a:pt x="5326348" y="0"/>
                </a:lnTo>
                <a:lnTo>
                  <a:pt x="5326348" y="6043384"/>
                </a:lnTo>
                <a:lnTo>
                  <a:pt x="0" y="6043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43" t="0" r="-3043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399540"/>
            <a:ext cx="8115300" cy="675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 RESEARCH GAP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5551" y="386715"/>
            <a:ext cx="15616897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Ayurvedic Herbal Plant Id</a:t>
            </a: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entification and Economic Analysis in sri lanka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01382" y="3750990"/>
            <a:ext cx="4848275" cy="4341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7"/>
              </a:lnSpc>
              <a:spcBef>
                <a:spcPct val="0"/>
              </a:spcBef>
            </a:pPr>
            <a:r>
              <a:rPr lang="en-US" sz="30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</a:t>
            </a:r>
            <a:r>
              <a:rPr lang="en-US" sz="30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integrated Sri Lankan platform combining plant identification, explainable quality assessment, Ayurvedic knowledge and economic-environmental cultivation recommendations.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59986" y="2465070"/>
            <a:ext cx="2582942" cy="59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38"/>
              </a:lnSpc>
              <a:spcBef>
                <a:spcPct val="0"/>
              </a:spcBef>
            </a:pPr>
            <a:r>
              <a:rPr lang="en-US" b="true" sz="338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497013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2026/08/30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555981" y="2264734"/>
            <a:ext cx="12775068" cy="6968219"/>
          </a:xfrm>
          <a:custGeom>
            <a:avLst/>
            <a:gdLst/>
            <a:ahLst/>
            <a:cxnLst/>
            <a:rect r="r" b="b" t="t" l="l"/>
            <a:pathLst>
              <a:path h="6968219" w="12775068">
                <a:moveTo>
                  <a:pt x="0" y="0"/>
                </a:moveTo>
                <a:lnTo>
                  <a:pt x="12775068" y="0"/>
                </a:lnTo>
                <a:lnTo>
                  <a:pt x="12775068" y="6968219"/>
                </a:lnTo>
                <a:lnTo>
                  <a:pt x="0" y="69682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4689" y="1434254"/>
            <a:ext cx="8588826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&amp; INTEGRATION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5551" y="386715"/>
            <a:ext cx="15616897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Ayurvedic Herbal Plant Id</a:t>
            </a: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entification and Economic Analysis in sri lanka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497013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2026/08/30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90822" y="4246477"/>
            <a:ext cx="6956584" cy="1426100"/>
          </a:xfrm>
          <a:custGeom>
            <a:avLst/>
            <a:gdLst/>
            <a:ahLst/>
            <a:cxnLst/>
            <a:rect r="r" b="b" t="t" l="l"/>
            <a:pathLst>
              <a:path h="1426100" w="6956584">
                <a:moveTo>
                  <a:pt x="0" y="0"/>
                </a:moveTo>
                <a:lnTo>
                  <a:pt x="6956584" y="0"/>
                </a:lnTo>
                <a:lnTo>
                  <a:pt x="6956584" y="1426100"/>
                </a:lnTo>
                <a:lnTo>
                  <a:pt x="0" y="1426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5672577"/>
            <a:ext cx="8174219" cy="3964496"/>
          </a:xfrm>
          <a:custGeom>
            <a:avLst/>
            <a:gdLst/>
            <a:ahLst/>
            <a:cxnLst/>
            <a:rect r="r" b="b" t="t" l="l"/>
            <a:pathLst>
              <a:path h="3964496" w="8174219">
                <a:moveTo>
                  <a:pt x="0" y="0"/>
                </a:moveTo>
                <a:lnTo>
                  <a:pt x="8174219" y="0"/>
                </a:lnTo>
                <a:lnTo>
                  <a:pt x="8174219" y="3964496"/>
                </a:lnTo>
                <a:lnTo>
                  <a:pt x="0" y="39644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1696" y="755332"/>
            <a:ext cx="7230220" cy="3506657"/>
          </a:xfrm>
          <a:custGeom>
            <a:avLst/>
            <a:gdLst/>
            <a:ahLst/>
            <a:cxnLst/>
            <a:rect r="r" b="b" t="t" l="l"/>
            <a:pathLst>
              <a:path h="3506657" w="7230220">
                <a:moveTo>
                  <a:pt x="0" y="0"/>
                </a:moveTo>
                <a:lnTo>
                  <a:pt x="7230220" y="0"/>
                </a:lnTo>
                <a:lnTo>
                  <a:pt x="7230220" y="3506657"/>
                </a:lnTo>
                <a:lnTo>
                  <a:pt x="0" y="35066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57100" y="774250"/>
            <a:ext cx="6588084" cy="3195221"/>
          </a:xfrm>
          <a:custGeom>
            <a:avLst/>
            <a:gdLst/>
            <a:ahLst/>
            <a:cxnLst/>
            <a:rect r="r" b="b" t="t" l="l"/>
            <a:pathLst>
              <a:path h="3195221" w="6588084">
                <a:moveTo>
                  <a:pt x="0" y="0"/>
                </a:moveTo>
                <a:lnTo>
                  <a:pt x="6588084" y="0"/>
                </a:lnTo>
                <a:lnTo>
                  <a:pt x="6588084" y="3195220"/>
                </a:lnTo>
                <a:lnTo>
                  <a:pt x="0" y="3195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699916" y="5672577"/>
            <a:ext cx="6588084" cy="3195221"/>
          </a:xfrm>
          <a:custGeom>
            <a:avLst/>
            <a:gdLst/>
            <a:ahLst/>
            <a:cxnLst/>
            <a:rect r="r" b="b" t="t" l="l"/>
            <a:pathLst>
              <a:path h="3195221" w="6588084">
                <a:moveTo>
                  <a:pt x="0" y="0"/>
                </a:moveTo>
                <a:lnTo>
                  <a:pt x="6588084" y="0"/>
                </a:lnTo>
                <a:lnTo>
                  <a:pt x="6588084" y="3195221"/>
                </a:lnTo>
                <a:lnTo>
                  <a:pt x="0" y="31952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980312" y="4639432"/>
            <a:ext cx="6327375" cy="56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 RES</a:t>
            </a: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EARCH COMP</a:t>
            </a: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5551" y="113347"/>
            <a:ext cx="15616897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Ayurvedic Herbal Plant Id</a:t>
            </a: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entification and Economic Analysis in sri lanka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7465" y="1412851"/>
            <a:ext cx="6478683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+ Sinhala/English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Natural-language interaction</a:t>
            </a:r>
          </a:p>
          <a:p>
            <a:pPr algn="l" marL="626109" indent="-313054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Lankan medicinal plant knowledge</a:t>
            </a:r>
          </a:p>
          <a:p>
            <a:pPr algn="l">
              <a:lnSpc>
                <a:spcPts val="405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37465" y="5830379"/>
            <a:ext cx="4953358" cy="3427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Cultiv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ation Recommendation</a:t>
            </a:r>
          </a:p>
          <a:p>
            <a:pPr algn="just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ML + Economic Optimization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&amp; climate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demand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Yield &amp; profit</a:t>
            </a:r>
          </a:p>
          <a:p>
            <a:pPr algn="just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&amp; sustainability</a:t>
            </a:r>
          </a:p>
          <a:p>
            <a:pPr algn="ctr">
              <a:lnSpc>
                <a:spcPts val="2078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442984" y="1412851"/>
            <a:ext cx="4816316" cy="255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</a:t>
            </a:r>
            <a:r>
              <a:rPr lang="en-US" b="true" sz="3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ant Detection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/ CNN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Image-based identification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Lankan Ayurvedic plants</a:t>
            </a:r>
          </a:p>
          <a:p>
            <a:pPr algn="l">
              <a:lnSpc>
                <a:spcPts val="3627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915880" y="5830379"/>
            <a:ext cx="4370257" cy="315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</a:t>
            </a:r>
            <a:r>
              <a:rPr lang="en-US" b="true" sz="30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ality Assessment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b="true" sz="29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fficientnetv2 + Grad-CAM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Healthy / Diseased / Overmature</a:t>
            </a:r>
          </a:p>
          <a:p>
            <a:pPr algn="l" marL="626111" indent="-313055" lvl="1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explanation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651" y="9560210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2026/08/30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094810" y="1352675"/>
            <a:ext cx="10733498" cy="7137776"/>
          </a:xfrm>
          <a:custGeom>
            <a:avLst/>
            <a:gdLst/>
            <a:ahLst/>
            <a:cxnLst/>
            <a:rect r="r" b="b" t="t" l="l"/>
            <a:pathLst>
              <a:path h="7137776" w="10733498">
                <a:moveTo>
                  <a:pt x="0" y="0"/>
                </a:moveTo>
                <a:lnTo>
                  <a:pt x="10733499" y="0"/>
                </a:lnTo>
                <a:lnTo>
                  <a:pt x="10733499" y="7137776"/>
                </a:lnTo>
                <a:lnTo>
                  <a:pt x="0" y="7137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0288" y="1256596"/>
            <a:ext cx="5161099" cy="8001704"/>
          </a:xfrm>
          <a:custGeom>
            <a:avLst/>
            <a:gdLst/>
            <a:ahLst/>
            <a:cxnLst/>
            <a:rect r="r" b="b" t="t" l="l"/>
            <a:pathLst>
              <a:path h="8001704" w="5161099">
                <a:moveTo>
                  <a:pt x="0" y="0"/>
                </a:moveTo>
                <a:lnTo>
                  <a:pt x="5161100" y="0"/>
                </a:lnTo>
                <a:lnTo>
                  <a:pt x="5161100" y="8001704"/>
                </a:lnTo>
                <a:lnTo>
                  <a:pt x="0" y="8001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763125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8405" y="386715"/>
            <a:ext cx="9198243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COMMERCIALIZA</a:t>
            </a: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TION &amp; IMPACT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0204" y="1767205"/>
            <a:ext cx="4121268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🎯 Target Users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Beginner Farmers </a:t>
            </a:r>
          </a:p>
          <a:p>
            <a:pPr algn="l" marL="690877" indent="-345439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</a:t>
            </a:r>
          </a:p>
          <a:p>
            <a:pPr algn="l">
              <a:lnSpc>
                <a:spcPts val="4479"/>
              </a:lnSpc>
            </a:pPr>
          </a:p>
          <a:p>
            <a:pPr algn="l">
              <a:lnSpc>
                <a:spcPts val="44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310129" y="2083657"/>
            <a:ext cx="7917693" cy="2743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💡 Val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ue Proposition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intelligent platform connecting Ayurvedic knowledge with practical agricultural and economic decision-making.</a:t>
            </a:r>
          </a:p>
          <a:p>
            <a:pPr algn="ctr">
              <a:lnSpc>
                <a:spcPts val="3898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58405" y="5370718"/>
            <a:ext cx="4424866" cy="337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💰 B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usiness Model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Freemium access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Premium AI analysis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Institutional licensing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B2B/API services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7508953" y="5171723"/>
            <a:ext cx="7905213" cy="281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🌍 Expected</a:t>
            </a:r>
            <a:r>
              <a:rPr lang="en-US" b="true" sz="32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Impact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farming decisions → Higher economic potential → Sustainable cultivation → Preservation of Ayurvedic knowledge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696" r="0" b="-769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497013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2026/08/30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488108" y="1790221"/>
            <a:ext cx="12151646" cy="7238642"/>
          </a:xfrm>
          <a:custGeom>
            <a:avLst/>
            <a:gdLst/>
            <a:ahLst/>
            <a:cxnLst/>
            <a:rect r="r" b="b" t="t" l="l"/>
            <a:pathLst>
              <a:path h="7238642" w="12151646">
                <a:moveTo>
                  <a:pt x="0" y="0"/>
                </a:moveTo>
                <a:lnTo>
                  <a:pt x="12151646" y="0"/>
                </a:lnTo>
                <a:lnTo>
                  <a:pt x="12151646" y="7238642"/>
                </a:lnTo>
                <a:lnTo>
                  <a:pt x="0" y="7238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67252" y="640080"/>
            <a:ext cx="7121571" cy="73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Ability of commercialization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666" r="0" b="-8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63895" y="715747"/>
            <a:ext cx="16230600" cy="6654546"/>
          </a:xfrm>
          <a:custGeom>
            <a:avLst/>
            <a:gdLst/>
            <a:ahLst/>
            <a:cxnLst/>
            <a:rect r="r" b="b" t="t" l="l"/>
            <a:pathLst>
              <a:path h="6654546" w="16230600">
                <a:moveTo>
                  <a:pt x="0" y="0"/>
                </a:moveTo>
                <a:lnTo>
                  <a:pt x="16230600" y="0"/>
                </a:lnTo>
                <a:lnTo>
                  <a:pt x="16230600" y="6654546"/>
                </a:lnTo>
                <a:lnTo>
                  <a:pt x="0" y="6654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574" r="0" b="-1657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497013"/>
            <a:ext cx="16741658" cy="602298"/>
            <a:chOff x="0" y="0"/>
            <a:chExt cx="22322210" cy="80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62680" cy="803064"/>
            </a:xfrm>
            <a:custGeom>
              <a:avLst/>
              <a:gdLst/>
              <a:ahLst/>
              <a:cxnLst/>
              <a:rect r="r" b="b" t="t" l="l"/>
              <a:pathLst>
                <a:path h="803064" w="1262680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1021127" y="45678"/>
              <a:ext cx="4142627" cy="6736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true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10163070" y="388578"/>
              <a:ext cx="5736134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0898521" y="363432"/>
              <a:ext cx="1423690" cy="3307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b="true" sz="1484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286137" y="9702551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DAHJQXGHiXI</dc:identifier>
  <dcterms:modified xsi:type="dcterms:W3CDTF">2011-08-01T06:04:30Z</dcterms:modified>
  <cp:revision>1</cp:revision>
  <dc:title>PP1</dc:title>
</cp:coreProperties>
</file>