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Target time 0:30.</a:t>
            </a:r>
          </a:p>
          <a:p/>
          <a:p>
            <a:r>
              <a:t>Good morning, respected panel members. Our research project is titled Intelligent Ayurvedic Herbal Plant Identification and Economic Analysis in Sri Lanka, under project R-26-IT-021. We developed an integrated Flutter mobile application combining four AI-based functions: medicinal plant identification, bilingual herbal knowledge assistance, cultivation recommendation, and explainable quality assessment. Today, I will briefly present our problem, design contribution, four components, and evaluation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Target time 1:45.</a:t>
            </a:r>
          </a:p>
          <a:p/>
          <a:p>
            <a:r>
              <a:t>Sri Lanka has valuable knowledge and resources related to Ayurvedic medicinal plants. However, users can face several connected difficulties. A person may struggle to identify a medicinal plant from its appearance. Relevant herbal information can be scattered across different sources and may not be easily accessible through questions in Sinhala. Farmers also need help selecting plants according to their local growing conditions and economic considerations. In addition, a quality prediction made by an AI model is difficult to trust or understand if the application provides no explanation.</a:t>
            </a:r>
          </a:p>
          <a:p/>
          <a:p>
            <a:r>
              <a:t>Our research addresses these challenges through one integrated mobile solution instead of four disconnected tools. The first component identifies supported medicinal plants from images. The second provides Sinhala and English question answering through a knowledge-grounded AI assistant. The third recommends plants using cultivation conditions, weather information and market factors. The fourth assesses visible plant condition and uses Grad-CAM heatmaps to explain influential image regions.</a:t>
            </a:r>
          </a:p>
          <a:p/>
          <a:p>
            <a:r>
              <a:t>An important integration is the Learn More function: after a quality assessment, the user can move to the Herbal Knowledge Assistant for additional information about the plant or its disease. Therefore, our main design contribution is not simply having four AI functions; it is making them work as connected services in one application for Sri Lankan users.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Target time 1:20.</a:t>
            </a:r>
          </a:p>
          <a:p/>
          <a:p>
            <a:r>
              <a:t>Our first component is Mobile-Based Medicinal Plant Identification, developed by H D Sachintha, student number IT22168986. The purpose of this component is to help users recognize supported Sri Lankan Ayurvedic medicinal plants using photographs rather than depending entirely on printed reference materials.</a:t>
            </a:r>
          </a:p>
          <a:p/>
          <a:p>
            <a:r>
              <a:t>The workflow is straightforward. First, a user captures or uploads a plant image in the mobile application. The deep learning model analyzes relevant visual features of the image. It then displays the predicted plant identity and related information. This gives the user an accessible starting point for learning about the selected plant.</a:t>
            </a:r>
          </a:p>
          <a:p/>
          <a:p>
            <a:r>
              <a:t>Its contribution to our overall project is the connection between visual recognition and the rest of the herbal information system. Instead of ending with a plant name, the user can continue exploring the available knowledge and other capabilities of the application. The component operates within the species covered by its trained dataset; it should not be interpreted as identifying every plant in Sri Lanka.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Target time 1:20.</a:t>
            </a:r>
          </a:p>
          <a:p/>
          <a:p>
            <a:r>
              <a:t>The second component is the Herbal Knowledge Intelligence System, developed by M P Munasinghe, student number IT22640598. Its main objective is to make herbal knowledge accessible through natural conversation in both Sinhala and English.</a:t>
            </a:r>
          </a:p>
          <a:p/>
          <a:p>
            <a:r>
              <a:t>We implemented Retrieval-Augmented Generation, or RAG. When a user submits a question through the Flutter application, our Flask backend processes the query and retrieves relevant information from a ChromaDB knowledge store. GPT-4o-mini then uses that retrieved context to generate a response. This is different from generating an answer without first searching the project's curated knowledge.</a:t>
            </a:r>
          </a:p>
          <a:p/>
          <a:p>
            <a:r>
              <a:t>The assistant supports four user personas: General Public, Student, Researcher and Practitioner. These adjust the presentation of information for different knowledge needs. Its scope includes traditional medicinal uses, preparation-related information and diseases affecting the plants themselves. We completed two RAG evaluation suites, including checks involving Sinhala and English questions. Because response generation uses the OpenAI API, this component is not fully functional offline.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Target time 1:20.</a:t>
            </a:r>
          </a:p>
          <a:p/>
          <a:p>
            <a:r>
              <a:t>Our third component is the AI-Driven Cultivation Recommendation System, developed by D G T K Wickramasinghe, student number IT22132796. This component focuses on supporting cultivation decisions for medicinal plants, particularly where farmers need to consider several factors together.</a:t>
            </a:r>
          </a:p>
          <a:p/>
          <a:p>
            <a:r>
              <a:t>A user provides farm-related details and location information. The system considers environmental factors such as soil and weather, together with available economic information such as market prices. The recommendation model then presents suitable medicinal plant options along with suitability, profitability and risk considerations. These are decision-support estimates, not guarantees of future harvest or income.</a:t>
            </a:r>
          </a:p>
          <a:p/>
          <a:p>
            <a:r>
              <a:t>One important technical dependency is location-based weather retrieval. The application needs access to the user's location to automatically obtain locally relevant weather information, and the weather service requires an internet connection. This supports more context-aware recommendations, but it also means location permission and network availability affect this particular function.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Target time 1:20.</a:t>
            </a:r>
          </a:p>
          <a:p/>
          <a:p>
            <a:r>
              <a:t>Our fourth component is Explainable Plant Quality Assessment, developed by P A H K Pattiya Arachchi, student number IT22112132. This component examines photographs of plant material to estimate visible condition, including categories such as healthy, diseased and overmature.</a:t>
            </a:r>
          </a:p>
          <a:p/>
          <a:p>
            <a:r>
              <a:t>The user submits a leaf or fruit image. A trained deep learning classifier assesses the visual characteristics and produces a condition prediction. What makes this component especially useful is its explainability feature. Through Grad-CAM, the application displays a heatmap highlighting regions of the image that contributed to the model's decision. It therefore offers more than a classification label: it provides a visual indication of the model's attention.</a:t>
            </a:r>
          </a:p>
          <a:p/>
          <a:p>
            <a:r>
              <a:t>The component also connects to our Herbal Knowledge Assistant through the Learn More function. A user who receives a plant-condition result can seek additional information about the related plant disease. A heatmap improves interpretability, although it is not proof that every prediction is correct.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Target time 2:25.</a:t>
            </a:r>
          </a:p>
          <a:p/>
          <a:p>
            <a:r>
              <a:t>Finally, I will summarize our research results, user acceptance findings and system limitations.</a:t>
            </a:r>
          </a:p>
          <a:p/>
          <a:p>
            <a:r>
              <a:t>Our four research components have been integrated into one Flutter mobile application. The Herbal Knowledge Intelligence System was also evaluated using two RAG evaluation suites, including Sinhala and English question-answering checks. These technical activities are separate from the questionnaire results.</a:t>
            </a:r>
          </a:p>
          <a:p/>
          <a:p>
            <a:r>
              <a:t>From our overall system user evaluation, the Excel file contains 50 submissions. One participant did not consent, so we excluded that response. Of the 49 consenting respondents, 43 reported using the application directly, five watched a demonstration, and one could not access or use it. To make the assessment fairer, we calculated our key usability measures from the 43 direct users.</a:t>
            </a:r>
          </a:p>
          <a:p/>
          <a:p>
            <a:r>
              <a:t>Their average overall satisfaction was 4.35 out of five. Thirty-nine out of 43, or 90.7 percent, said they would probably or definitely use the application again. Forty-one out of 43, or 95.3 percent, reported that results seemed relevant always or most of the time. Similarly, 41 rated the application's overall design good or excellent.</a:t>
            </a:r>
          </a:p>
          <a:p/>
          <a:p>
            <a:r>
              <a:t>These findings suggest promising initial usability and perceived usefulness. However, questionnaire ratings are users' perceptions, not independent measurements of AI prediction accuracy. A minority also reported usability issues or unexpected results, so there is room for improvement.</a:t>
            </a:r>
          </a:p>
          <a:p/>
          <a:p>
            <a:r>
              <a:t>There are three main limitations. First, GPT-4o-mini responses and live weather retrieval depend on internet services. Second, automatic local weather lookup requires location permission. Third, only selected plant species are covered, and unclear images can affect image-based predictions.</a:t>
            </a:r>
          </a:p>
          <a:p/>
          <a:p>
            <a:r>
              <a:t>For future work, we aim to explore hybrid or offline support, expand plant datasets, and improve robustness to real-world image quality. Overall, our research brings together plant identification, bilingual herbal knowledge, cultivation guidance and explainable quality assessment in one application. Thank you; we are ready for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19488" y="5696712"/>
            <a:ext cx="1719072" cy="-3849624"/>
          </a:xfrm>
          <a:prstGeom prst="line">
            <a:avLst/>
          </a:prstGeom>
          <a:noFill/>
          <a:ln w="27940">
            <a:solidFill>
              <a:srgbClr val="E2EBE5"/>
            </a:solidFill>
            <a:prstDash val="solid"/>
          </a:ln>
        </p:spPr>
      </p:sp>
      <p:sp>
        <p:nvSpPr>
          <p:cNvPr id="3" name="Shape 1"/>
          <p:cNvSpPr/>
          <p:nvPr/>
        </p:nvSpPr>
        <p:spPr>
          <a:xfrm rot="3240000">
            <a:off x="10058400" y="4873752"/>
            <a:ext cx="493776" cy="173736"/>
          </a:xfrm>
          <a:prstGeom prst="ellipse">
            <a:avLst/>
          </a:prstGeom>
          <a:solidFill>
            <a:srgbClr val="E6EEE8"/>
          </a:solidFill>
          <a:ln w="12700">
            <a:solidFill>
              <a:srgbClr val="E6EEE8"/>
            </a:solidFill>
            <a:prstDash val="solid"/>
          </a:ln>
        </p:spPr>
      </p:sp>
      <p:sp>
        <p:nvSpPr>
          <p:cNvPr id="4" name="Shape 2"/>
          <p:cNvSpPr/>
          <p:nvPr/>
        </p:nvSpPr>
        <p:spPr>
          <a:xfrm rot="-2700000">
            <a:off x="10387584" y="4178808"/>
            <a:ext cx="493776" cy="173736"/>
          </a:xfrm>
          <a:prstGeom prst="ellipse">
            <a:avLst/>
          </a:prstGeom>
          <a:solidFill>
            <a:srgbClr val="E6EEE8"/>
          </a:solidFill>
          <a:ln w="12700">
            <a:solidFill>
              <a:srgbClr val="E6EEE8"/>
            </a:solidFill>
            <a:prstDash val="solid"/>
          </a:ln>
        </p:spPr>
      </p:sp>
      <p:sp>
        <p:nvSpPr>
          <p:cNvPr id="5" name="Shape 3"/>
          <p:cNvSpPr/>
          <p:nvPr/>
        </p:nvSpPr>
        <p:spPr>
          <a:xfrm rot="3120000">
            <a:off x="10625328" y="3520440"/>
            <a:ext cx="493776" cy="173736"/>
          </a:xfrm>
          <a:prstGeom prst="ellipse">
            <a:avLst/>
          </a:prstGeom>
          <a:solidFill>
            <a:srgbClr val="E6EEE8"/>
          </a:solidFill>
          <a:ln w="12700">
            <a:solidFill>
              <a:srgbClr val="E6EEE8"/>
            </a:solidFill>
            <a:prstDash val="solid"/>
          </a:ln>
        </p:spPr>
      </p:sp>
      <p:sp>
        <p:nvSpPr>
          <p:cNvPr id="6" name="Shape 4"/>
          <p:cNvSpPr/>
          <p:nvPr/>
        </p:nvSpPr>
        <p:spPr>
          <a:xfrm rot="-3000000">
            <a:off x="10863072" y="2743200"/>
            <a:ext cx="493776" cy="173736"/>
          </a:xfrm>
          <a:prstGeom prst="ellipse">
            <a:avLst/>
          </a:prstGeom>
          <a:solidFill>
            <a:srgbClr val="E6EEE8"/>
          </a:solidFill>
          <a:ln w="12700">
            <a:solidFill>
              <a:srgbClr val="E6EEE8"/>
            </a:solidFill>
            <a:prstDash val="solid"/>
          </a:ln>
        </p:spPr>
      </p:sp>
      <p:sp>
        <p:nvSpPr>
          <p:cNvPr id="7" name="Shape 5"/>
          <p:cNvSpPr/>
          <p:nvPr/>
        </p:nvSpPr>
        <p:spPr>
          <a:xfrm rot="3000000">
            <a:off x="11183112" y="2395728"/>
            <a:ext cx="493776" cy="173736"/>
          </a:xfrm>
          <a:prstGeom prst="ellipse">
            <a:avLst/>
          </a:prstGeom>
          <a:solidFill>
            <a:srgbClr val="E6EEE8"/>
          </a:solidFill>
          <a:ln w="12700">
            <a:solidFill>
              <a:srgbClr val="E6EEE8"/>
            </a:solidFill>
            <a:prstDash val="solid"/>
          </a:ln>
        </p:spPr>
      </p:sp>
      <p:sp>
        <p:nvSpPr>
          <p:cNvPr id="8" name="Shape 6"/>
          <p:cNvSpPr/>
          <p:nvPr/>
        </p:nvSpPr>
        <p:spPr>
          <a:xfrm rot="-2880000">
            <a:off x="9875520" y="5340096"/>
            <a:ext cx="493776" cy="173736"/>
          </a:xfrm>
          <a:prstGeom prst="ellipse">
            <a:avLst/>
          </a:prstGeom>
          <a:solidFill>
            <a:srgbClr val="E6EEE8"/>
          </a:solidFill>
          <a:ln w="12700">
            <a:solidFill>
              <a:srgbClr val="E6EEE8"/>
            </a:solidFill>
            <a:prstDash val="solid"/>
          </a:ln>
        </p:spPr>
      </p:sp>
      <p:sp>
        <p:nvSpPr>
          <p:cNvPr id="9" name="Shape 7"/>
          <p:cNvSpPr/>
          <p:nvPr/>
        </p:nvSpPr>
        <p:spPr>
          <a:xfrm rot="1800000">
            <a:off x="11082528" y="3136392"/>
            <a:ext cx="493776" cy="173736"/>
          </a:xfrm>
          <a:prstGeom prst="ellipse">
            <a:avLst/>
          </a:prstGeom>
          <a:solidFill>
            <a:srgbClr val="E6EEE8"/>
          </a:solidFill>
          <a:ln w="12700">
            <a:solidFill>
              <a:srgbClr val="E6EEE8"/>
            </a:solidFill>
            <a:prstDash val="solid"/>
          </a:ln>
        </p:spPr>
      </p:sp>
      <p:sp>
        <p:nvSpPr>
          <p:cNvPr id="10" name="Text 8"/>
          <p:cNvSpPr/>
          <p:nvPr/>
        </p:nvSpPr>
        <p:spPr>
          <a:xfrm>
            <a:off x="1005840" y="749808"/>
            <a:ext cx="7315200" cy="228600"/>
          </a:xfrm>
          <a:prstGeom prst="rect">
            <a:avLst/>
          </a:prstGeom>
          <a:noFill/>
          <a:ln/>
        </p:spPr>
        <p:txBody>
          <a:bodyPr wrap="square" lIns="0" tIns="0" rIns="0" bIns="0" rtlCol="0" anchor="ctr"/>
          <a:lstStyle/>
          <a:p>
            <a:pPr algn="l" indent="0" marL="0">
              <a:buNone/>
            </a:pPr>
            <a:r>
              <a:rPr lang="en-US" sz="1200" b="1" spc="110" kern="0" dirty="0">
                <a:solidFill>
                  <a:srgbClr val="28574A"/>
                </a:solidFill>
                <a:latin typeface="Aptos" pitchFamily="34" charset="0"/>
                <a:ea typeface="Aptos" pitchFamily="34" charset="-122"/>
                <a:cs typeface="Aptos" pitchFamily="34" charset="-120"/>
              </a:rPr>
              <a:t>SLIIT  |  FACULTY OF COMPUTING</a:t>
            </a:r>
            <a:endParaRPr lang="en-US" sz="1200" dirty="0"/>
          </a:p>
        </p:txBody>
      </p:sp>
      <p:sp>
        <p:nvSpPr>
          <p:cNvPr id="11" name="Text 9"/>
          <p:cNvSpPr/>
          <p:nvPr/>
        </p:nvSpPr>
        <p:spPr>
          <a:xfrm>
            <a:off x="1005840" y="1234440"/>
            <a:ext cx="8961120" cy="246888"/>
          </a:xfrm>
          <a:prstGeom prst="rect">
            <a:avLst/>
          </a:prstGeom>
          <a:noFill/>
          <a:ln/>
        </p:spPr>
        <p:txBody>
          <a:bodyPr wrap="square" lIns="0" tIns="0" rIns="0" bIns="0" rtlCol="0" anchor="ctr"/>
          <a:lstStyle/>
          <a:p>
            <a:pPr algn="l" indent="0" marL="0">
              <a:buNone/>
            </a:pPr>
            <a:r>
              <a:rPr lang="en-US" sz="1260" b="1" spc="200" kern="0" dirty="0">
                <a:solidFill>
                  <a:srgbClr val="60716C"/>
                </a:solidFill>
                <a:latin typeface="Aptos" pitchFamily="34" charset="0"/>
                <a:ea typeface="Aptos" pitchFamily="34" charset="-122"/>
                <a:cs typeface="Aptos" pitchFamily="34" charset="-120"/>
              </a:rPr>
              <a:t>FINAL RESEARCH PRESENTATION</a:t>
            </a:r>
            <a:endParaRPr lang="en-US" sz="1260" dirty="0"/>
          </a:p>
        </p:txBody>
      </p:sp>
      <p:sp>
        <p:nvSpPr>
          <p:cNvPr id="12" name="Text 10"/>
          <p:cNvSpPr/>
          <p:nvPr/>
        </p:nvSpPr>
        <p:spPr>
          <a:xfrm>
            <a:off x="987552" y="1837944"/>
            <a:ext cx="9784080" cy="1956816"/>
          </a:xfrm>
          <a:prstGeom prst="rect">
            <a:avLst/>
          </a:prstGeom>
          <a:noFill/>
          <a:ln/>
        </p:spPr>
        <p:txBody>
          <a:bodyPr wrap="square" lIns="0" tIns="0" rIns="0" bIns="0" rtlCol="0" anchor="ctr">
            <a:normAutofit/>
          </a:bodyPr>
          <a:lstStyle/>
          <a:p>
            <a:pPr algn="l" indent="0" marL="0">
              <a:lnSpc>
                <a:spcPct val="102000"/>
              </a:lnSpc>
              <a:buNone/>
            </a:pPr>
            <a:r>
              <a:rPr lang="en-US" sz="3070" b="1" dirty="0">
                <a:solidFill>
                  <a:srgbClr val="1D2725"/>
                </a:solidFill>
                <a:latin typeface="Georgia" pitchFamily="34" charset="0"/>
                <a:ea typeface="Georgia" pitchFamily="34" charset="-122"/>
                <a:cs typeface="Georgia" pitchFamily="34" charset="-120"/>
              </a:rPr>
              <a:t>INTELLIGENT AYURVEDIC HERBAL</a:t>
            </a:r>
            <a:endParaRPr lang="en-US" sz="3070" dirty="0"/>
          </a:p>
          <a:p>
            <a:pPr algn="l" indent="0" marL="0">
              <a:lnSpc>
                <a:spcPct val="102000"/>
              </a:lnSpc>
              <a:buNone/>
            </a:pPr>
            <a:r>
              <a:rPr lang="en-US" sz="3070" b="1" dirty="0">
                <a:solidFill>
                  <a:srgbClr val="1D2725"/>
                </a:solidFill>
                <a:latin typeface="Georgia" pitchFamily="34" charset="0"/>
                <a:ea typeface="Georgia" pitchFamily="34" charset="-122"/>
                <a:cs typeface="Georgia" pitchFamily="34" charset="-120"/>
              </a:rPr>
              <a:t>PLANT IDENTIFICATION AND</a:t>
            </a:r>
            <a:endParaRPr lang="en-US" sz="3070" dirty="0"/>
          </a:p>
          <a:p>
            <a:pPr algn="l" indent="0" marL="0">
              <a:lnSpc>
                <a:spcPct val="102000"/>
              </a:lnSpc>
              <a:buNone/>
            </a:pPr>
            <a:r>
              <a:rPr lang="en-US" sz="3070" b="1" dirty="0">
                <a:solidFill>
                  <a:srgbClr val="1D2725"/>
                </a:solidFill>
                <a:latin typeface="Georgia" pitchFamily="34" charset="0"/>
                <a:ea typeface="Georgia" pitchFamily="34" charset="-122"/>
                <a:cs typeface="Georgia" pitchFamily="34" charset="-120"/>
              </a:rPr>
              <a:t>ECONOMIC ANALYSIS IN SRI LANKA</a:t>
            </a:r>
            <a:endParaRPr lang="en-US" sz="3070" dirty="0"/>
          </a:p>
        </p:txBody>
      </p:sp>
      <p:sp>
        <p:nvSpPr>
          <p:cNvPr id="13" name="Shape 11"/>
          <p:cNvSpPr/>
          <p:nvPr/>
        </p:nvSpPr>
        <p:spPr>
          <a:xfrm>
            <a:off x="1005840" y="4133088"/>
            <a:ext cx="3840480" cy="0"/>
          </a:xfrm>
          <a:prstGeom prst="line">
            <a:avLst/>
          </a:prstGeom>
          <a:noFill/>
          <a:ln w="20320">
            <a:solidFill>
              <a:srgbClr val="BBD5C5"/>
            </a:solidFill>
            <a:prstDash val="solid"/>
          </a:ln>
        </p:spPr>
      </p:sp>
      <p:sp>
        <p:nvSpPr>
          <p:cNvPr id="14" name="Text 12"/>
          <p:cNvSpPr/>
          <p:nvPr/>
        </p:nvSpPr>
        <p:spPr>
          <a:xfrm>
            <a:off x="1005840" y="4352544"/>
            <a:ext cx="4572000" cy="310896"/>
          </a:xfrm>
          <a:prstGeom prst="rect">
            <a:avLst/>
          </a:prstGeom>
          <a:noFill/>
          <a:ln/>
        </p:spPr>
        <p:txBody>
          <a:bodyPr wrap="square" lIns="0" tIns="0" rIns="0" bIns="0" rtlCol="0" anchor="ctr"/>
          <a:lstStyle/>
          <a:p>
            <a:pPr algn="l" indent="0" marL="0">
              <a:buNone/>
            </a:pPr>
            <a:r>
              <a:rPr lang="en-US" sz="1780" b="1" dirty="0">
                <a:solidFill>
                  <a:srgbClr val="1D2725"/>
                </a:solidFill>
                <a:latin typeface="Georgia" pitchFamily="34" charset="0"/>
                <a:ea typeface="Georgia" pitchFamily="34" charset="-122"/>
                <a:cs typeface="Georgia" pitchFamily="34" charset="-120"/>
              </a:rPr>
              <a:t>R-26-IT-021</a:t>
            </a:r>
            <a:endParaRPr lang="en-US" sz="1780" dirty="0"/>
          </a:p>
        </p:txBody>
      </p:sp>
      <p:sp>
        <p:nvSpPr>
          <p:cNvPr id="15" name="Text 13"/>
          <p:cNvSpPr/>
          <p:nvPr/>
        </p:nvSpPr>
        <p:spPr>
          <a:xfrm>
            <a:off x="1005840" y="4809744"/>
            <a:ext cx="8595360" cy="320040"/>
          </a:xfrm>
          <a:prstGeom prst="rect">
            <a:avLst/>
          </a:prstGeom>
          <a:noFill/>
          <a:ln/>
        </p:spPr>
        <p:txBody>
          <a:bodyPr wrap="square" lIns="0" tIns="0" rIns="0" bIns="0" rtlCol="0" anchor="ctr"/>
          <a:lstStyle/>
          <a:p>
            <a:pPr algn="l" indent="0" marL="0">
              <a:buNone/>
            </a:pPr>
            <a:r>
              <a:rPr lang="en-US" sz="1550" dirty="0">
                <a:solidFill>
                  <a:srgbClr val="60716C"/>
                </a:solidFill>
                <a:latin typeface="Aptos" pitchFamily="34" charset="0"/>
                <a:ea typeface="Aptos" pitchFamily="34" charset="-122"/>
                <a:cs typeface="Aptos" pitchFamily="34" charset="-120"/>
              </a:rPr>
              <a:t>Four integrated AI research components  •  Flutter mobile application</a:t>
            </a:r>
            <a:endParaRPr lang="en-US" sz="1550" dirty="0"/>
          </a:p>
        </p:txBody>
      </p:sp>
      <p:sp>
        <p:nvSpPr>
          <p:cNvPr id="16" name="Text 14"/>
          <p:cNvSpPr/>
          <p:nvPr/>
        </p:nvSpPr>
        <p:spPr>
          <a:xfrm>
            <a:off x="1005840" y="5276088"/>
            <a:ext cx="6400800" cy="237744"/>
          </a:xfrm>
          <a:prstGeom prst="rect">
            <a:avLst/>
          </a:prstGeom>
          <a:noFill/>
          <a:ln/>
        </p:spPr>
        <p:txBody>
          <a:bodyPr wrap="square" lIns="0" tIns="0" rIns="0" bIns="0" rtlCol="0" anchor="ctr"/>
          <a:lstStyle/>
          <a:p>
            <a:pPr algn="l" indent="0" marL="0">
              <a:buNone/>
            </a:pPr>
            <a:r>
              <a:rPr lang="en-US" sz="1230" dirty="0">
                <a:solidFill>
                  <a:srgbClr val="28574A"/>
                </a:solidFill>
                <a:latin typeface="Aptos" pitchFamily="34" charset="0"/>
                <a:ea typeface="Aptos" pitchFamily="34" charset="-122"/>
                <a:cs typeface="Aptos" pitchFamily="34" charset="-120"/>
              </a:rPr>
              <a:t>Research Group  •  October 2026</a:t>
            </a:r>
            <a:endParaRPr lang="en-US" sz="1230" dirty="0"/>
          </a:p>
        </p:txBody>
      </p:sp>
      <p:sp>
        <p:nvSpPr>
          <p:cNvPr id="17" name="Shape 15"/>
          <p:cNvSpPr/>
          <p:nvPr/>
        </p:nvSpPr>
        <p:spPr>
          <a:xfrm>
            <a:off x="484632" y="6281928"/>
            <a:ext cx="11247120" cy="0"/>
          </a:xfrm>
          <a:prstGeom prst="line">
            <a:avLst/>
          </a:prstGeom>
          <a:noFill/>
          <a:ln w="9525">
            <a:solidFill>
              <a:srgbClr val="D8E2DC"/>
            </a:solidFill>
            <a:prstDash val="solid"/>
          </a:ln>
        </p:spPr>
      </p:sp>
      <p:pic>
        <p:nvPicPr>
          <p:cNvPr id="18" name="Image 0" descr="/mnt/data/proposal_assets/logo.png">    </p:cNvPr>
          <p:cNvPicPr>
            <a:picLocks noChangeAspect="1"/>
          </p:cNvPicPr>
          <p:nvPr/>
        </p:nvPicPr>
        <p:blipFill>
          <a:blip r:embed="rId1"/>
          <a:stretch>
            <a:fillRect/>
          </a:stretch>
        </p:blipFill>
        <p:spPr>
          <a:xfrm>
            <a:off x="548640" y="6336792"/>
            <a:ext cx="320040" cy="274320"/>
          </a:xfrm>
          <a:prstGeom prst="rect">
            <a:avLst/>
          </a:prstGeom>
        </p:spPr>
      </p:pic>
      <p:sp>
        <p:nvSpPr>
          <p:cNvPr id="19" name="Text 16"/>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20" name="Text 17"/>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21" name="Text 18"/>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R-26-IT-021</a:t>
            </a:r>
            <a:endParaRPr lang="en-US" sz="820" dirty="0"/>
          </a:p>
        </p:txBody>
      </p:sp>
      <p:sp>
        <p:nvSpPr>
          <p:cNvPr id="22" name="Text 19"/>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23" name="Text 20"/>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1</a:t>
            </a:r>
            <a:endParaRPr lang="en-US" sz="8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 y="292608"/>
            <a:ext cx="10808208" cy="228600"/>
          </a:xfrm>
          <a:prstGeom prst="rect">
            <a:avLst/>
          </a:prstGeom>
          <a:noFill/>
          <a:ln/>
        </p:spPr>
        <p:txBody>
          <a:bodyPr wrap="square" lIns="0" tIns="0" rIns="0" bIns="0" rtlCol="0" anchor="ctr"/>
          <a:lstStyle/>
          <a:p>
            <a:pPr algn="ctr" indent="0" marL="0">
              <a:buNone/>
            </a:pPr>
            <a:r>
              <a:rPr lang="en-US" sz="1080" b="1" spc="150" kern="0" dirty="0">
                <a:solidFill>
                  <a:srgbClr val="28574A"/>
                </a:solidFill>
                <a:latin typeface="Aptos" pitchFamily="34" charset="0"/>
                <a:ea typeface="Aptos" pitchFamily="34" charset="-122"/>
                <a:cs typeface="Aptos" pitchFamily="34" charset="-120"/>
              </a:rPr>
              <a:t>THE COMPLETE SOLUTION</a:t>
            </a:r>
            <a:endParaRPr lang="en-US" sz="1080" dirty="0"/>
          </a:p>
        </p:txBody>
      </p:sp>
      <p:sp>
        <p:nvSpPr>
          <p:cNvPr id="3" name="Text 1"/>
          <p:cNvSpPr/>
          <p:nvPr/>
        </p:nvSpPr>
        <p:spPr>
          <a:xfrm>
            <a:off x="658368" y="612648"/>
            <a:ext cx="10863072" cy="630936"/>
          </a:xfrm>
          <a:prstGeom prst="rect">
            <a:avLst/>
          </a:prstGeom>
          <a:noFill/>
          <a:ln/>
        </p:spPr>
        <p:txBody>
          <a:bodyPr wrap="square" lIns="0" tIns="0" rIns="0" bIns="0" rtlCol="0" anchor="ctr">
            <a:normAutofit/>
          </a:bodyPr>
          <a:lstStyle/>
          <a:p>
            <a:pPr algn="ctr" indent="0" marL="0">
              <a:buNone/>
            </a:pPr>
            <a:r>
              <a:rPr lang="en-US" sz="2550" b="1" dirty="0">
                <a:solidFill>
                  <a:srgbClr val="1D2725"/>
                </a:solidFill>
                <a:latin typeface="Georgia" pitchFamily="34" charset="0"/>
                <a:ea typeface="Georgia" pitchFamily="34" charset="-122"/>
                <a:cs typeface="Georgia" pitchFamily="34" charset="-120"/>
              </a:rPr>
              <a:t>Problem in Brief &amp; Design Excellence</a:t>
            </a:r>
            <a:endParaRPr lang="en-US" sz="2550" dirty="0"/>
          </a:p>
        </p:txBody>
      </p:sp>
      <p:sp>
        <p:nvSpPr>
          <p:cNvPr id="4" name="Shape 2"/>
          <p:cNvSpPr/>
          <p:nvPr/>
        </p:nvSpPr>
        <p:spPr>
          <a:xfrm>
            <a:off x="4462272" y="1325880"/>
            <a:ext cx="3264408" cy="0"/>
          </a:xfrm>
          <a:prstGeom prst="line">
            <a:avLst/>
          </a:prstGeom>
          <a:noFill/>
          <a:ln w="16510">
            <a:solidFill>
              <a:srgbClr val="BBD5C5"/>
            </a:solidFill>
            <a:prstDash val="solid"/>
          </a:ln>
        </p:spPr>
      </p:sp>
      <p:sp>
        <p:nvSpPr>
          <p:cNvPr id="5" name="Text 3"/>
          <p:cNvSpPr/>
          <p:nvPr/>
        </p:nvSpPr>
        <p:spPr>
          <a:xfrm>
            <a:off x="731520" y="1691640"/>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WHY THIS RESEARCH WAS NEEDED</a:t>
            </a:r>
            <a:endParaRPr lang="en-US" sz="1110" dirty="0"/>
          </a:p>
        </p:txBody>
      </p:sp>
      <p:sp>
        <p:nvSpPr>
          <p:cNvPr id="6" name="Shape 4"/>
          <p:cNvSpPr/>
          <p:nvPr/>
        </p:nvSpPr>
        <p:spPr>
          <a:xfrm>
            <a:off x="777240" y="2185416"/>
            <a:ext cx="82296" cy="82296"/>
          </a:xfrm>
          <a:prstGeom prst="ellipse">
            <a:avLst/>
          </a:prstGeom>
          <a:solidFill>
            <a:srgbClr val="28574A"/>
          </a:solidFill>
          <a:ln w="12700">
            <a:solidFill>
              <a:srgbClr val="28574A"/>
            </a:solidFill>
            <a:prstDash val="solid"/>
          </a:ln>
        </p:spPr>
      </p:sp>
      <p:sp>
        <p:nvSpPr>
          <p:cNvPr id="7" name="Text 5"/>
          <p:cNvSpPr/>
          <p:nvPr/>
        </p:nvSpPr>
        <p:spPr>
          <a:xfrm>
            <a:off x="987552" y="2075688"/>
            <a:ext cx="5477256" cy="457200"/>
          </a:xfrm>
          <a:prstGeom prst="rect">
            <a:avLst/>
          </a:prstGeom>
          <a:noFill/>
          <a:ln/>
        </p:spPr>
        <p:txBody>
          <a:bodyPr wrap="square" lIns="0" tIns="0" rIns="0" bIns="0" rtlCol="0" anchor="t">
            <a:normAutofit/>
          </a:bodyPr>
          <a:lstStyle/>
          <a:p>
            <a:pPr algn="l" indent="0" marL="0">
              <a:buNone/>
            </a:pPr>
            <a:r>
              <a:rPr lang="en-US" sz="1620" dirty="0">
                <a:solidFill>
                  <a:srgbClr val="1D2725"/>
                </a:solidFill>
                <a:latin typeface="Aptos" pitchFamily="34" charset="0"/>
                <a:ea typeface="Aptos" pitchFamily="34" charset="-122"/>
                <a:cs typeface="Aptos" pitchFamily="34" charset="-120"/>
              </a:rPr>
              <a:t>Medicinal plant identification and traditional knowledge are not always easily accessible.</a:t>
            </a:r>
            <a:endParaRPr lang="en-US" sz="1620" dirty="0"/>
          </a:p>
        </p:txBody>
      </p:sp>
      <p:sp>
        <p:nvSpPr>
          <p:cNvPr id="8" name="Shape 6"/>
          <p:cNvSpPr/>
          <p:nvPr/>
        </p:nvSpPr>
        <p:spPr>
          <a:xfrm>
            <a:off x="777240" y="2825496"/>
            <a:ext cx="82296" cy="82296"/>
          </a:xfrm>
          <a:prstGeom prst="ellipse">
            <a:avLst/>
          </a:prstGeom>
          <a:solidFill>
            <a:srgbClr val="28574A"/>
          </a:solidFill>
          <a:ln w="12700">
            <a:solidFill>
              <a:srgbClr val="28574A"/>
            </a:solidFill>
            <a:prstDash val="solid"/>
          </a:ln>
        </p:spPr>
      </p:sp>
      <p:sp>
        <p:nvSpPr>
          <p:cNvPr id="9" name="Text 7"/>
          <p:cNvSpPr/>
          <p:nvPr/>
        </p:nvSpPr>
        <p:spPr>
          <a:xfrm>
            <a:off x="987552" y="2715768"/>
            <a:ext cx="5477256" cy="457200"/>
          </a:xfrm>
          <a:prstGeom prst="rect">
            <a:avLst/>
          </a:prstGeom>
          <a:noFill/>
          <a:ln/>
        </p:spPr>
        <p:txBody>
          <a:bodyPr wrap="square" lIns="0" tIns="0" rIns="0" bIns="0" rtlCol="0" anchor="t">
            <a:normAutofit/>
          </a:bodyPr>
          <a:lstStyle/>
          <a:p>
            <a:pPr algn="l" indent="0" marL="0">
              <a:buNone/>
            </a:pPr>
            <a:r>
              <a:rPr lang="en-US" sz="1620" dirty="0">
                <a:solidFill>
                  <a:srgbClr val="1D2725"/>
                </a:solidFill>
                <a:latin typeface="Aptos" pitchFamily="34" charset="0"/>
                <a:ea typeface="Aptos" pitchFamily="34" charset="-122"/>
                <a:cs typeface="Aptos" pitchFamily="34" charset="-120"/>
              </a:rPr>
              <a:t>Users need information in familiar languages, including Sinhala.</a:t>
            </a:r>
            <a:endParaRPr lang="en-US" sz="1620" dirty="0"/>
          </a:p>
        </p:txBody>
      </p:sp>
      <p:sp>
        <p:nvSpPr>
          <p:cNvPr id="10" name="Shape 8"/>
          <p:cNvSpPr/>
          <p:nvPr/>
        </p:nvSpPr>
        <p:spPr>
          <a:xfrm>
            <a:off x="777240" y="3465576"/>
            <a:ext cx="82296" cy="82296"/>
          </a:xfrm>
          <a:prstGeom prst="ellipse">
            <a:avLst/>
          </a:prstGeom>
          <a:solidFill>
            <a:srgbClr val="28574A"/>
          </a:solidFill>
          <a:ln w="12700">
            <a:solidFill>
              <a:srgbClr val="28574A"/>
            </a:solidFill>
            <a:prstDash val="solid"/>
          </a:ln>
        </p:spPr>
      </p:sp>
      <p:sp>
        <p:nvSpPr>
          <p:cNvPr id="11" name="Text 9"/>
          <p:cNvSpPr/>
          <p:nvPr/>
        </p:nvSpPr>
        <p:spPr>
          <a:xfrm>
            <a:off x="987552" y="3355848"/>
            <a:ext cx="5477256" cy="457200"/>
          </a:xfrm>
          <a:prstGeom prst="rect">
            <a:avLst/>
          </a:prstGeom>
          <a:noFill/>
          <a:ln/>
        </p:spPr>
        <p:txBody>
          <a:bodyPr wrap="square" lIns="0" tIns="0" rIns="0" bIns="0" rtlCol="0" anchor="t">
            <a:normAutofit/>
          </a:bodyPr>
          <a:lstStyle/>
          <a:p>
            <a:pPr algn="l" indent="0" marL="0">
              <a:buNone/>
            </a:pPr>
            <a:r>
              <a:rPr lang="en-US" sz="1620" dirty="0">
                <a:solidFill>
                  <a:srgbClr val="1D2725"/>
                </a:solidFill>
                <a:latin typeface="Aptos" pitchFamily="34" charset="0"/>
                <a:ea typeface="Aptos" pitchFamily="34" charset="-122"/>
                <a:cs typeface="Aptos" pitchFamily="34" charset="-120"/>
              </a:rPr>
              <a:t>Farmers need cultivation guidance using environmental and economic context.</a:t>
            </a:r>
            <a:endParaRPr lang="en-US" sz="1620" dirty="0"/>
          </a:p>
        </p:txBody>
      </p:sp>
      <p:sp>
        <p:nvSpPr>
          <p:cNvPr id="12" name="Shape 10"/>
          <p:cNvSpPr/>
          <p:nvPr/>
        </p:nvSpPr>
        <p:spPr>
          <a:xfrm>
            <a:off x="777240" y="4105656"/>
            <a:ext cx="82296" cy="82296"/>
          </a:xfrm>
          <a:prstGeom prst="ellipse">
            <a:avLst/>
          </a:prstGeom>
          <a:solidFill>
            <a:srgbClr val="28574A"/>
          </a:solidFill>
          <a:ln w="12700">
            <a:solidFill>
              <a:srgbClr val="28574A"/>
            </a:solidFill>
            <a:prstDash val="solid"/>
          </a:ln>
        </p:spPr>
      </p:sp>
      <p:sp>
        <p:nvSpPr>
          <p:cNvPr id="13" name="Text 11"/>
          <p:cNvSpPr/>
          <p:nvPr/>
        </p:nvSpPr>
        <p:spPr>
          <a:xfrm>
            <a:off x="987552" y="3995928"/>
            <a:ext cx="5477256" cy="457200"/>
          </a:xfrm>
          <a:prstGeom prst="rect">
            <a:avLst/>
          </a:prstGeom>
          <a:noFill/>
          <a:ln/>
        </p:spPr>
        <p:txBody>
          <a:bodyPr wrap="square" lIns="0" tIns="0" rIns="0" bIns="0" rtlCol="0" anchor="t">
            <a:normAutofit/>
          </a:bodyPr>
          <a:lstStyle/>
          <a:p>
            <a:pPr algn="l" indent="0" marL="0">
              <a:buNone/>
            </a:pPr>
            <a:r>
              <a:rPr lang="en-US" sz="1620" dirty="0">
                <a:solidFill>
                  <a:srgbClr val="1D2725"/>
                </a:solidFill>
                <a:latin typeface="Aptos" pitchFamily="34" charset="0"/>
                <a:ea typeface="Aptos" pitchFamily="34" charset="-122"/>
                <a:cs typeface="Aptos" pitchFamily="34" charset="-120"/>
              </a:rPr>
              <a:t>Visual quality decisions are difficult to interpret without explanations.</a:t>
            </a:r>
            <a:endParaRPr lang="en-US" sz="1620" dirty="0"/>
          </a:p>
        </p:txBody>
      </p:sp>
      <p:sp>
        <p:nvSpPr>
          <p:cNvPr id="14" name="Shape 12"/>
          <p:cNvSpPr/>
          <p:nvPr/>
        </p:nvSpPr>
        <p:spPr>
          <a:xfrm>
            <a:off x="731520" y="4800600"/>
            <a:ext cx="5660136" cy="960120"/>
          </a:xfrm>
          <a:prstGeom prst="roundRect">
            <a:avLst>
              <a:gd name="adj" fmla="val 6667"/>
            </a:avLst>
          </a:prstGeom>
          <a:solidFill>
            <a:srgbClr val="F7F9F7"/>
          </a:solidFill>
          <a:ln w="12700">
            <a:solidFill>
              <a:srgbClr val="F7F9F7"/>
            </a:solidFill>
            <a:prstDash val="solid"/>
          </a:ln>
        </p:spPr>
      </p:sp>
      <p:sp>
        <p:nvSpPr>
          <p:cNvPr id="15" name="Text 13"/>
          <p:cNvSpPr/>
          <p:nvPr/>
        </p:nvSpPr>
        <p:spPr>
          <a:xfrm>
            <a:off x="914400" y="4937760"/>
            <a:ext cx="5212080" cy="164592"/>
          </a:xfrm>
          <a:prstGeom prst="rect">
            <a:avLst/>
          </a:prstGeom>
          <a:noFill/>
          <a:ln/>
        </p:spPr>
        <p:txBody>
          <a:bodyPr wrap="square" lIns="0" tIns="0" rIns="0" bIns="0" rtlCol="0" anchor="ctr"/>
          <a:lstStyle/>
          <a:p>
            <a:pPr algn="l" indent="0" marL="0">
              <a:buNone/>
            </a:pPr>
            <a:r>
              <a:rPr lang="en-US" sz="1080" b="1" spc="70" kern="0" dirty="0">
                <a:solidFill>
                  <a:srgbClr val="28574A"/>
                </a:solidFill>
                <a:latin typeface="Aptos" pitchFamily="34" charset="0"/>
                <a:ea typeface="Aptos" pitchFamily="34" charset="-122"/>
                <a:cs typeface="Aptos" pitchFamily="34" charset="-120"/>
              </a:rPr>
              <a:t>OUR DESIGN CONTRIBUTION</a:t>
            </a:r>
            <a:endParaRPr lang="en-US" sz="1080" dirty="0"/>
          </a:p>
        </p:txBody>
      </p:sp>
      <p:sp>
        <p:nvSpPr>
          <p:cNvPr id="16" name="Text 14"/>
          <p:cNvSpPr/>
          <p:nvPr/>
        </p:nvSpPr>
        <p:spPr>
          <a:xfrm>
            <a:off x="914400" y="5230368"/>
            <a:ext cx="5120640" cy="365760"/>
          </a:xfrm>
          <a:prstGeom prst="rect">
            <a:avLst/>
          </a:prstGeom>
          <a:noFill/>
          <a:ln/>
        </p:spPr>
        <p:txBody>
          <a:bodyPr wrap="square" lIns="0" tIns="0" rIns="0" bIns="0" rtlCol="0" anchor="ctr">
            <a:normAutofit/>
          </a:bodyPr>
          <a:lstStyle/>
          <a:p>
            <a:pPr algn="l" indent="0" marL="0">
              <a:buNone/>
            </a:pPr>
            <a:r>
              <a:rPr lang="en-US" sz="1650" b="1" dirty="0">
                <a:solidFill>
                  <a:srgbClr val="1D2725"/>
                </a:solidFill>
                <a:latin typeface="Georgia" pitchFamily="34" charset="0"/>
                <a:ea typeface="Georgia" pitchFamily="34" charset="-122"/>
                <a:cs typeface="Georgia" pitchFamily="34" charset="-120"/>
              </a:rPr>
              <a:t>One integrated mobile platform, rather than four disconnected tools.</a:t>
            </a:r>
            <a:endParaRPr lang="en-US" sz="1650" dirty="0"/>
          </a:p>
        </p:txBody>
      </p:sp>
      <p:sp>
        <p:nvSpPr>
          <p:cNvPr id="17" name="Text 15"/>
          <p:cNvSpPr/>
          <p:nvPr/>
        </p:nvSpPr>
        <p:spPr>
          <a:xfrm>
            <a:off x="6793992" y="1691640"/>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FOUR CONNECTED CAPABILITIES</a:t>
            </a:r>
            <a:endParaRPr lang="en-US" sz="1110" dirty="0"/>
          </a:p>
        </p:txBody>
      </p:sp>
      <p:sp>
        <p:nvSpPr>
          <p:cNvPr id="18" name="Shape 16"/>
          <p:cNvSpPr/>
          <p:nvPr/>
        </p:nvSpPr>
        <p:spPr>
          <a:xfrm>
            <a:off x="6720840" y="2048256"/>
            <a:ext cx="4727448" cy="832104"/>
          </a:xfrm>
          <a:prstGeom prst="roundRect">
            <a:avLst>
              <a:gd name="adj" fmla="val 7692"/>
            </a:avLst>
          </a:prstGeom>
          <a:solidFill>
            <a:srgbClr val="F7F9F7"/>
          </a:solidFill>
          <a:ln w="10160">
            <a:solidFill>
              <a:srgbClr val="D8E2DC"/>
            </a:solidFill>
            <a:prstDash val="solid"/>
          </a:ln>
        </p:spPr>
      </p:sp>
      <p:sp>
        <p:nvSpPr>
          <p:cNvPr id="19" name="Shape 17"/>
          <p:cNvSpPr/>
          <p:nvPr/>
        </p:nvSpPr>
        <p:spPr>
          <a:xfrm>
            <a:off x="6867144" y="2203704"/>
            <a:ext cx="502920" cy="502920"/>
          </a:xfrm>
          <a:prstGeom prst="roundRect">
            <a:avLst>
              <a:gd name="adj" fmla="val 14545"/>
            </a:avLst>
          </a:prstGeom>
          <a:solidFill>
            <a:srgbClr val="E9F1ED"/>
          </a:solidFill>
          <a:ln w="12700">
            <a:solidFill>
              <a:srgbClr val="E9F1ED"/>
            </a:solidFill>
            <a:prstDash val="solid"/>
          </a:ln>
        </p:spPr>
      </p:sp>
      <p:sp>
        <p:nvSpPr>
          <p:cNvPr id="20" name="Text 18"/>
          <p:cNvSpPr/>
          <p:nvPr/>
        </p:nvSpPr>
        <p:spPr>
          <a:xfrm>
            <a:off x="6903720" y="2286000"/>
            <a:ext cx="420624" cy="182880"/>
          </a:xfrm>
          <a:prstGeom prst="rect">
            <a:avLst/>
          </a:prstGeom>
          <a:noFill/>
          <a:ln/>
        </p:spPr>
        <p:txBody>
          <a:bodyPr wrap="square" lIns="0" tIns="0" rIns="0" bIns="0" rtlCol="0" anchor="ctr"/>
          <a:lstStyle/>
          <a:p>
            <a:pPr algn="ctr" indent="0" marL="0">
              <a:buNone/>
            </a:pPr>
            <a:r>
              <a:rPr lang="en-US" sz="1230" b="1" dirty="0">
                <a:solidFill>
                  <a:srgbClr val="28574A"/>
                </a:solidFill>
                <a:latin typeface="Aptos" pitchFamily="34" charset="0"/>
                <a:ea typeface="Aptos" pitchFamily="34" charset="-122"/>
                <a:cs typeface="Aptos" pitchFamily="34" charset="-120"/>
              </a:rPr>
              <a:t>01</a:t>
            </a:r>
            <a:endParaRPr lang="en-US" sz="1230" dirty="0"/>
          </a:p>
        </p:txBody>
      </p:sp>
      <p:sp>
        <p:nvSpPr>
          <p:cNvPr id="21" name="Text 19"/>
          <p:cNvSpPr/>
          <p:nvPr/>
        </p:nvSpPr>
        <p:spPr>
          <a:xfrm>
            <a:off x="7516368" y="2185416"/>
            <a:ext cx="3675888" cy="192024"/>
          </a:xfrm>
          <a:prstGeom prst="rect">
            <a:avLst/>
          </a:prstGeom>
          <a:noFill/>
          <a:ln/>
        </p:spPr>
        <p:txBody>
          <a:bodyPr wrap="square" lIns="0" tIns="0" rIns="0" bIns="0" rtlCol="0" anchor="ctr"/>
          <a:lstStyle/>
          <a:p>
            <a:pPr algn="l" indent="0" marL="0">
              <a:buNone/>
            </a:pPr>
            <a:r>
              <a:rPr lang="en-US" sz="1410" b="1" dirty="0">
                <a:solidFill>
                  <a:srgbClr val="1D2725"/>
                </a:solidFill>
                <a:latin typeface="Aptos" pitchFamily="34" charset="0"/>
                <a:ea typeface="Aptos" pitchFamily="34" charset="-122"/>
                <a:cs typeface="Aptos" pitchFamily="34" charset="-120"/>
              </a:rPr>
              <a:t>PLANT IDENTIFICATION</a:t>
            </a:r>
            <a:endParaRPr lang="en-US" sz="1410" dirty="0"/>
          </a:p>
        </p:txBody>
      </p:sp>
      <p:sp>
        <p:nvSpPr>
          <p:cNvPr id="22" name="Text 20"/>
          <p:cNvSpPr/>
          <p:nvPr/>
        </p:nvSpPr>
        <p:spPr>
          <a:xfrm>
            <a:off x="7516368" y="2459736"/>
            <a:ext cx="3685032" cy="192024"/>
          </a:xfrm>
          <a:prstGeom prst="rect">
            <a:avLst/>
          </a:prstGeom>
          <a:noFill/>
          <a:ln/>
        </p:spPr>
        <p:txBody>
          <a:bodyPr wrap="square" lIns="0" tIns="0" rIns="0" bIns="0" rtlCol="0" anchor="ctr"/>
          <a:lstStyle/>
          <a:p>
            <a:pPr algn="l" indent="0" marL="0">
              <a:buNone/>
            </a:pPr>
            <a:r>
              <a:rPr lang="en-US" sz="1270" dirty="0">
                <a:solidFill>
                  <a:srgbClr val="60716C"/>
                </a:solidFill>
                <a:latin typeface="Aptos" pitchFamily="34" charset="0"/>
                <a:ea typeface="Aptos" pitchFamily="34" charset="-122"/>
                <a:cs typeface="Aptos" pitchFamily="34" charset="-120"/>
              </a:rPr>
              <a:t>Image-based recognition</a:t>
            </a:r>
            <a:endParaRPr lang="en-US" sz="1270" dirty="0"/>
          </a:p>
        </p:txBody>
      </p:sp>
      <p:sp>
        <p:nvSpPr>
          <p:cNvPr id="23" name="Shape 21"/>
          <p:cNvSpPr/>
          <p:nvPr/>
        </p:nvSpPr>
        <p:spPr>
          <a:xfrm>
            <a:off x="6720840" y="3017520"/>
            <a:ext cx="4727448" cy="832104"/>
          </a:xfrm>
          <a:prstGeom prst="roundRect">
            <a:avLst>
              <a:gd name="adj" fmla="val 7692"/>
            </a:avLst>
          </a:prstGeom>
          <a:solidFill>
            <a:srgbClr val="FFFFFF"/>
          </a:solidFill>
          <a:ln w="10160">
            <a:solidFill>
              <a:srgbClr val="D8E2DC"/>
            </a:solidFill>
            <a:prstDash val="solid"/>
          </a:ln>
        </p:spPr>
      </p:sp>
      <p:sp>
        <p:nvSpPr>
          <p:cNvPr id="24" name="Shape 22"/>
          <p:cNvSpPr/>
          <p:nvPr/>
        </p:nvSpPr>
        <p:spPr>
          <a:xfrm>
            <a:off x="6867144" y="3172968"/>
            <a:ext cx="502920" cy="502920"/>
          </a:xfrm>
          <a:prstGeom prst="roundRect">
            <a:avLst>
              <a:gd name="adj" fmla="val 14545"/>
            </a:avLst>
          </a:prstGeom>
          <a:solidFill>
            <a:srgbClr val="E9F1ED"/>
          </a:solidFill>
          <a:ln w="12700">
            <a:solidFill>
              <a:srgbClr val="E9F1ED"/>
            </a:solidFill>
            <a:prstDash val="solid"/>
          </a:ln>
        </p:spPr>
      </p:sp>
      <p:sp>
        <p:nvSpPr>
          <p:cNvPr id="25" name="Text 23"/>
          <p:cNvSpPr/>
          <p:nvPr/>
        </p:nvSpPr>
        <p:spPr>
          <a:xfrm>
            <a:off x="6903720" y="3255264"/>
            <a:ext cx="420624" cy="182880"/>
          </a:xfrm>
          <a:prstGeom prst="rect">
            <a:avLst/>
          </a:prstGeom>
          <a:noFill/>
          <a:ln/>
        </p:spPr>
        <p:txBody>
          <a:bodyPr wrap="square" lIns="0" tIns="0" rIns="0" bIns="0" rtlCol="0" anchor="ctr"/>
          <a:lstStyle/>
          <a:p>
            <a:pPr algn="ctr" indent="0" marL="0">
              <a:buNone/>
            </a:pPr>
            <a:r>
              <a:rPr lang="en-US" sz="1230" b="1" dirty="0">
                <a:solidFill>
                  <a:srgbClr val="28574A"/>
                </a:solidFill>
                <a:latin typeface="Aptos" pitchFamily="34" charset="0"/>
                <a:ea typeface="Aptos" pitchFamily="34" charset="-122"/>
                <a:cs typeface="Aptos" pitchFamily="34" charset="-120"/>
              </a:rPr>
              <a:t>02</a:t>
            </a:r>
            <a:endParaRPr lang="en-US" sz="1230" dirty="0"/>
          </a:p>
        </p:txBody>
      </p:sp>
      <p:sp>
        <p:nvSpPr>
          <p:cNvPr id="26" name="Text 24"/>
          <p:cNvSpPr/>
          <p:nvPr/>
        </p:nvSpPr>
        <p:spPr>
          <a:xfrm>
            <a:off x="7516368" y="3154680"/>
            <a:ext cx="3675888" cy="192024"/>
          </a:xfrm>
          <a:prstGeom prst="rect">
            <a:avLst/>
          </a:prstGeom>
          <a:noFill/>
          <a:ln/>
        </p:spPr>
        <p:txBody>
          <a:bodyPr wrap="square" lIns="0" tIns="0" rIns="0" bIns="0" rtlCol="0" anchor="ctr"/>
          <a:lstStyle/>
          <a:p>
            <a:pPr algn="l" indent="0" marL="0">
              <a:buNone/>
            </a:pPr>
            <a:r>
              <a:rPr lang="en-US" sz="1410" b="1" dirty="0">
                <a:solidFill>
                  <a:srgbClr val="1D2725"/>
                </a:solidFill>
                <a:latin typeface="Aptos" pitchFamily="34" charset="0"/>
                <a:ea typeface="Aptos" pitchFamily="34" charset="-122"/>
                <a:cs typeface="Aptos" pitchFamily="34" charset="-120"/>
              </a:rPr>
              <a:t>HERBAL AI ASSISTANT</a:t>
            </a:r>
            <a:endParaRPr lang="en-US" sz="1410" dirty="0"/>
          </a:p>
        </p:txBody>
      </p:sp>
      <p:sp>
        <p:nvSpPr>
          <p:cNvPr id="27" name="Text 25"/>
          <p:cNvSpPr/>
          <p:nvPr/>
        </p:nvSpPr>
        <p:spPr>
          <a:xfrm>
            <a:off x="7516368" y="3429000"/>
            <a:ext cx="3685032" cy="192024"/>
          </a:xfrm>
          <a:prstGeom prst="rect">
            <a:avLst/>
          </a:prstGeom>
          <a:noFill/>
          <a:ln/>
        </p:spPr>
        <p:txBody>
          <a:bodyPr wrap="square" lIns="0" tIns="0" rIns="0" bIns="0" rtlCol="0" anchor="ctr"/>
          <a:lstStyle/>
          <a:p>
            <a:pPr algn="l" indent="0" marL="0">
              <a:buNone/>
            </a:pPr>
            <a:r>
              <a:rPr lang="en-US" sz="1270" dirty="0">
                <a:solidFill>
                  <a:srgbClr val="60716C"/>
                </a:solidFill>
                <a:latin typeface="Aptos" pitchFamily="34" charset="0"/>
                <a:ea typeface="Aptos" pitchFamily="34" charset="-122"/>
                <a:cs typeface="Aptos" pitchFamily="34" charset="-120"/>
              </a:rPr>
              <a:t>Sinhala / English RAG</a:t>
            </a:r>
            <a:endParaRPr lang="en-US" sz="1270" dirty="0"/>
          </a:p>
        </p:txBody>
      </p:sp>
      <p:sp>
        <p:nvSpPr>
          <p:cNvPr id="28" name="Shape 26"/>
          <p:cNvSpPr/>
          <p:nvPr/>
        </p:nvSpPr>
        <p:spPr>
          <a:xfrm>
            <a:off x="6720840" y="3986784"/>
            <a:ext cx="4727448" cy="832104"/>
          </a:xfrm>
          <a:prstGeom prst="roundRect">
            <a:avLst>
              <a:gd name="adj" fmla="val 7692"/>
            </a:avLst>
          </a:prstGeom>
          <a:solidFill>
            <a:srgbClr val="F7F9F7"/>
          </a:solidFill>
          <a:ln w="10160">
            <a:solidFill>
              <a:srgbClr val="D8E2DC"/>
            </a:solidFill>
            <a:prstDash val="solid"/>
          </a:ln>
        </p:spPr>
      </p:sp>
      <p:sp>
        <p:nvSpPr>
          <p:cNvPr id="29" name="Shape 27"/>
          <p:cNvSpPr/>
          <p:nvPr/>
        </p:nvSpPr>
        <p:spPr>
          <a:xfrm>
            <a:off x="6867144" y="4142232"/>
            <a:ext cx="502920" cy="502920"/>
          </a:xfrm>
          <a:prstGeom prst="roundRect">
            <a:avLst>
              <a:gd name="adj" fmla="val 14545"/>
            </a:avLst>
          </a:prstGeom>
          <a:solidFill>
            <a:srgbClr val="E9F1ED"/>
          </a:solidFill>
          <a:ln w="12700">
            <a:solidFill>
              <a:srgbClr val="E9F1ED"/>
            </a:solidFill>
            <a:prstDash val="solid"/>
          </a:ln>
        </p:spPr>
      </p:sp>
      <p:sp>
        <p:nvSpPr>
          <p:cNvPr id="30" name="Text 28"/>
          <p:cNvSpPr/>
          <p:nvPr/>
        </p:nvSpPr>
        <p:spPr>
          <a:xfrm>
            <a:off x="6903720" y="4224528"/>
            <a:ext cx="420624" cy="182880"/>
          </a:xfrm>
          <a:prstGeom prst="rect">
            <a:avLst/>
          </a:prstGeom>
          <a:noFill/>
          <a:ln/>
        </p:spPr>
        <p:txBody>
          <a:bodyPr wrap="square" lIns="0" tIns="0" rIns="0" bIns="0" rtlCol="0" anchor="ctr"/>
          <a:lstStyle/>
          <a:p>
            <a:pPr algn="ctr" indent="0" marL="0">
              <a:buNone/>
            </a:pPr>
            <a:r>
              <a:rPr lang="en-US" sz="1230" b="1" dirty="0">
                <a:solidFill>
                  <a:srgbClr val="28574A"/>
                </a:solidFill>
                <a:latin typeface="Aptos" pitchFamily="34" charset="0"/>
                <a:ea typeface="Aptos" pitchFamily="34" charset="-122"/>
                <a:cs typeface="Aptos" pitchFamily="34" charset="-120"/>
              </a:rPr>
              <a:t>03</a:t>
            </a:r>
            <a:endParaRPr lang="en-US" sz="1230" dirty="0"/>
          </a:p>
        </p:txBody>
      </p:sp>
      <p:sp>
        <p:nvSpPr>
          <p:cNvPr id="31" name="Text 29"/>
          <p:cNvSpPr/>
          <p:nvPr/>
        </p:nvSpPr>
        <p:spPr>
          <a:xfrm>
            <a:off x="7516368" y="4123944"/>
            <a:ext cx="3675888" cy="192024"/>
          </a:xfrm>
          <a:prstGeom prst="rect">
            <a:avLst/>
          </a:prstGeom>
          <a:noFill/>
          <a:ln/>
        </p:spPr>
        <p:txBody>
          <a:bodyPr wrap="square" lIns="0" tIns="0" rIns="0" bIns="0" rtlCol="0" anchor="ctr"/>
          <a:lstStyle/>
          <a:p>
            <a:pPr algn="l" indent="0" marL="0">
              <a:buNone/>
            </a:pPr>
            <a:r>
              <a:rPr lang="en-US" sz="1410" b="1" dirty="0">
                <a:solidFill>
                  <a:srgbClr val="1D2725"/>
                </a:solidFill>
                <a:latin typeface="Aptos" pitchFamily="34" charset="0"/>
                <a:ea typeface="Aptos" pitchFamily="34" charset="-122"/>
                <a:cs typeface="Aptos" pitchFamily="34" charset="-120"/>
              </a:rPr>
              <a:t>CULTIVATION SUPPORT</a:t>
            </a:r>
            <a:endParaRPr lang="en-US" sz="1410" dirty="0"/>
          </a:p>
        </p:txBody>
      </p:sp>
      <p:sp>
        <p:nvSpPr>
          <p:cNvPr id="32" name="Text 30"/>
          <p:cNvSpPr/>
          <p:nvPr/>
        </p:nvSpPr>
        <p:spPr>
          <a:xfrm>
            <a:off x="7516368" y="4398264"/>
            <a:ext cx="3685032" cy="192024"/>
          </a:xfrm>
          <a:prstGeom prst="rect">
            <a:avLst/>
          </a:prstGeom>
          <a:noFill/>
          <a:ln/>
        </p:spPr>
        <p:txBody>
          <a:bodyPr wrap="square" lIns="0" tIns="0" rIns="0" bIns="0" rtlCol="0" anchor="ctr"/>
          <a:lstStyle/>
          <a:p>
            <a:pPr algn="l" indent="0" marL="0">
              <a:buNone/>
            </a:pPr>
            <a:r>
              <a:rPr lang="en-US" sz="1270" dirty="0">
                <a:solidFill>
                  <a:srgbClr val="60716C"/>
                </a:solidFill>
                <a:latin typeface="Aptos" pitchFamily="34" charset="0"/>
                <a:ea typeface="Aptos" pitchFamily="34" charset="-122"/>
                <a:cs typeface="Aptos" pitchFamily="34" charset="-120"/>
              </a:rPr>
              <a:t>Soil, weather &amp; market context</a:t>
            </a:r>
            <a:endParaRPr lang="en-US" sz="1270" dirty="0"/>
          </a:p>
        </p:txBody>
      </p:sp>
      <p:sp>
        <p:nvSpPr>
          <p:cNvPr id="33" name="Shape 31"/>
          <p:cNvSpPr/>
          <p:nvPr/>
        </p:nvSpPr>
        <p:spPr>
          <a:xfrm>
            <a:off x="6720840" y="4956048"/>
            <a:ext cx="4727448" cy="832104"/>
          </a:xfrm>
          <a:prstGeom prst="roundRect">
            <a:avLst>
              <a:gd name="adj" fmla="val 7692"/>
            </a:avLst>
          </a:prstGeom>
          <a:solidFill>
            <a:srgbClr val="FFFFFF"/>
          </a:solidFill>
          <a:ln w="10160">
            <a:solidFill>
              <a:srgbClr val="D8E2DC"/>
            </a:solidFill>
            <a:prstDash val="solid"/>
          </a:ln>
        </p:spPr>
      </p:sp>
      <p:sp>
        <p:nvSpPr>
          <p:cNvPr id="34" name="Shape 32"/>
          <p:cNvSpPr/>
          <p:nvPr/>
        </p:nvSpPr>
        <p:spPr>
          <a:xfrm>
            <a:off x="6867144" y="5111496"/>
            <a:ext cx="502920" cy="502920"/>
          </a:xfrm>
          <a:prstGeom prst="roundRect">
            <a:avLst>
              <a:gd name="adj" fmla="val 14545"/>
            </a:avLst>
          </a:prstGeom>
          <a:solidFill>
            <a:srgbClr val="E9F1ED"/>
          </a:solidFill>
          <a:ln w="12700">
            <a:solidFill>
              <a:srgbClr val="E9F1ED"/>
            </a:solidFill>
            <a:prstDash val="solid"/>
          </a:ln>
        </p:spPr>
      </p:sp>
      <p:sp>
        <p:nvSpPr>
          <p:cNvPr id="35" name="Text 33"/>
          <p:cNvSpPr/>
          <p:nvPr/>
        </p:nvSpPr>
        <p:spPr>
          <a:xfrm>
            <a:off x="6903720" y="5193792"/>
            <a:ext cx="420624" cy="182880"/>
          </a:xfrm>
          <a:prstGeom prst="rect">
            <a:avLst/>
          </a:prstGeom>
          <a:noFill/>
          <a:ln/>
        </p:spPr>
        <p:txBody>
          <a:bodyPr wrap="square" lIns="0" tIns="0" rIns="0" bIns="0" rtlCol="0" anchor="ctr"/>
          <a:lstStyle/>
          <a:p>
            <a:pPr algn="ctr" indent="0" marL="0">
              <a:buNone/>
            </a:pPr>
            <a:r>
              <a:rPr lang="en-US" sz="1230" b="1" dirty="0">
                <a:solidFill>
                  <a:srgbClr val="28574A"/>
                </a:solidFill>
                <a:latin typeface="Aptos" pitchFamily="34" charset="0"/>
                <a:ea typeface="Aptos" pitchFamily="34" charset="-122"/>
                <a:cs typeface="Aptos" pitchFamily="34" charset="-120"/>
              </a:rPr>
              <a:t>04</a:t>
            </a:r>
            <a:endParaRPr lang="en-US" sz="1230" dirty="0"/>
          </a:p>
        </p:txBody>
      </p:sp>
      <p:sp>
        <p:nvSpPr>
          <p:cNvPr id="36" name="Text 34"/>
          <p:cNvSpPr/>
          <p:nvPr/>
        </p:nvSpPr>
        <p:spPr>
          <a:xfrm>
            <a:off x="7516368" y="5093208"/>
            <a:ext cx="3675888" cy="192024"/>
          </a:xfrm>
          <a:prstGeom prst="rect">
            <a:avLst/>
          </a:prstGeom>
          <a:noFill/>
          <a:ln/>
        </p:spPr>
        <p:txBody>
          <a:bodyPr wrap="square" lIns="0" tIns="0" rIns="0" bIns="0" rtlCol="0" anchor="ctr"/>
          <a:lstStyle/>
          <a:p>
            <a:pPr algn="l" indent="0" marL="0">
              <a:buNone/>
            </a:pPr>
            <a:r>
              <a:rPr lang="en-US" sz="1410" b="1" dirty="0">
                <a:solidFill>
                  <a:srgbClr val="1D2725"/>
                </a:solidFill>
                <a:latin typeface="Aptos" pitchFamily="34" charset="0"/>
                <a:ea typeface="Aptos" pitchFamily="34" charset="-122"/>
                <a:cs typeface="Aptos" pitchFamily="34" charset="-120"/>
              </a:rPr>
              <a:t>QUALITY ASSESSMENT</a:t>
            </a:r>
            <a:endParaRPr lang="en-US" sz="1410" dirty="0"/>
          </a:p>
        </p:txBody>
      </p:sp>
      <p:sp>
        <p:nvSpPr>
          <p:cNvPr id="37" name="Text 35"/>
          <p:cNvSpPr/>
          <p:nvPr/>
        </p:nvSpPr>
        <p:spPr>
          <a:xfrm>
            <a:off x="7516368" y="5367528"/>
            <a:ext cx="3685032" cy="192024"/>
          </a:xfrm>
          <a:prstGeom prst="rect">
            <a:avLst/>
          </a:prstGeom>
          <a:noFill/>
          <a:ln/>
        </p:spPr>
        <p:txBody>
          <a:bodyPr wrap="square" lIns="0" tIns="0" rIns="0" bIns="0" rtlCol="0" anchor="ctr"/>
          <a:lstStyle/>
          <a:p>
            <a:pPr algn="l" indent="0" marL="0">
              <a:buNone/>
            </a:pPr>
            <a:r>
              <a:rPr lang="en-US" sz="1270" dirty="0">
                <a:solidFill>
                  <a:srgbClr val="60716C"/>
                </a:solidFill>
                <a:latin typeface="Aptos" pitchFamily="34" charset="0"/>
                <a:ea typeface="Aptos" pitchFamily="34" charset="-122"/>
                <a:cs typeface="Aptos" pitchFamily="34" charset="-120"/>
              </a:rPr>
              <a:t>Classification + Grad-CAM</a:t>
            </a:r>
            <a:endParaRPr lang="en-US" sz="1270" dirty="0"/>
          </a:p>
        </p:txBody>
      </p:sp>
      <p:sp>
        <p:nvSpPr>
          <p:cNvPr id="38" name="Text 36"/>
          <p:cNvSpPr/>
          <p:nvPr/>
        </p:nvSpPr>
        <p:spPr>
          <a:xfrm>
            <a:off x="6748272" y="6007608"/>
            <a:ext cx="4700016" cy="201168"/>
          </a:xfrm>
          <a:prstGeom prst="rect">
            <a:avLst/>
          </a:prstGeom>
          <a:noFill/>
          <a:ln/>
        </p:spPr>
        <p:txBody>
          <a:bodyPr wrap="square" lIns="0" tIns="0" rIns="0" bIns="0" rtlCol="0" anchor="ctr">
            <a:normAutofit/>
          </a:bodyPr>
          <a:lstStyle/>
          <a:p>
            <a:pPr algn="ctr" indent="0" marL="0">
              <a:buNone/>
            </a:pPr>
            <a:r>
              <a:rPr lang="en-US" sz="1040" i="1" dirty="0">
                <a:solidFill>
                  <a:srgbClr val="28574A"/>
                </a:solidFill>
                <a:latin typeface="Aptos" pitchFamily="34" charset="0"/>
                <a:ea typeface="Aptos" pitchFamily="34" charset="-122"/>
                <a:cs typeface="Aptos" pitchFamily="34" charset="-120"/>
              </a:rPr>
              <a:t>Integration example: Quality Assessment  →  Learn More  →  Herbal AI Assistant</a:t>
            </a:r>
            <a:endParaRPr lang="en-US" sz="1040" dirty="0"/>
          </a:p>
        </p:txBody>
      </p:sp>
      <p:sp>
        <p:nvSpPr>
          <p:cNvPr id="39" name="Shape 37"/>
          <p:cNvSpPr/>
          <p:nvPr/>
        </p:nvSpPr>
        <p:spPr>
          <a:xfrm>
            <a:off x="484632" y="6281928"/>
            <a:ext cx="11247120" cy="0"/>
          </a:xfrm>
          <a:prstGeom prst="line">
            <a:avLst/>
          </a:prstGeom>
          <a:noFill/>
          <a:ln w="9525">
            <a:solidFill>
              <a:srgbClr val="D8E2DC"/>
            </a:solidFill>
            <a:prstDash val="solid"/>
          </a:ln>
        </p:spPr>
      </p:sp>
      <p:pic>
        <p:nvPicPr>
          <p:cNvPr id="40" name="Image 0" descr="/mnt/data/proposal_assets/logo.png">    </p:cNvPr>
          <p:cNvPicPr>
            <a:picLocks noChangeAspect="1"/>
          </p:cNvPicPr>
          <p:nvPr/>
        </p:nvPicPr>
        <p:blipFill>
          <a:blip r:embed="rId1"/>
          <a:stretch>
            <a:fillRect/>
          </a:stretch>
        </p:blipFill>
        <p:spPr>
          <a:xfrm>
            <a:off x="548640" y="6336792"/>
            <a:ext cx="320040" cy="274320"/>
          </a:xfrm>
          <a:prstGeom prst="rect">
            <a:avLst/>
          </a:prstGeom>
        </p:spPr>
      </p:pic>
      <p:sp>
        <p:nvSpPr>
          <p:cNvPr id="41" name="Text 38"/>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42" name="Text 39"/>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43" name="Text 40"/>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R-26-IT-021</a:t>
            </a:r>
            <a:endParaRPr lang="en-US" sz="820" dirty="0"/>
          </a:p>
        </p:txBody>
      </p:sp>
      <p:sp>
        <p:nvSpPr>
          <p:cNvPr id="44" name="Text 41"/>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45" name="Text 42"/>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2</a:t>
            </a:r>
            <a:endParaRPr lang="en-US" sz="8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 y="292608"/>
            <a:ext cx="10808208" cy="228600"/>
          </a:xfrm>
          <a:prstGeom prst="rect">
            <a:avLst/>
          </a:prstGeom>
          <a:noFill/>
          <a:ln/>
        </p:spPr>
        <p:txBody>
          <a:bodyPr wrap="square" lIns="0" tIns="0" rIns="0" bIns="0" rtlCol="0" anchor="ctr"/>
          <a:lstStyle/>
          <a:p>
            <a:pPr algn="ctr" indent="0" marL="0">
              <a:buNone/>
            </a:pPr>
            <a:r>
              <a:rPr lang="en-US" sz="1080" b="1" spc="150" kern="0" dirty="0">
                <a:solidFill>
                  <a:srgbClr val="28574A"/>
                </a:solidFill>
                <a:latin typeface="Aptos" pitchFamily="34" charset="0"/>
                <a:ea typeface="Aptos" pitchFamily="34" charset="-122"/>
                <a:cs typeface="Aptos" pitchFamily="34" charset="-120"/>
              </a:rPr>
              <a:t>COMPONENT 01 / 04</a:t>
            </a:r>
            <a:endParaRPr lang="en-US" sz="1080" dirty="0"/>
          </a:p>
        </p:txBody>
      </p:sp>
      <p:sp>
        <p:nvSpPr>
          <p:cNvPr id="3" name="Text 1"/>
          <p:cNvSpPr/>
          <p:nvPr/>
        </p:nvSpPr>
        <p:spPr>
          <a:xfrm>
            <a:off x="658368" y="612648"/>
            <a:ext cx="10863072" cy="630936"/>
          </a:xfrm>
          <a:prstGeom prst="rect">
            <a:avLst/>
          </a:prstGeom>
          <a:noFill/>
          <a:ln/>
        </p:spPr>
        <p:txBody>
          <a:bodyPr wrap="square" lIns="0" tIns="0" rIns="0" bIns="0" rtlCol="0" anchor="ctr">
            <a:normAutofit/>
          </a:bodyPr>
          <a:lstStyle/>
          <a:p>
            <a:pPr algn="ctr" indent="0" marL="0">
              <a:buNone/>
            </a:pPr>
            <a:r>
              <a:rPr lang="en-US" sz="2550" b="1" dirty="0">
                <a:solidFill>
                  <a:srgbClr val="1D2725"/>
                </a:solidFill>
                <a:latin typeface="Georgia" pitchFamily="34" charset="0"/>
                <a:ea typeface="Georgia" pitchFamily="34" charset="-122"/>
                <a:cs typeface="Georgia" pitchFamily="34" charset="-120"/>
              </a:rPr>
              <a:t>Mobile-Based Medicinal Plant Identification</a:t>
            </a:r>
            <a:endParaRPr lang="en-US" sz="2550" dirty="0"/>
          </a:p>
        </p:txBody>
      </p:sp>
      <p:sp>
        <p:nvSpPr>
          <p:cNvPr id="4" name="Shape 2"/>
          <p:cNvSpPr/>
          <p:nvPr/>
        </p:nvSpPr>
        <p:spPr>
          <a:xfrm>
            <a:off x="4462272" y="1325880"/>
            <a:ext cx="3264408" cy="0"/>
          </a:xfrm>
          <a:prstGeom prst="line">
            <a:avLst/>
          </a:prstGeom>
          <a:noFill/>
          <a:ln w="16510">
            <a:solidFill>
              <a:srgbClr val="BBD5C5"/>
            </a:solidFill>
            <a:prstDash val="solid"/>
          </a:ln>
        </p:spPr>
      </p:sp>
      <p:sp>
        <p:nvSpPr>
          <p:cNvPr id="5" name="Shape 3"/>
          <p:cNvSpPr/>
          <p:nvPr/>
        </p:nvSpPr>
        <p:spPr>
          <a:xfrm>
            <a:off x="9637776" y="1362456"/>
            <a:ext cx="1399032" cy="1399032"/>
          </a:xfrm>
          <a:prstGeom prst="ellipse">
            <a:avLst/>
          </a:prstGeom>
          <a:solidFill>
            <a:srgbClr val="FFFFFF"/>
          </a:solidFill>
          <a:ln w="26670">
            <a:solidFill>
              <a:srgbClr val="E9F1ED"/>
            </a:solidFill>
            <a:prstDash val="solid"/>
          </a:ln>
        </p:spPr>
      </p:sp>
      <p:pic>
        <p:nvPicPr>
          <p:cNvPr id="6" name="Image 0" descr="/mnt/data/proposal_assets/identification_circle.png">    </p:cNvPr>
          <p:cNvPicPr>
            <a:picLocks noChangeAspect="1"/>
          </p:cNvPicPr>
          <p:nvPr/>
        </p:nvPicPr>
        <p:blipFill>
          <a:blip r:embed="rId1"/>
          <a:stretch>
            <a:fillRect/>
          </a:stretch>
        </p:blipFill>
        <p:spPr>
          <a:xfrm>
            <a:off x="9701784" y="1426464"/>
            <a:ext cx="1271016" cy="1271016"/>
          </a:xfrm>
          <a:prstGeom prst="rect">
            <a:avLst/>
          </a:prstGeom>
        </p:spPr>
      </p:pic>
      <p:sp>
        <p:nvSpPr>
          <p:cNvPr id="7" name="Text 4"/>
          <p:cNvSpPr/>
          <p:nvPr/>
        </p:nvSpPr>
        <p:spPr>
          <a:xfrm>
            <a:off x="8567928" y="2811780"/>
            <a:ext cx="3474720" cy="256032"/>
          </a:xfrm>
          <a:prstGeom prst="rect">
            <a:avLst/>
          </a:prstGeom>
          <a:noFill/>
          <a:ln/>
        </p:spPr>
        <p:txBody>
          <a:bodyPr wrap="square" lIns="0" tIns="0" rIns="0" bIns="0" rtlCol="0" anchor="ctr">
            <a:normAutofit/>
          </a:bodyPr>
          <a:lstStyle/>
          <a:p>
            <a:pPr algn="ctr" indent="0" marL="0">
              <a:buNone/>
            </a:pPr>
            <a:r>
              <a:rPr lang="en-US" sz="1250" b="1" dirty="0">
                <a:solidFill>
                  <a:srgbClr val="1D2725"/>
                </a:solidFill>
                <a:latin typeface="Georgia" pitchFamily="34" charset="0"/>
                <a:ea typeface="Georgia" pitchFamily="34" charset="-122"/>
                <a:cs typeface="Georgia" pitchFamily="34" charset="-120"/>
              </a:rPr>
              <a:t>H D SACHINTHA</a:t>
            </a:r>
            <a:endParaRPr lang="en-US" sz="1250" dirty="0"/>
          </a:p>
        </p:txBody>
      </p:sp>
      <p:sp>
        <p:nvSpPr>
          <p:cNvPr id="8" name="Text 5"/>
          <p:cNvSpPr/>
          <p:nvPr/>
        </p:nvSpPr>
        <p:spPr>
          <a:xfrm>
            <a:off x="8915400" y="3099816"/>
            <a:ext cx="2779776" cy="210312"/>
          </a:xfrm>
          <a:prstGeom prst="rect">
            <a:avLst/>
          </a:prstGeom>
          <a:noFill/>
          <a:ln/>
        </p:spPr>
        <p:txBody>
          <a:bodyPr wrap="square" lIns="0" tIns="0" rIns="0" bIns="0" rtlCol="0" anchor="ctr"/>
          <a:lstStyle/>
          <a:p>
            <a:pPr algn="ctr" indent="0" marL="0">
              <a:buNone/>
            </a:pPr>
            <a:r>
              <a:rPr lang="en-US" sz="1080" b="1" dirty="0">
                <a:solidFill>
                  <a:srgbClr val="28574A"/>
                </a:solidFill>
                <a:latin typeface="Aptos" pitchFamily="34" charset="0"/>
                <a:ea typeface="Aptos" pitchFamily="34" charset="-122"/>
                <a:cs typeface="Aptos" pitchFamily="34" charset="-120"/>
              </a:rPr>
              <a:t>IT22168986</a:t>
            </a:r>
            <a:endParaRPr lang="en-US" sz="1080" dirty="0"/>
          </a:p>
        </p:txBody>
      </p:sp>
      <p:sp>
        <p:nvSpPr>
          <p:cNvPr id="9" name="Shape 6"/>
          <p:cNvSpPr/>
          <p:nvPr/>
        </p:nvSpPr>
        <p:spPr>
          <a:xfrm>
            <a:off x="9125712" y="3474720"/>
            <a:ext cx="2414016" cy="2487168"/>
          </a:xfrm>
          <a:prstGeom prst="roundRect">
            <a:avLst>
              <a:gd name="adj" fmla="val 6818"/>
            </a:avLst>
          </a:prstGeom>
          <a:solidFill>
            <a:srgbClr val="FFFFFF"/>
          </a:solidFill>
          <a:ln w="15240">
            <a:solidFill>
              <a:srgbClr val="D8E2DC"/>
            </a:solidFill>
            <a:prstDash val="solid"/>
          </a:ln>
        </p:spPr>
      </p:sp>
      <p:sp>
        <p:nvSpPr>
          <p:cNvPr id="10" name="Shape 7"/>
          <p:cNvSpPr/>
          <p:nvPr/>
        </p:nvSpPr>
        <p:spPr>
          <a:xfrm>
            <a:off x="10058400" y="3584448"/>
            <a:ext cx="576072" cy="0"/>
          </a:xfrm>
          <a:prstGeom prst="line">
            <a:avLst/>
          </a:prstGeom>
          <a:noFill/>
          <a:ln w="19050">
            <a:solidFill>
              <a:srgbClr val="60716C"/>
            </a:solidFill>
            <a:prstDash val="solid"/>
          </a:ln>
        </p:spPr>
      </p:sp>
      <p:sp>
        <p:nvSpPr>
          <p:cNvPr id="11" name="Text 8"/>
          <p:cNvSpPr/>
          <p:nvPr/>
        </p:nvSpPr>
        <p:spPr>
          <a:xfrm>
            <a:off x="9290304" y="3840480"/>
            <a:ext cx="2084832" cy="274320"/>
          </a:xfrm>
          <a:prstGeom prst="rect">
            <a:avLst/>
          </a:prstGeom>
          <a:noFill/>
          <a:ln/>
        </p:spPr>
        <p:txBody>
          <a:bodyPr wrap="square" lIns="0" tIns="0" rIns="0" bIns="0" rtlCol="0" anchor="ctr">
            <a:normAutofit/>
          </a:bodyPr>
          <a:lstStyle/>
          <a:p>
            <a:pPr algn="ctr" indent="0" marL="0">
              <a:buNone/>
            </a:pPr>
            <a:r>
              <a:rPr lang="en-US" sz="1040" b="1" dirty="0">
                <a:solidFill>
                  <a:srgbClr val="28574A"/>
                </a:solidFill>
                <a:latin typeface="Aptos" pitchFamily="34" charset="0"/>
                <a:ea typeface="Aptos" pitchFamily="34" charset="-122"/>
                <a:cs typeface="Aptos" pitchFamily="34" charset="-120"/>
              </a:rPr>
              <a:t>IDENTIFICATION</a:t>
            </a:r>
            <a:endParaRPr lang="en-US" sz="1040" dirty="0"/>
          </a:p>
        </p:txBody>
      </p:sp>
      <p:sp>
        <p:nvSpPr>
          <p:cNvPr id="12" name="Shape 9"/>
          <p:cNvSpPr/>
          <p:nvPr/>
        </p:nvSpPr>
        <p:spPr>
          <a:xfrm>
            <a:off x="9381744" y="4251960"/>
            <a:ext cx="1901952" cy="914400"/>
          </a:xfrm>
          <a:prstGeom prst="roundRect">
            <a:avLst>
              <a:gd name="adj" fmla="val 6000"/>
            </a:avLst>
          </a:prstGeom>
          <a:solidFill>
            <a:srgbClr val="F7F9F7"/>
          </a:solidFill>
          <a:ln w="12700">
            <a:solidFill>
              <a:srgbClr val="F7F9F7"/>
            </a:solidFill>
            <a:prstDash val="solid"/>
          </a:ln>
        </p:spPr>
      </p:sp>
      <p:sp>
        <p:nvSpPr>
          <p:cNvPr id="13" name="Shape 10"/>
          <p:cNvSpPr/>
          <p:nvPr/>
        </p:nvSpPr>
        <p:spPr>
          <a:xfrm>
            <a:off x="9592056" y="4462272"/>
            <a:ext cx="1453896" cy="0"/>
          </a:xfrm>
          <a:prstGeom prst="line">
            <a:avLst/>
          </a:prstGeom>
          <a:noFill/>
          <a:ln w="63500">
            <a:solidFill>
              <a:srgbClr val="BBD5C5"/>
            </a:solidFill>
            <a:prstDash val="solid"/>
          </a:ln>
        </p:spPr>
      </p:sp>
      <p:sp>
        <p:nvSpPr>
          <p:cNvPr id="14" name="Shape 11"/>
          <p:cNvSpPr/>
          <p:nvPr/>
        </p:nvSpPr>
        <p:spPr>
          <a:xfrm>
            <a:off x="9592056" y="4700016"/>
            <a:ext cx="1371600" cy="0"/>
          </a:xfrm>
          <a:prstGeom prst="line">
            <a:avLst/>
          </a:prstGeom>
          <a:noFill/>
          <a:ln w="63500">
            <a:solidFill>
              <a:srgbClr val="D8E2DC"/>
            </a:solidFill>
            <a:prstDash val="solid"/>
          </a:ln>
        </p:spPr>
      </p:sp>
      <p:sp>
        <p:nvSpPr>
          <p:cNvPr id="15" name="Shape 12"/>
          <p:cNvSpPr/>
          <p:nvPr/>
        </p:nvSpPr>
        <p:spPr>
          <a:xfrm>
            <a:off x="9592056" y="4937760"/>
            <a:ext cx="1289304" cy="0"/>
          </a:xfrm>
          <a:prstGeom prst="line">
            <a:avLst/>
          </a:prstGeom>
          <a:noFill/>
          <a:ln w="63500">
            <a:solidFill>
              <a:srgbClr val="D8E2DC"/>
            </a:solidFill>
            <a:prstDash val="solid"/>
          </a:ln>
        </p:spPr>
      </p:sp>
      <p:sp>
        <p:nvSpPr>
          <p:cNvPr id="16" name="Text 13"/>
          <p:cNvSpPr/>
          <p:nvPr/>
        </p:nvSpPr>
        <p:spPr>
          <a:xfrm>
            <a:off x="9354312" y="5376672"/>
            <a:ext cx="1956816" cy="164592"/>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INSERT ACTUAL</a:t>
            </a:r>
            <a:endParaRPr lang="en-US" sz="1040" dirty="0"/>
          </a:p>
        </p:txBody>
      </p:sp>
      <p:sp>
        <p:nvSpPr>
          <p:cNvPr id="17" name="Text 14"/>
          <p:cNvSpPr/>
          <p:nvPr/>
        </p:nvSpPr>
        <p:spPr>
          <a:xfrm>
            <a:off x="9345168" y="5559552"/>
            <a:ext cx="1975104" cy="182880"/>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APP SCREENSHOT</a:t>
            </a:r>
            <a:endParaRPr lang="en-US" sz="1040" dirty="0"/>
          </a:p>
        </p:txBody>
      </p:sp>
      <p:sp>
        <p:nvSpPr>
          <p:cNvPr id="18" name="Shape 15"/>
          <p:cNvSpPr/>
          <p:nvPr/>
        </p:nvSpPr>
        <p:spPr>
          <a:xfrm>
            <a:off x="484632" y="6281928"/>
            <a:ext cx="11247120" cy="0"/>
          </a:xfrm>
          <a:prstGeom prst="line">
            <a:avLst/>
          </a:prstGeom>
          <a:noFill/>
          <a:ln w="9525">
            <a:solidFill>
              <a:srgbClr val="D8E2DC"/>
            </a:solidFill>
            <a:prstDash val="solid"/>
          </a:ln>
        </p:spPr>
      </p:sp>
      <p:pic>
        <p:nvPicPr>
          <p:cNvPr id="19" name="Image 1" descr="/mnt/data/proposal_assets/logo.png">    </p:cNvPr>
          <p:cNvPicPr>
            <a:picLocks noChangeAspect="1"/>
          </p:cNvPicPr>
          <p:nvPr/>
        </p:nvPicPr>
        <p:blipFill>
          <a:blip r:embed="rId2"/>
          <a:stretch>
            <a:fillRect/>
          </a:stretch>
        </p:blipFill>
        <p:spPr>
          <a:xfrm>
            <a:off x="548640" y="6336792"/>
            <a:ext cx="320040" cy="274320"/>
          </a:xfrm>
          <a:prstGeom prst="rect">
            <a:avLst/>
          </a:prstGeom>
        </p:spPr>
      </p:pic>
      <p:sp>
        <p:nvSpPr>
          <p:cNvPr id="20" name="Text 16"/>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21" name="Text 17"/>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22" name="Text 18"/>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IT22168986  |  H D SACHINTHA  |  R-26-IT-021</a:t>
            </a:r>
            <a:endParaRPr lang="en-US" sz="820" dirty="0"/>
          </a:p>
        </p:txBody>
      </p:sp>
      <p:sp>
        <p:nvSpPr>
          <p:cNvPr id="23" name="Text 19"/>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24" name="Text 20"/>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3</a:t>
            </a:r>
            <a:endParaRPr lang="en-US" sz="830" dirty="0"/>
          </a:p>
        </p:txBody>
      </p:sp>
      <p:sp>
        <p:nvSpPr>
          <p:cNvPr id="25" name="Text 21"/>
          <p:cNvSpPr/>
          <p:nvPr/>
        </p:nvSpPr>
        <p:spPr>
          <a:xfrm>
            <a:off x="777240" y="1517904"/>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WHAT THIS COMPONENT DOES</a:t>
            </a:r>
            <a:endParaRPr lang="en-US" sz="1110" dirty="0"/>
          </a:p>
        </p:txBody>
      </p:sp>
      <p:sp>
        <p:nvSpPr>
          <p:cNvPr id="26" name="Text 22"/>
          <p:cNvSpPr/>
          <p:nvPr/>
        </p:nvSpPr>
        <p:spPr>
          <a:xfrm>
            <a:off x="777240" y="1828800"/>
            <a:ext cx="7479792" cy="658368"/>
          </a:xfrm>
          <a:prstGeom prst="rect">
            <a:avLst/>
          </a:prstGeom>
          <a:noFill/>
          <a:ln/>
        </p:spPr>
        <p:txBody>
          <a:bodyPr wrap="square" lIns="0" tIns="0" rIns="0" bIns="0" rtlCol="0" anchor="ctr">
            <a:normAutofit/>
          </a:bodyPr>
          <a:lstStyle/>
          <a:p>
            <a:pPr algn="l" indent="0" marL="0">
              <a:buNone/>
            </a:pPr>
            <a:r>
              <a:rPr lang="en-US" sz="1950" b="1" dirty="0">
                <a:solidFill>
                  <a:srgbClr val="1D2725"/>
                </a:solidFill>
                <a:latin typeface="Georgia" pitchFamily="34" charset="0"/>
                <a:ea typeface="Georgia" pitchFamily="34" charset="-122"/>
                <a:cs typeface="Georgia" pitchFamily="34" charset="-120"/>
              </a:rPr>
              <a:t>Recognizes supported Sri Lankan Ayurvedic medicinal plants from user-provided images.</a:t>
            </a:r>
            <a:endParaRPr lang="en-US" sz="1950" dirty="0"/>
          </a:p>
        </p:txBody>
      </p:sp>
      <p:sp>
        <p:nvSpPr>
          <p:cNvPr id="27" name="Text 23"/>
          <p:cNvSpPr/>
          <p:nvPr/>
        </p:nvSpPr>
        <p:spPr>
          <a:xfrm>
            <a:off x="777240" y="2862072"/>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SIMPLE WORKFLOW</a:t>
            </a:r>
            <a:endParaRPr lang="en-US" sz="1110" dirty="0"/>
          </a:p>
        </p:txBody>
      </p:sp>
      <p:sp>
        <p:nvSpPr>
          <p:cNvPr id="28" name="Shape 24"/>
          <p:cNvSpPr/>
          <p:nvPr/>
        </p:nvSpPr>
        <p:spPr>
          <a:xfrm>
            <a:off x="777240" y="3227832"/>
            <a:ext cx="2334768" cy="804672"/>
          </a:xfrm>
          <a:prstGeom prst="roundRect">
            <a:avLst>
              <a:gd name="adj" fmla="val 9091"/>
            </a:avLst>
          </a:prstGeom>
          <a:solidFill>
            <a:srgbClr val="E9F1ED"/>
          </a:solidFill>
          <a:ln w="8890">
            <a:solidFill>
              <a:srgbClr val="D8E2DC"/>
            </a:solidFill>
            <a:prstDash val="solid"/>
          </a:ln>
        </p:spPr>
      </p:sp>
      <p:sp>
        <p:nvSpPr>
          <p:cNvPr id="29" name="Text 25"/>
          <p:cNvSpPr/>
          <p:nvPr/>
        </p:nvSpPr>
        <p:spPr>
          <a:xfrm>
            <a:off x="896112" y="3328416"/>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01</a:t>
            </a:r>
            <a:endParaRPr lang="en-US" sz="1000" dirty="0"/>
          </a:p>
        </p:txBody>
      </p:sp>
      <p:sp>
        <p:nvSpPr>
          <p:cNvPr id="30" name="Text 26"/>
          <p:cNvSpPr/>
          <p:nvPr/>
        </p:nvSpPr>
        <p:spPr>
          <a:xfrm>
            <a:off x="896112" y="3520440"/>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Capture / upload image</a:t>
            </a:r>
            <a:endParaRPr lang="en-US" sz="1310" dirty="0"/>
          </a:p>
        </p:txBody>
      </p:sp>
      <p:sp>
        <p:nvSpPr>
          <p:cNvPr id="31" name="Text 27"/>
          <p:cNvSpPr/>
          <p:nvPr/>
        </p:nvSpPr>
        <p:spPr>
          <a:xfrm>
            <a:off x="3038856" y="3493008"/>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2" name="Shape 28"/>
          <p:cNvSpPr/>
          <p:nvPr/>
        </p:nvSpPr>
        <p:spPr>
          <a:xfrm>
            <a:off x="3276600" y="3227832"/>
            <a:ext cx="2334768" cy="804672"/>
          </a:xfrm>
          <a:prstGeom prst="roundRect">
            <a:avLst>
              <a:gd name="adj" fmla="val 9091"/>
            </a:avLst>
          </a:prstGeom>
          <a:solidFill>
            <a:srgbClr val="F7F9F7"/>
          </a:solidFill>
          <a:ln w="8890">
            <a:solidFill>
              <a:srgbClr val="D8E2DC"/>
            </a:solidFill>
            <a:prstDash val="solid"/>
          </a:ln>
        </p:spPr>
      </p:sp>
      <p:sp>
        <p:nvSpPr>
          <p:cNvPr id="33" name="Text 29"/>
          <p:cNvSpPr/>
          <p:nvPr/>
        </p:nvSpPr>
        <p:spPr>
          <a:xfrm>
            <a:off x="3395472" y="3328416"/>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02</a:t>
            </a:r>
            <a:endParaRPr lang="en-US" sz="1000" dirty="0"/>
          </a:p>
        </p:txBody>
      </p:sp>
      <p:sp>
        <p:nvSpPr>
          <p:cNvPr id="34" name="Text 30"/>
          <p:cNvSpPr/>
          <p:nvPr/>
        </p:nvSpPr>
        <p:spPr>
          <a:xfrm>
            <a:off x="3395472" y="3520440"/>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Analyze plant features</a:t>
            </a:r>
            <a:endParaRPr lang="en-US" sz="1310" dirty="0"/>
          </a:p>
        </p:txBody>
      </p:sp>
      <p:sp>
        <p:nvSpPr>
          <p:cNvPr id="35" name="Text 31"/>
          <p:cNvSpPr/>
          <p:nvPr/>
        </p:nvSpPr>
        <p:spPr>
          <a:xfrm>
            <a:off x="5538216" y="3493008"/>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6" name="Shape 32"/>
          <p:cNvSpPr/>
          <p:nvPr/>
        </p:nvSpPr>
        <p:spPr>
          <a:xfrm>
            <a:off x="5775960" y="3227832"/>
            <a:ext cx="2334768" cy="804672"/>
          </a:xfrm>
          <a:prstGeom prst="roundRect">
            <a:avLst>
              <a:gd name="adj" fmla="val 9091"/>
            </a:avLst>
          </a:prstGeom>
          <a:solidFill>
            <a:srgbClr val="E9F1ED"/>
          </a:solidFill>
          <a:ln w="8890">
            <a:solidFill>
              <a:srgbClr val="D8E2DC"/>
            </a:solidFill>
            <a:prstDash val="solid"/>
          </a:ln>
        </p:spPr>
      </p:sp>
      <p:sp>
        <p:nvSpPr>
          <p:cNvPr id="37" name="Text 33"/>
          <p:cNvSpPr/>
          <p:nvPr/>
        </p:nvSpPr>
        <p:spPr>
          <a:xfrm>
            <a:off x="5894832" y="3328416"/>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03</a:t>
            </a:r>
            <a:endParaRPr lang="en-US" sz="1000" dirty="0"/>
          </a:p>
        </p:txBody>
      </p:sp>
      <p:sp>
        <p:nvSpPr>
          <p:cNvPr id="38" name="Text 34"/>
          <p:cNvSpPr/>
          <p:nvPr/>
        </p:nvSpPr>
        <p:spPr>
          <a:xfrm>
            <a:off x="5894832" y="3520440"/>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Display plant identity</a:t>
            </a:r>
            <a:endParaRPr lang="en-US" sz="1310" dirty="0"/>
          </a:p>
        </p:txBody>
      </p:sp>
      <p:sp>
        <p:nvSpPr>
          <p:cNvPr id="39" name="Text 35"/>
          <p:cNvSpPr/>
          <p:nvPr/>
        </p:nvSpPr>
        <p:spPr>
          <a:xfrm>
            <a:off x="777240" y="4416552"/>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MAIN OUTPUTS</a:t>
            </a:r>
            <a:endParaRPr lang="en-US" sz="1110" dirty="0"/>
          </a:p>
        </p:txBody>
      </p:sp>
      <p:sp>
        <p:nvSpPr>
          <p:cNvPr id="40" name="Shape 36"/>
          <p:cNvSpPr/>
          <p:nvPr/>
        </p:nvSpPr>
        <p:spPr>
          <a:xfrm>
            <a:off x="795528" y="4855464"/>
            <a:ext cx="82296" cy="82296"/>
          </a:xfrm>
          <a:prstGeom prst="ellipse">
            <a:avLst/>
          </a:prstGeom>
          <a:solidFill>
            <a:srgbClr val="28574A"/>
          </a:solidFill>
          <a:ln w="12700">
            <a:solidFill>
              <a:srgbClr val="28574A"/>
            </a:solidFill>
            <a:prstDash val="solid"/>
          </a:ln>
        </p:spPr>
      </p:sp>
      <p:sp>
        <p:nvSpPr>
          <p:cNvPr id="41" name="Text 37"/>
          <p:cNvSpPr/>
          <p:nvPr/>
        </p:nvSpPr>
        <p:spPr>
          <a:xfrm>
            <a:off x="1005840" y="4745736"/>
            <a:ext cx="7031736" cy="457200"/>
          </a:xfrm>
          <a:prstGeom prst="rect">
            <a:avLst/>
          </a:prstGeom>
          <a:noFill/>
          <a:ln/>
        </p:spPr>
        <p:txBody>
          <a:bodyPr wrap="square" lIns="0" tIns="0" rIns="0" bIns="0" rtlCol="0" anchor="t">
            <a:normAutofit/>
          </a:bodyPr>
          <a:lstStyle/>
          <a:p>
            <a:pPr algn="l" indent="0" marL="0">
              <a:buNone/>
            </a:pPr>
            <a:r>
              <a:rPr lang="en-US" sz="1530" dirty="0">
                <a:solidFill>
                  <a:srgbClr val="1D2725"/>
                </a:solidFill>
                <a:latin typeface="Aptos" pitchFamily="34" charset="0"/>
                <a:ea typeface="Aptos" pitchFamily="34" charset="-122"/>
                <a:cs typeface="Aptos" pitchFamily="34" charset="-120"/>
              </a:rPr>
              <a:t>Plant identification for supported species</a:t>
            </a:r>
            <a:endParaRPr lang="en-US" sz="1530" dirty="0"/>
          </a:p>
        </p:txBody>
      </p:sp>
      <p:sp>
        <p:nvSpPr>
          <p:cNvPr id="42" name="Shape 38"/>
          <p:cNvSpPr/>
          <p:nvPr/>
        </p:nvSpPr>
        <p:spPr>
          <a:xfrm>
            <a:off x="795528" y="5376672"/>
            <a:ext cx="82296" cy="82296"/>
          </a:xfrm>
          <a:prstGeom prst="ellipse">
            <a:avLst/>
          </a:prstGeom>
          <a:solidFill>
            <a:srgbClr val="28574A"/>
          </a:solidFill>
          <a:ln w="12700">
            <a:solidFill>
              <a:srgbClr val="28574A"/>
            </a:solidFill>
            <a:prstDash val="solid"/>
          </a:ln>
        </p:spPr>
      </p:sp>
      <p:sp>
        <p:nvSpPr>
          <p:cNvPr id="43" name="Text 39"/>
          <p:cNvSpPr/>
          <p:nvPr/>
        </p:nvSpPr>
        <p:spPr>
          <a:xfrm>
            <a:off x="1005840" y="5266944"/>
            <a:ext cx="7031736" cy="457200"/>
          </a:xfrm>
          <a:prstGeom prst="rect">
            <a:avLst/>
          </a:prstGeom>
          <a:noFill/>
          <a:ln/>
        </p:spPr>
        <p:txBody>
          <a:bodyPr wrap="square" lIns="0" tIns="0" rIns="0" bIns="0" rtlCol="0" anchor="t">
            <a:normAutofit/>
          </a:bodyPr>
          <a:lstStyle/>
          <a:p>
            <a:pPr algn="l" indent="0" marL="0">
              <a:buNone/>
            </a:pPr>
            <a:r>
              <a:rPr lang="en-US" sz="1530" dirty="0">
                <a:solidFill>
                  <a:srgbClr val="1D2725"/>
                </a:solidFill>
                <a:latin typeface="Aptos" pitchFamily="34" charset="0"/>
                <a:ea typeface="Aptos" pitchFamily="34" charset="-122"/>
                <a:cs typeface="Aptos" pitchFamily="34" charset="-120"/>
              </a:rPr>
              <a:t>Plant name and related information in the mobile application</a:t>
            </a:r>
            <a:endParaRPr lang="en-US" sz="15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 y="292608"/>
            <a:ext cx="10808208" cy="228600"/>
          </a:xfrm>
          <a:prstGeom prst="rect">
            <a:avLst/>
          </a:prstGeom>
          <a:noFill/>
          <a:ln/>
        </p:spPr>
        <p:txBody>
          <a:bodyPr wrap="square" lIns="0" tIns="0" rIns="0" bIns="0" rtlCol="0" anchor="ctr"/>
          <a:lstStyle/>
          <a:p>
            <a:pPr algn="ctr" indent="0" marL="0">
              <a:buNone/>
            </a:pPr>
            <a:r>
              <a:rPr lang="en-US" sz="1080" b="1" spc="150" kern="0" dirty="0">
                <a:solidFill>
                  <a:srgbClr val="28574A"/>
                </a:solidFill>
                <a:latin typeface="Aptos" pitchFamily="34" charset="0"/>
                <a:ea typeface="Aptos" pitchFamily="34" charset="-122"/>
                <a:cs typeface="Aptos" pitchFamily="34" charset="-120"/>
              </a:rPr>
              <a:t>COMPONENT 02 / 04</a:t>
            </a:r>
            <a:endParaRPr lang="en-US" sz="1080" dirty="0"/>
          </a:p>
        </p:txBody>
      </p:sp>
      <p:sp>
        <p:nvSpPr>
          <p:cNvPr id="3" name="Text 1"/>
          <p:cNvSpPr/>
          <p:nvPr/>
        </p:nvSpPr>
        <p:spPr>
          <a:xfrm>
            <a:off x="658368" y="612648"/>
            <a:ext cx="10863072" cy="630936"/>
          </a:xfrm>
          <a:prstGeom prst="rect">
            <a:avLst/>
          </a:prstGeom>
          <a:noFill/>
          <a:ln/>
        </p:spPr>
        <p:txBody>
          <a:bodyPr wrap="square" lIns="0" tIns="0" rIns="0" bIns="0" rtlCol="0" anchor="ctr">
            <a:normAutofit/>
          </a:bodyPr>
          <a:lstStyle/>
          <a:p>
            <a:pPr algn="ctr" indent="0" marL="0">
              <a:buNone/>
            </a:pPr>
            <a:r>
              <a:rPr lang="en-US" sz="2550" b="1" dirty="0">
                <a:solidFill>
                  <a:srgbClr val="1D2725"/>
                </a:solidFill>
                <a:latin typeface="Georgia" pitchFamily="34" charset="0"/>
                <a:ea typeface="Georgia" pitchFamily="34" charset="-122"/>
                <a:cs typeface="Georgia" pitchFamily="34" charset="-120"/>
              </a:rPr>
              <a:t>Herbal Knowledge Intelligence System</a:t>
            </a:r>
            <a:endParaRPr lang="en-US" sz="2550" dirty="0"/>
          </a:p>
        </p:txBody>
      </p:sp>
      <p:sp>
        <p:nvSpPr>
          <p:cNvPr id="4" name="Shape 2"/>
          <p:cNvSpPr/>
          <p:nvPr/>
        </p:nvSpPr>
        <p:spPr>
          <a:xfrm>
            <a:off x="4462272" y="1325880"/>
            <a:ext cx="3264408" cy="0"/>
          </a:xfrm>
          <a:prstGeom prst="line">
            <a:avLst/>
          </a:prstGeom>
          <a:noFill/>
          <a:ln w="16510">
            <a:solidFill>
              <a:srgbClr val="BBD5C5"/>
            </a:solidFill>
            <a:prstDash val="solid"/>
          </a:ln>
        </p:spPr>
      </p:sp>
      <p:sp>
        <p:nvSpPr>
          <p:cNvPr id="5" name="Shape 3"/>
          <p:cNvSpPr/>
          <p:nvPr/>
        </p:nvSpPr>
        <p:spPr>
          <a:xfrm>
            <a:off x="9637776" y="1362456"/>
            <a:ext cx="1399032" cy="1399032"/>
          </a:xfrm>
          <a:prstGeom prst="ellipse">
            <a:avLst/>
          </a:prstGeom>
          <a:solidFill>
            <a:srgbClr val="FFFFFF"/>
          </a:solidFill>
          <a:ln w="26670">
            <a:solidFill>
              <a:srgbClr val="E9F1ED"/>
            </a:solidFill>
            <a:prstDash val="solid"/>
          </a:ln>
        </p:spPr>
      </p:sp>
      <p:pic>
        <p:nvPicPr>
          <p:cNvPr id="6" name="Image 0" descr="/mnt/data/proposal_assets/knowledge_circle.png">    </p:cNvPr>
          <p:cNvPicPr>
            <a:picLocks noChangeAspect="1"/>
          </p:cNvPicPr>
          <p:nvPr/>
        </p:nvPicPr>
        <p:blipFill>
          <a:blip r:embed="rId1"/>
          <a:stretch>
            <a:fillRect/>
          </a:stretch>
        </p:blipFill>
        <p:spPr>
          <a:xfrm>
            <a:off x="9701784" y="1426464"/>
            <a:ext cx="1271016" cy="1271016"/>
          </a:xfrm>
          <a:prstGeom prst="rect">
            <a:avLst/>
          </a:prstGeom>
        </p:spPr>
      </p:pic>
      <p:sp>
        <p:nvSpPr>
          <p:cNvPr id="7" name="Text 4"/>
          <p:cNvSpPr/>
          <p:nvPr/>
        </p:nvSpPr>
        <p:spPr>
          <a:xfrm>
            <a:off x="8567928" y="2811780"/>
            <a:ext cx="3474720" cy="256032"/>
          </a:xfrm>
          <a:prstGeom prst="rect">
            <a:avLst/>
          </a:prstGeom>
          <a:noFill/>
          <a:ln/>
        </p:spPr>
        <p:txBody>
          <a:bodyPr wrap="square" lIns="0" tIns="0" rIns="0" bIns="0" rtlCol="0" anchor="ctr">
            <a:normAutofit/>
          </a:bodyPr>
          <a:lstStyle/>
          <a:p>
            <a:pPr algn="ctr" indent="0" marL="0">
              <a:buNone/>
            </a:pPr>
            <a:r>
              <a:rPr lang="en-US" sz="1250" b="1" dirty="0">
                <a:solidFill>
                  <a:srgbClr val="1D2725"/>
                </a:solidFill>
                <a:latin typeface="Georgia" pitchFamily="34" charset="0"/>
                <a:ea typeface="Georgia" pitchFamily="34" charset="-122"/>
                <a:cs typeface="Georgia" pitchFamily="34" charset="-120"/>
              </a:rPr>
              <a:t>M P MUNASINGHE</a:t>
            </a:r>
            <a:endParaRPr lang="en-US" sz="1250" dirty="0"/>
          </a:p>
        </p:txBody>
      </p:sp>
      <p:sp>
        <p:nvSpPr>
          <p:cNvPr id="8" name="Text 5"/>
          <p:cNvSpPr/>
          <p:nvPr/>
        </p:nvSpPr>
        <p:spPr>
          <a:xfrm>
            <a:off x="8915400" y="3099816"/>
            <a:ext cx="2779776" cy="210312"/>
          </a:xfrm>
          <a:prstGeom prst="rect">
            <a:avLst/>
          </a:prstGeom>
          <a:noFill/>
          <a:ln/>
        </p:spPr>
        <p:txBody>
          <a:bodyPr wrap="square" lIns="0" tIns="0" rIns="0" bIns="0" rtlCol="0" anchor="ctr"/>
          <a:lstStyle/>
          <a:p>
            <a:pPr algn="ctr" indent="0" marL="0">
              <a:buNone/>
            </a:pPr>
            <a:r>
              <a:rPr lang="en-US" sz="1080" b="1" dirty="0">
                <a:solidFill>
                  <a:srgbClr val="28574A"/>
                </a:solidFill>
                <a:latin typeface="Aptos" pitchFamily="34" charset="0"/>
                <a:ea typeface="Aptos" pitchFamily="34" charset="-122"/>
                <a:cs typeface="Aptos" pitchFamily="34" charset="-120"/>
              </a:rPr>
              <a:t>IT22640598</a:t>
            </a:r>
            <a:endParaRPr lang="en-US" sz="1080" dirty="0"/>
          </a:p>
        </p:txBody>
      </p:sp>
      <p:sp>
        <p:nvSpPr>
          <p:cNvPr id="9" name="Shape 6"/>
          <p:cNvSpPr/>
          <p:nvPr/>
        </p:nvSpPr>
        <p:spPr>
          <a:xfrm>
            <a:off x="9125712" y="3474720"/>
            <a:ext cx="2414016" cy="2487168"/>
          </a:xfrm>
          <a:prstGeom prst="roundRect">
            <a:avLst>
              <a:gd name="adj" fmla="val 6818"/>
            </a:avLst>
          </a:prstGeom>
          <a:solidFill>
            <a:srgbClr val="FFFFFF"/>
          </a:solidFill>
          <a:ln w="15240">
            <a:solidFill>
              <a:srgbClr val="D8E2DC"/>
            </a:solidFill>
            <a:prstDash val="solid"/>
          </a:ln>
        </p:spPr>
      </p:sp>
      <p:sp>
        <p:nvSpPr>
          <p:cNvPr id="10" name="Shape 7"/>
          <p:cNvSpPr/>
          <p:nvPr/>
        </p:nvSpPr>
        <p:spPr>
          <a:xfrm>
            <a:off x="10058400" y="3584448"/>
            <a:ext cx="576072" cy="0"/>
          </a:xfrm>
          <a:prstGeom prst="line">
            <a:avLst/>
          </a:prstGeom>
          <a:noFill/>
          <a:ln w="19050">
            <a:solidFill>
              <a:srgbClr val="60716C"/>
            </a:solidFill>
            <a:prstDash val="solid"/>
          </a:ln>
        </p:spPr>
      </p:sp>
      <p:sp>
        <p:nvSpPr>
          <p:cNvPr id="11" name="Text 8"/>
          <p:cNvSpPr/>
          <p:nvPr/>
        </p:nvSpPr>
        <p:spPr>
          <a:xfrm>
            <a:off x="9290304" y="3840480"/>
            <a:ext cx="2084832" cy="274320"/>
          </a:xfrm>
          <a:prstGeom prst="rect">
            <a:avLst/>
          </a:prstGeom>
          <a:noFill/>
          <a:ln/>
        </p:spPr>
        <p:txBody>
          <a:bodyPr wrap="square" lIns="0" tIns="0" rIns="0" bIns="0" rtlCol="0" anchor="ctr">
            <a:normAutofit/>
          </a:bodyPr>
          <a:lstStyle/>
          <a:p>
            <a:pPr algn="ctr" indent="0" marL="0">
              <a:buNone/>
            </a:pPr>
            <a:r>
              <a:rPr lang="en-US" sz="1040" b="1" dirty="0">
                <a:solidFill>
                  <a:srgbClr val="28574A"/>
                </a:solidFill>
                <a:latin typeface="Aptos" pitchFamily="34" charset="0"/>
                <a:ea typeface="Aptos" pitchFamily="34" charset="-122"/>
                <a:cs typeface="Aptos" pitchFamily="34" charset="-120"/>
              </a:rPr>
              <a:t>KNOWLEDGE ASSISTANT</a:t>
            </a:r>
            <a:endParaRPr lang="en-US" sz="1040" dirty="0"/>
          </a:p>
        </p:txBody>
      </p:sp>
      <p:sp>
        <p:nvSpPr>
          <p:cNvPr id="12" name="Shape 9"/>
          <p:cNvSpPr/>
          <p:nvPr/>
        </p:nvSpPr>
        <p:spPr>
          <a:xfrm>
            <a:off x="9381744" y="4251960"/>
            <a:ext cx="1901952" cy="914400"/>
          </a:xfrm>
          <a:prstGeom prst="roundRect">
            <a:avLst>
              <a:gd name="adj" fmla="val 6000"/>
            </a:avLst>
          </a:prstGeom>
          <a:solidFill>
            <a:srgbClr val="F7F9F7"/>
          </a:solidFill>
          <a:ln w="12700">
            <a:solidFill>
              <a:srgbClr val="F7F9F7"/>
            </a:solidFill>
            <a:prstDash val="solid"/>
          </a:ln>
        </p:spPr>
      </p:sp>
      <p:sp>
        <p:nvSpPr>
          <p:cNvPr id="13" name="Shape 10"/>
          <p:cNvSpPr/>
          <p:nvPr/>
        </p:nvSpPr>
        <p:spPr>
          <a:xfrm>
            <a:off x="9592056" y="4462272"/>
            <a:ext cx="1453896" cy="0"/>
          </a:xfrm>
          <a:prstGeom prst="line">
            <a:avLst/>
          </a:prstGeom>
          <a:noFill/>
          <a:ln w="63500">
            <a:solidFill>
              <a:srgbClr val="BBD5C5"/>
            </a:solidFill>
            <a:prstDash val="solid"/>
          </a:ln>
        </p:spPr>
      </p:sp>
      <p:sp>
        <p:nvSpPr>
          <p:cNvPr id="14" name="Shape 11"/>
          <p:cNvSpPr/>
          <p:nvPr/>
        </p:nvSpPr>
        <p:spPr>
          <a:xfrm>
            <a:off x="9592056" y="4700016"/>
            <a:ext cx="1371600" cy="0"/>
          </a:xfrm>
          <a:prstGeom prst="line">
            <a:avLst/>
          </a:prstGeom>
          <a:noFill/>
          <a:ln w="63500">
            <a:solidFill>
              <a:srgbClr val="D8E2DC"/>
            </a:solidFill>
            <a:prstDash val="solid"/>
          </a:ln>
        </p:spPr>
      </p:sp>
      <p:sp>
        <p:nvSpPr>
          <p:cNvPr id="15" name="Shape 12"/>
          <p:cNvSpPr/>
          <p:nvPr/>
        </p:nvSpPr>
        <p:spPr>
          <a:xfrm>
            <a:off x="9592056" y="4937760"/>
            <a:ext cx="1289304" cy="0"/>
          </a:xfrm>
          <a:prstGeom prst="line">
            <a:avLst/>
          </a:prstGeom>
          <a:noFill/>
          <a:ln w="63500">
            <a:solidFill>
              <a:srgbClr val="D8E2DC"/>
            </a:solidFill>
            <a:prstDash val="solid"/>
          </a:ln>
        </p:spPr>
      </p:sp>
      <p:sp>
        <p:nvSpPr>
          <p:cNvPr id="16" name="Text 13"/>
          <p:cNvSpPr/>
          <p:nvPr/>
        </p:nvSpPr>
        <p:spPr>
          <a:xfrm>
            <a:off x="9354312" y="5376672"/>
            <a:ext cx="1956816" cy="164592"/>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INSERT ACTUAL</a:t>
            </a:r>
            <a:endParaRPr lang="en-US" sz="1040" dirty="0"/>
          </a:p>
        </p:txBody>
      </p:sp>
      <p:sp>
        <p:nvSpPr>
          <p:cNvPr id="17" name="Text 14"/>
          <p:cNvSpPr/>
          <p:nvPr/>
        </p:nvSpPr>
        <p:spPr>
          <a:xfrm>
            <a:off x="9345168" y="5559552"/>
            <a:ext cx="1975104" cy="182880"/>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APP SCREENSHOT</a:t>
            </a:r>
            <a:endParaRPr lang="en-US" sz="1040" dirty="0"/>
          </a:p>
        </p:txBody>
      </p:sp>
      <p:sp>
        <p:nvSpPr>
          <p:cNvPr id="18" name="Shape 15"/>
          <p:cNvSpPr/>
          <p:nvPr/>
        </p:nvSpPr>
        <p:spPr>
          <a:xfrm>
            <a:off x="484632" y="6281928"/>
            <a:ext cx="11247120" cy="0"/>
          </a:xfrm>
          <a:prstGeom prst="line">
            <a:avLst/>
          </a:prstGeom>
          <a:noFill/>
          <a:ln w="9525">
            <a:solidFill>
              <a:srgbClr val="D8E2DC"/>
            </a:solidFill>
            <a:prstDash val="solid"/>
          </a:ln>
        </p:spPr>
      </p:sp>
      <p:pic>
        <p:nvPicPr>
          <p:cNvPr id="19" name="Image 1" descr="/mnt/data/proposal_assets/logo.png">    </p:cNvPr>
          <p:cNvPicPr>
            <a:picLocks noChangeAspect="1"/>
          </p:cNvPicPr>
          <p:nvPr/>
        </p:nvPicPr>
        <p:blipFill>
          <a:blip r:embed="rId2"/>
          <a:stretch>
            <a:fillRect/>
          </a:stretch>
        </p:blipFill>
        <p:spPr>
          <a:xfrm>
            <a:off x="548640" y="6336792"/>
            <a:ext cx="320040" cy="274320"/>
          </a:xfrm>
          <a:prstGeom prst="rect">
            <a:avLst/>
          </a:prstGeom>
        </p:spPr>
      </p:pic>
      <p:sp>
        <p:nvSpPr>
          <p:cNvPr id="20" name="Text 16"/>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21" name="Text 17"/>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22" name="Text 18"/>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IT22640598  |  M P MUNASINGHE  |  R-26-IT-021</a:t>
            </a:r>
            <a:endParaRPr lang="en-US" sz="820" dirty="0"/>
          </a:p>
        </p:txBody>
      </p:sp>
      <p:sp>
        <p:nvSpPr>
          <p:cNvPr id="23" name="Text 19"/>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24" name="Text 20"/>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4</a:t>
            </a:r>
            <a:endParaRPr lang="en-US" sz="830" dirty="0"/>
          </a:p>
        </p:txBody>
      </p:sp>
      <p:sp>
        <p:nvSpPr>
          <p:cNvPr id="25" name="Text 21"/>
          <p:cNvSpPr/>
          <p:nvPr/>
        </p:nvSpPr>
        <p:spPr>
          <a:xfrm>
            <a:off x="777240" y="1517904"/>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WHAT THIS COMPONENT DOES</a:t>
            </a:r>
            <a:endParaRPr lang="en-US" sz="1110" dirty="0"/>
          </a:p>
        </p:txBody>
      </p:sp>
      <p:sp>
        <p:nvSpPr>
          <p:cNvPr id="26" name="Text 22"/>
          <p:cNvSpPr/>
          <p:nvPr/>
        </p:nvSpPr>
        <p:spPr>
          <a:xfrm>
            <a:off x="777240" y="1810512"/>
            <a:ext cx="7552944" cy="731520"/>
          </a:xfrm>
          <a:prstGeom prst="rect">
            <a:avLst/>
          </a:prstGeom>
          <a:noFill/>
          <a:ln/>
        </p:spPr>
        <p:txBody>
          <a:bodyPr wrap="square" lIns="0" tIns="0" rIns="0" bIns="0" rtlCol="0" anchor="ctr">
            <a:normAutofit/>
          </a:bodyPr>
          <a:lstStyle/>
          <a:p>
            <a:pPr algn="l" indent="0" marL="0">
              <a:buNone/>
            </a:pPr>
            <a:r>
              <a:rPr lang="en-US" sz="1910" b="1" dirty="0">
                <a:solidFill>
                  <a:srgbClr val="1D2725"/>
                </a:solidFill>
                <a:latin typeface="Georgia" pitchFamily="34" charset="0"/>
                <a:ea typeface="Georgia" pitchFamily="34" charset="-122"/>
                <a:cs typeface="Georgia" pitchFamily="34" charset="-120"/>
              </a:rPr>
              <a:t>A bilingual, persona-aware conversational assistant grounded in retrieved herbal knowledge.</a:t>
            </a:r>
            <a:endParaRPr lang="en-US" sz="1910" dirty="0"/>
          </a:p>
        </p:txBody>
      </p:sp>
      <p:sp>
        <p:nvSpPr>
          <p:cNvPr id="27" name="Text 23"/>
          <p:cNvSpPr/>
          <p:nvPr/>
        </p:nvSpPr>
        <p:spPr>
          <a:xfrm>
            <a:off x="777240" y="2807208"/>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RAG WORKFLOW</a:t>
            </a:r>
            <a:endParaRPr lang="en-US" sz="1110" dirty="0"/>
          </a:p>
        </p:txBody>
      </p:sp>
      <p:sp>
        <p:nvSpPr>
          <p:cNvPr id="28" name="Shape 24"/>
          <p:cNvSpPr/>
          <p:nvPr/>
        </p:nvSpPr>
        <p:spPr>
          <a:xfrm>
            <a:off x="777240" y="3182112"/>
            <a:ext cx="2334768" cy="804672"/>
          </a:xfrm>
          <a:prstGeom prst="roundRect">
            <a:avLst>
              <a:gd name="adj" fmla="val 9091"/>
            </a:avLst>
          </a:prstGeom>
          <a:solidFill>
            <a:srgbClr val="E9F1ED"/>
          </a:solidFill>
          <a:ln w="8890">
            <a:solidFill>
              <a:srgbClr val="D8E2DC"/>
            </a:solidFill>
            <a:prstDash val="solid"/>
          </a:ln>
        </p:spPr>
      </p:sp>
      <p:sp>
        <p:nvSpPr>
          <p:cNvPr id="29" name="Text 25"/>
          <p:cNvSpPr/>
          <p:nvPr/>
        </p:nvSpPr>
        <p:spPr>
          <a:xfrm>
            <a:off x="896112" y="3282696"/>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01</a:t>
            </a:r>
            <a:endParaRPr lang="en-US" sz="1000" dirty="0"/>
          </a:p>
        </p:txBody>
      </p:sp>
      <p:sp>
        <p:nvSpPr>
          <p:cNvPr id="30" name="Text 26"/>
          <p:cNvSpPr/>
          <p:nvPr/>
        </p:nvSpPr>
        <p:spPr>
          <a:xfrm>
            <a:off x="896112" y="3474720"/>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Sinhala / English question</a:t>
            </a:r>
            <a:endParaRPr lang="en-US" sz="1310" dirty="0"/>
          </a:p>
        </p:txBody>
      </p:sp>
      <p:sp>
        <p:nvSpPr>
          <p:cNvPr id="31" name="Text 27"/>
          <p:cNvSpPr/>
          <p:nvPr/>
        </p:nvSpPr>
        <p:spPr>
          <a:xfrm>
            <a:off x="3038856" y="3447288"/>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2" name="Shape 28"/>
          <p:cNvSpPr/>
          <p:nvPr/>
        </p:nvSpPr>
        <p:spPr>
          <a:xfrm>
            <a:off x="3276600" y="3182112"/>
            <a:ext cx="2334768" cy="804672"/>
          </a:xfrm>
          <a:prstGeom prst="roundRect">
            <a:avLst>
              <a:gd name="adj" fmla="val 9091"/>
            </a:avLst>
          </a:prstGeom>
          <a:solidFill>
            <a:srgbClr val="F7F9F7"/>
          </a:solidFill>
          <a:ln w="8890">
            <a:solidFill>
              <a:srgbClr val="D8E2DC"/>
            </a:solidFill>
            <a:prstDash val="solid"/>
          </a:ln>
        </p:spPr>
      </p:sp>
      <p:sp>
        <p:nvSpPr>
          <p:cNvPr id="33" name="Text 29"/>
          <p:cNvSpPr/>
          <p:nvPr/>
        </p:nvSpPr>
        <p:spPr>
          <a:xfrm>
            <a:off x="3395472" y="3282696"/>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02</a:t>
            </a:r>
            <a:endParaRPr lang="en-US" sz="1000" dirty="0"/>
          </a:p>
        </p:txBody>
      </p:sp>
      <p:sp>
        <p:nvSpPr>
          <p:cNvPr id="34" name="Text 30"/>
          <p:cNvSpPr/>
          <p:nvPr/>
        </p:nvSpPr>
        <p:spPr>
          <a:xfrm>
            <a:off x="3395472" y="3474720"/>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ChromaDB knowledge retrieval</a:t>
            </a:r>
            <a:endParaRPr lang="en-US" sz="1310" dirty="0"/>
          </a:p>
        </p:txBody>
      </p:sp>
      <p:sp>
        <p:nvSpPr>
          <p:cNvPr id="35" name="Text 31"/>
          <p:cNvSpPr/>
          <p:nvPr/>
        </p:nvSpPr>
        <p:spPr>
          <a:xfrm>
            <a:off x="5538216" y="3447288"/>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6" name="Shape 32"/>
          <p:cNvSpPr/>
          <p:nvPr/>
        </p:nvSpPr>
        <p:spPr>
          <a:xfrm>
            <a:off x="5775960" y="3182112"/>
            <a:ext cx="2334768" cy="804672"/>
          </a:xfrm>
          <a:prstGeom prst="roundRect">
            <a:avLst>
              <a:gd name="adj" fmla="val 9091"/>
            </a:avLst>
          </a:prstGeom>
          <a:solidFill>
            <a:srgbClr val="E9F1ED"/>
          </a:solidFill>
          <a:ln w="8890">
            <a:solidFill>
              <a:srgbClr val="D8E2DC"/>
            </a:solidFill>
            <a:prstDash val="solid"/>
          </a:ln>
        </p:spPr>
      </p:sp>
      <p:sp>
        <p:nvSpPr>
          <p:cNvPr id="37" name="Text 33"/>
          <p:cNvSpPr/>
          <p:nvPr/>
        </p:nvSpPr>
        <p:spPr>
          <a:xfrm>
            <a:off x="5894832" y="3282696"/>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03</a:t>
            </a:r>
            <a:endParaRPr lang="en-US" sz="1000" dirty="0"/>
          </a:p>
        </p:txBody>
      </p:sp>
      <p:sp>
        <p:nvSpPr>
          <p:cNvPr id="38" name="Text 34"/>
          <p:cNvSpPr/>
          <p:nvPr/>
        </p:nvSpPr>
        <p:spPr>
          <a:xfrm>
            <a:off x="5894832" y="3474720"/>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GPT-4o-mini response</a:t>
            </a:r>
            <a:endParaRPr lang="en-US" sz="1310" dirty="0"/>
          </a:p>
        </p:txBody>
      </p:sp>
      <p:sp>
        <p:nvSpPr>
          <p:cNvPr id="39" name="Text 35"/>
          <p:cNvSpPr/>
          <p:nvPr/>
        </p:nvSpPr>
        <p:spPr>
          <a:xfrm>
            <a:off x="777240" y="4379976"/>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MAIN CONTRIBUTIONS</a:t>
            </a:r>
            <a:endParaRPr lang="en-US" sz="1110" dirty="0"/>
          </a:p>
        </p:txBody>
      </p:sp>
      <p:sp>
        <p:nvSpPr>
          <p:cNvPr id="40" name="Shape 36"/>
          <p:cNvSpPr/>
          <p:nvPr/>
        </p:nvSpPr>
        <p:spPr>
          <a:xfrm>
            <a:off x="795528" y="4837176"/>
            <a:ext cx="82296" cy="82296"/>
          </a:xfrm>
          <a:prstGeom prst="ellipse">
            <a:avLst/>
          </a:prstGeom>
          <a:solidFill>
            <a:srgbClr val="28574A"/>
          </a:solidFill>
          <a:ln w="12700">
            <a:solidFill>
              <a:srgbClr val="28574A"/>
            </a:solidFill>
            <a:prstDash val="solid"/>
          </a:ln>
        </p:spPr>
      </p:sp>
      <p:sp>
        <p:nvSpPr>
          <p:cNvPr id="41" name="Text 37"/>
          <p:cNvSpPr/>
          <p:nvPr/>
        </p:nvSpPr>
        <p:spPr>
          <a:xfrm>
            <a:off x="1005840" y="4727448"/>
            <a:ext cx="7059168" cy="457200"/>
          </a:xfrm>
          <a:prstGeom prst="rect">
            <a:avLst/>
          </a:prstGeom>
          <a:noFill/>
          <a:ln/>
        </p:spPr>
        <p:txBody>
          <a:bodyPr wrap="square" lIns="0" tIns="0" rIns="0" bIns="0" rtlCol="0" anchor="t">
            <a:normAutofit/>
          </a:bodyPr>
          <a:lstStyle/>
          <a:p>
            <a:pPr algn="l" indent="0" marL="0">
              <a:buNone/>
            </a:pPr>
            <a:r>
              <a:rPr lang="en-US" sz="1500" dirty="0">
                <a:solidFill>
                  <a:srgbClr val="1D2725"/>
                </a:solidFill>
                <a:latin typeface="Aptos" pitchFamily="34" charset="0"/>
                <a:ea typeface="Aptos" pitchFamily="34" charset="-122"/>
                <a:cs typeface="Aptos" pitchFamily="34" charset="-120"/>
              </a:rPr>
              <a:t>Four personas: Public, Student, Researcher and Practitioner</a:t>
            </a:r>
            <a:endParaRPr lang="en-US" sz="1500" dirty="0"/>
          </a:p>
        </p:txBody>
      </p:sp>
      <p:sp>
        <p:nvSpPr>
          <p:cNvPr id="42" name="Shape 38"/>
          <p:cNvSpPr/>
          <p:nvPr/>
        </p:nvSpPr>
        <p:spPr>
          <a:xfrm>
            <a:off x="795528" y="5367528"/>
            <a:ext cx="82296" cy="82296"/>
          </a:xfrm>
          <a:prstGeom prst="ellipse">
            <a:avLst/>
          </a:prstGeom>
          <a:solidFill>
            <a:srgbClr val="28574A"/>
          </a:solidFill>
          <a:ln w="12700">
            <a:solidFill>
              <a:srgbClr val="28574A"/>
            </a:solidFill>
            <a:prstDash val="solid"/>
          </a:ln>
        </p:spPr>
      </p:sp>
      <p:sp>
        <p:nvSpPr>
          <p:cNvPr id="43" name="Text 39"/>
          <p:cNvSpPr/>
          <p:nvPr/>
        </p:nvSpPr>
        <p:spPr>
          <a:xfrm>
            <a:off x="1005840" y="5257800"/>
            <a:ext cx="7059168" cy="457200"/>
          </a:xfrm>
          <a:prstGeom prst="rect">
            <a:avLst/>
          </a:prstGeom>
          <a:noFill/>
          <a:ln/>
        </p:spPr>
        <p:txBody>
          <a:bodyPr wrap="square" lIns="0" tIns="0" rIns="0" bIns="0" rtlCol="0" anchor="t">
            <a:normAutofit/>
          </a:bodyPr>
          <a:lstStyle/>
          <a:p>
            <a:pPr algn="l" indent="0" marL="0">
              <a:buNone/>
            </a:pPr>
            <a:r>
              <a:rPr lang="en-US" sz="1500" dirty="0">
                <a:solidFill>
                  <a:srgbClr val="1D2725"/>
                </a:solidFill>
                <a:latin typeface="Aptos" pitchFamily="34" charset="0"/>
                <a:ea typeface="Aptos" pitchFamily="34" charset="-122"/>
                <a:cs typeface="Aptos" pitchFamily="34" charset="-120"/>
              </a:rPr>
              <a:t>Medicinal uses and plant-disease knowledge, with bilingual Q&amp;A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 y="292608"/>
            <a:ext cx="10808208" cy="228600"/>
          </a:xfrm>
          <a:prstGeom prst="rect">
            <a:avLst/>
          </a:prstGeom>
          <a:noFill/>
          <a:ln/>
        </p:spPr>
        <p:txBody>
          <a:bodyPr wrap="square" lIns="0" tIns="0" rIns="0" bIns="0" rtlCol="0" anchor="ctr"/>
          <a:lstStyle/>
          <a:p>
            <a:pPr algn="ctr" indent="0" marL="0">
              <a:buNone/>
            </a:pPr>
            <a:r>
              <a:rPr lang="en-US" sz="1080" b="1" spc="150" kern="0" dirty="0">
                <a:solidFill>
                  <a:srgbClr val="28574A"/>
                </a:solidFill>
                <a:latin typeface="Aptos" pitchFamily="34" charset="0"/>
                <a:ea typeface="Aptos" pitchFamily="34" charset="-122"/>
                <a:cs typeface="Aptos" pitchFamily="34" charset="-120"/>
              </a:rPr>
              <a:t>COMPONENT 03 / 04</a:t>
            </a:r>
            <a:endParaRPr lang="en-US" sz="1080" dirty="0"/>
          </a:p>
        </p:txBody>
      </p:sp>
      <p:sp>
        <p:nvSpPr>
          <p:cNvPr id="3" name="Text 1"/>
          <p:cNvSpPr/>
          <p:nvPr/>
        </p:nvSpPr>
        <p:spPr>
          <a:xfrm>
            <a:off x="658368" y="612648"/>
            <a:ext cx="10863072" cy="630936"/>
          </a:xfrm>
          <a:prstGeom prst="rect">
            <a:avLst/>
          </a:prstGeom>
          <a:noFill/>
          <a:ln/>
        </p:spPr>
        <p:txBody>
          <a:bodyPr wrap="square" lIns="0" tIns="0" rIns="0" bIns="0" rtlCol="0" anchor="ctr">
            <a:normAutofit/>
          </a:bodyPr>
          <a:lstStyle/>
          <a:p>
            <a:pPr algn="ctr" indent="0" marL="0">
              <a:buNone/>
            </a:pPr>
            <a:r>
              <a:rPr lang="en-US" sz="2550" b="1" dirty="0">
                <a:solidFill>
                  <a:srgbClr val="1D2725"/>
                </a:solidFill>
                <a:latin typeface="Georgia" pitchFamily="34" charset="0"/>
                <a:ea typeface="Georgia" pitchFamily="34" charset="-122"/>
                <a:cs typeface="Georgia" pitchFamily="34" charset="-120"/>
              </a:rPr>
              <a:t>AI-Driven Cultivation Recommendation</a:t>
            </a:r>
            <a:endParaRPr lang="en-US" sz="2550" dirty="0"/>
          </a:p>
        </p:txBody>
      </p:sp>
      <p:sp>
        <p:nvSpPr>
          <p:cNvPr id="4" name="Shape 2"/>
          <p:cNvSpPr/>
          <p:nvPr/>
        </p:nvSpPr>
        <p:spPr>
          <a:xfrm>
            <a:off x="4462272" y="1325880"/>
            <a:ext cx="3264408" cy="0"/>
          </a:xfrm>
          <a:prstGeom prst="line">
            <a:avLst/>
          </a:prstGeom>
          <a:noFill/>
          <a:ln w="16510">
            <a:solidFill>
              <a:srgbClr val="BBD5C5"/>
            </a:solidFill>
            <a:prstDash val="solid"/>
          </a:ln>
        </p:spPr>
      </p:sp>
      <p:sp>
        <p:nvSpPr>
          <p:cNvPr id="5" name="Shape 3"/>
          <p:cNvSpPr/>
          <p:nvPr/>
        </p:nvSpPr>
        <p:spPr>
          <a:xfrm>
            <a:off x="9637776" y="1362456"/>
            <a:ext cx="1399032" cy="1399032"/>
          </a:xfrm>
          <a:prstGeom prst="ellipse">
            <a:avLst/>
          </a:prstGeom>
          <a:solidFill>
            <a:srgbClr val="FFFFFF"/>
          </a:solidFill>
          <a:ln w="26670">
            <a:solidFill>
              <a:srgbClr val="E9F1ED"/>
            </a:solidFill>
            <a:prstDash val="solid"/>
          </a:ln>
        </p:spPr>
      </p:sp>
      <p:pic>
        <p:nvPicPr>
          <p:cNvPr id="6" name="Image 0" descr="/mnt/data/proposal_assets/cultivation_circle.png">    </p:cNvPr>
          <p:cNvPicPr>
            <a:picLocks noChangeAspect="1"/>
          </p:cNvPicPr>
          <p:nvPr/>
        </p:nvPicPr>
        <p:blipFill>
          <a:blip r:embed="rId1"/>
          <a:stretch>
            <a:fillRect/>
          </a:stretch>
        </p:blipFill>
        <p:spPr>
          <a:xfrm>
            <a:off x="9701784" y="1426464"/>
            <a:ext cx="1271016" cy="1271016"/>
          </a:xfrm>
          <a:prstGeom prst="rect">
            <a:avLst/>
          </a:prstGeom>
        </p:spPr>
      </p:pic>
      <p:sp>
        <p:nvSpPr>
          <p:cNvPr id="7" name="Text 4"/>
          <p:cNvSpPr/>
          <p:nvPr/>
        </p:nvSpPr>
        <p:spPr>
          <a:xfrm>
            <a:off x="8567928" y="2811780"/>
            <a:ext cx="3474720" cy="256032"/>
          </a:xfrm>
          <a:prstGeom prst="rect">
            <a:avLst/>
          </a:prstGeom>
          <a:noFill/>
          <a:ln/>
        </p:spPr>
        <p:txBody>
          <a:bodyPr wrap="square" lIns="0" tIns="0" rIns="0" bIns="0" rtlCol="0" anchor="ctr">
            <a:normAutofit/>
          </a:bodyPr>
          <a:lstStyle/>
          <a:p>
            <a:pPr algn="ctr" indent="0" marL="0">
              <a:buNone/>
            </a:pPr>
            <a:r>
              <a:rPr lang="en-US" sz="1250" b="1" dirty="0">
                <a:solidFill>
                  <a:srgbClr val="1D2725"/>
                </a:solidFill>
                <a:latin typeface="Georgia" pitchFamily="34" charset="0"/>
                <a:ea typeface="Georgia" pitchFamily="34" charset="-122"/>
                <a:cs typeface="Georgia" pitchFamily="34" charset="-120"/>
              </a:rPr>
              <a:t>D G T K WICKRAMASINGHE</a:t>
            </a:r>
            <a:endParaRPr lang="en-US" sz="1250" dirty="0"/>
          </a:p>
        </p:txBody>
      </p:sp>
      <p:sp>
        <p:nvSpPr>
          <p:cNvPr id="8" name="Text 5"/>
          <p:cNvSpPr/>
          <p:nvPr/>
        </p:nvSpPr>
        <p:spPr>
          <a:xfrm>
            <a:off x="8915400" y="3099816"/>
            <a:ext cx="2779776" cy="210312"/>
          </a:xfrm>
          <a:prstGeom prst="rect">
            <a:avLst/>
          </a:prstGeom>
          <a:noFill/>
          <a:ln/>
        </p:spPr>
        <p:txBody>
          <a:bodyPr wrap="square" lIns="0" tIns="0" rIns="0" bIns="0" rtlCol="0" anchor="ctr"/>
          <a:lstStyle/>
          <a:p>
            <a:pPr algn="ctr" indent="0" marL="0">
              <a:buNone/>
            </a:pPr>
            <a:r>
              <a:rPr lang="en-US" sz="1080" b="1" dirty="0">
                <a:solidFill>
                  <a:srgbClr val="28574A"/>
                </a:solidFill>
                <a:latin typeface="Aptos" pitchFamily="34" charset="0"/>
                <a:ea typeface="Aptos" pitchFamily="34" charset="-122"/>
                <a:cs typeface="Aptos" pitchFamily="34" charset="-120"/>
              </a:rPr>
              <a:t>IT22132796</a:t>
            </a:r>
            <a:endParaRPr lang="en-US" sz="1080" dirty="0"/>
          </a:p>
        </p:txBody>
      </p:sp>
      <p:sp>
        <p:nvSpPr>
          <p:cNvPr id="9" name="Shape 6"/>
          <p:cNvSpPr/>
          <p:nvPr/>
        </p:nvSpPr>
        <p:spPr>
          <a:xfrm>
            <a:off x="9125712" y="3474720"/>
            <a:ext cx="2414016" cy="2487168"/>
          </a:xfrm>
          <a:prstGeom prst="roundRect">
            <a:avLst>
              <a:gd name="adj" fmla="val 6818"/>
            </a:avLst>
          </a:prstGeom>
          <a:solidFill>
            <a:srgbClr val="FFFFFF"/>
          </a:solidFill>
          <a:ln w="15240">
            <a:solidFill>
              <a:srgbClr val="D8E2DC"/>
            </a:solidFill>
            <a:prstDash val="solid"/>
          </a:ln>
        </p:spPr>
      </p:sp>
      <p:sp>
        <p:nvSpPr>
          <p:cNvPr id="10" name="Shape 7"/>
          <p:cNvSpPr/>
          <p:nvPr/>
        </p:nvSpPr>
        <p:spPr>
          <a:xfrm>
            <a:off x="10058400" y="3584448"/>
            <a:ext cx="576072" cy="0"/>
          </a:xfrm>
          <a:prstGeom prst="line">
            <a:avLst/>
          </a:prstGeom>
          <a:noFill/>
          <a:ln w="19050">
            <a:solidFill>
              <a:srgbClr val="60716C"/>
            </a:solidFill>
            <a:prstDash val="solid"/>
          </a:ln>
        </p:spPr>
      </p:sp>
      <p:sp>
        <p:nvSpPr>
          <p:cNvPr id="11" name="Text 8"/>
          <p:cNvSpPr/>
          <p:nvPr/>
        </p:nvSpPr>
        <p:spPr>
          <a:xfrm>
            <a:off x="9290304" y="3840480"/>
            <a:ext cx="2084832" cy="274320"/>
          </a:xfrm>
          <a:prstGeom prst="rect">
            <a:avLst/>
          </a:prstGeom>
          <a:noFill/>
          <a:ln/>
        </p:spPr>
        <p:txBody>
          <a:bodyPr wrap="square" lIns="0" tIns="0" rIns="0" bIns="0" rtlCol="0" anchor="ctr">
            <a:normAutofit/>
          </a:bodyPr>
          <a:lstStyle/>
          <a:p>
            <a:pPr algn="ctr" indent="0" marL="0">
              <a:buNone/>
            </a:pPr>
            <a:r>
              <a:rPr lang="en-US" sz="1040" b="1" dirty="0">
                <a:solidFill>
                  <a:srgbClr val="28574A"/>
                </a:solidFill>
                <a:latin typeface="Aptos" pitchFamily="34" charset="0"/>
                <a:ea typeface="Aptos" pitchFamily="34" charset="-122"/>
                <a:cs typeface="Aptos" pitchFamily="34" charset="-120"/>
              </a:rPr>
              <a:t>CULTIVATION</a:t>
            </a:r>
            <a:endParaRPr lang="en-US" sz="1040" dirty="0"/>
          </a:p>
        </p:txBody>
      </p:sp>
      <p:sp>
        <p:nvSpPr>
          <p:cNvPr id="12" name="Shape 9"/>
          <p:cNvSpPr/>
          <p:nvPr/>
        </p:nvSpPr>
        <p:spPr>
          <a:xfrm>
            <a:off x="9381744" y="4251960"/>
            <a:ext cx="1901952" cy="914400"/>
          </a:xfrm>
          <a:prstGeom prst="roundRect">
            <a:avLst>
              <a:gd name="adj" fmla="val 6000"/>
            </a:avLst>
          </a:prstGeom>
          <a:solidFill>
            <a:srgbClr val="F7F9F7"/>
          </a:solidFill>
          <a:ln w="12700">
            <a:solidFill>
              <a:srgbClr val="F7F9F7"/>
            </a:solidFill>
            <a:prstDash val="solid"/>
          </a:ln>
        </p:spPr>
      </p:sp>
      <p:sp>
        <p:nvSpPr>
          <p:cNvPr id="13" name="Shape 10"/>
          <p:cNvSpPr/>
          <p:nvPr/>
        </p:nvSpPr>
        <p:spPr>
          <a:xfrm>
            <a:off x="9592056" y="4462272"/>
            <a:ext cx="1453896" cy="0"/>
          </a:xfrm>
          <a:prstGeom prst="line">
            <a:avLst/>
          </a:prstGeom>
          <a:noFill/>
          <a:ln w="63500">
            <a:solidFill>
              <a:srgbClr val="BBD5C5"/>
            </a:solidFill>
            <a:prstDash val="solid"/>
          </a:ln>
        </p:spPr>
      </p:sp>
      <p:sp>
        <p:nvSpPr>
          <p:cNvPr id="14" name="Shape 11"/>
          <p:cNvSpPr/>
          <p:nvPr/>
        </p:nvSpPr>
        <p:spPr>
          <a:xfrm>
            <a:off x="9592056" y="4700016"/>
            <a:ext cx="1371600" cy="0"/>
          </a:xfrm>
          <a:prstGeom prst="line">
            <a:avLst/>
          </a:prstGeom>
          <a:noFill/>
          <a:ln w="63500">
            <a:solidFill>
              <a:srgbClr val="D8E2DC"/>
            </a:solidFill>
            <a:prstDash val="solid"/>
          </a:ln>
        </p:spPr>
      </p:sp>
      <p:sp>
        <p:nvSpPr>
          <p:cNvPr id="15" name="Shape 12"/>
          <p:cNvSpPr/>
          <p:nvPr/>
        </p:nvSpPr>
        <p:spPr>
          <a:xfrm>
            <a:off x="9592056" y="4937760"/>
            <a:ext cx="1289304" cy="0"/>
          </a:xfrm>
          <a:prstGeom prst="line">
            <a:avLst/>
          </a:prstGeom>
          <a:noFill/>
          <a:ln w="63500">
            <a:solidFill>
              <a:srgbClr val="D8E2DC"/>
            </a:solidFill>
            <a:prstDash val="solid"/>
          </a:ln>
        </p:spPr>
      </p:sp>
      <p:sp>
        <p:nvSpPr>
          <p:cNvPr id="16" name="Text 13"/>
          <p:cNvSpPr/>
          <p:nvPr/>
        </p:nvSpPr>
        <p:spPr>
          <a:xfrm>
            <a:off x="9354312" y="5376672"/>
            <a:ext cx="1956816" cy="164592"/>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INSERT ACTUAL</a:t>
            </a:r>
            <a:endParaRPr lang="en-US" sz="1040" dirty="0"/>
          </a:p>
        </p:txBody>
      </p:sp>
      <p:sp>
        <p:nvSpPr>
          <p:cNvPr id="17" name="Text 14"/>
          <p:cNvSpPr/>
          <p:nvPr/>
        </p:nvSpPr>
        <p:spPr>
          <a:xfrm>
            <a:off x="9345168" y="5559552"/>
            <a:ext cx="1975104" cy="182880"/>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APP SCREENSHOT</a:t>
            </a:r>
            <a:endParaRPr lang="en-US" sz="1040" dirty="0"/>
          </a:p>
        </p:txBody>
      </p:sp>
      <p:sp>
        <p:nvSpPr>
          <p:cNvPr id="18" name="Shape 15"/>
          <p:cNvSpPr/>
          <p:nvPr/>
        </p:nvSpPr>
        <p:spPr>
          <a:xfrm>
            <a:off x="484632" y="6281928"/>
            <a:ext cx="11247120" cy="0"/>
          </a:xfrm>
          <a:prstGeom prst="line">
            <a:avLst/>
          </a:prstGeom>
          <a:noFill/>
          <a:ln w="9525">
            <a:solidFill>
              <a:srgbClr val="D8E2DC"/>
            </a:solidFill>
            <a:prstDash val="solid"/>
          </a:ln>
        </p:spPr>
      </p:sp>
      <p:pic>
        <p:nvPicPr>
          <p:cNvPr id="19" name="Image 1" descr="/mnt/data/proposal_assets/logo.png">    </p:cNvPr>
          <p:cNvPicPr>
            <a:picLocks noChangeAspect="1"/>
          </p:cNvPicPr>
          <p:nvPr/>
        </p:nvPicPr>
        <p:blipFill>
          <a:blip r:embed="rId2"/>
          <a:stretch>
            <a:fillRect/>
          </a:stretch>
        </p:blipFill>
        <p:spPr>
          <a:xfrm>
            <a:off x="548640" y="6336792"/>
            <a:ext cx="320040" cy="274320"/>
          </a:xfrm>
          <a:prstGeom prst="rect">
            <a:avLst/>
          </a:prstGeom>
        </p:spPr>
      </p:pic>
      <p:sp>
        <p:nvSpPr>
          <p:cNvPr id="20" name="Text 16"/>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21" name="Text 17"/>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22" name="Text 18"/>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IT22132796  |  D G T K WICKRAMASINGHE  |  R-26-IT-021</a:t>
            </a:r>
            <a:endParaRPr lang="en-US" sz="820" dirty="0"/>
          </a:p>
        </p:txBody>
      </p:sp>
      <p:sp>
        <p:nvSpPr>
          <p:cNvPr id="23" name="Text 19"/>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24" name="Text 20"/>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5</a:t>
            </a:r>
            <a:endParaRPr lang="en-US" sz="830" dirty="0"/>
          </a:p>
        </p:txBody>
      </p:sp>
      <p:sp>
        <p:nvSpPr>
          <p:cNvPr id="25" name="Text 21"/>
          <p:cNvSpPr/>
          <p:nvPr/>
        </p:nvSpPr>
        <p:spPr>
          <a:xfrm>
            <a:off x="777240" y="1517904"/>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WHAT THIS COMPONENT DOES</a:t>
            </a:r>
            <a:endParaRPr lang="en-US" sz="1110" dirty="0"/>
          </a:p>
        </p:txBody>
      </p:sp>
      <p:sp>
        <p:nvSpPr>
          <p:cNvPr id="26" name="Text 22"/>
          <p:cNvSpPr/>
          <p:nvPr/>
        </p:nvSpPr>
        <p:spPr>
          <a:xfrm>
            <a:off x="777240" y="1837944"/>
            <a:ext cx="7552944" cy="713232"/>
          </a:xfrm>
          <a:prstGeom prst="rect">
            <a:avLst/>
          </a:prstGeom>
          <a:noFill/>
          <a:ln/>
        </p:spPr>
        <p:txBody>
          <a:bodyPr wrap="square" lIns="0" tIns="0" rIns="0" bIns="0" rtlCol="0" anchor="ctr">
            <a:normAutofit/>
          </a:bodyPr>
          <a:lstStyle/>
          <a:p>
            <a:pPr algn="l" indent="0" marL="0">
              <a:buNone/>
            </a:pPr>
            <a:r>
              <a:rPr lang="en-US" sz="1900" b="1" dirty="0">
                <a:solidFill>
                  <a:srgbClr val="1D2725"/>
                </a:solidFill>
                <a:latin typeface="Georgia" pitchFamily="34" charset="0"/>
                <a:ea typeface="Georgia" pitchFamily="34" charset="-122"/>
                <a:cs typeface="Georgia" pitchFamily="34" charset="-120"/>
              </a:rPr>
              <a:t>Recommends medicinal plants by combining cultivation conditions with economic considerations.</a:t>
            </a:r>
            <a:endParaRPr lang="en-US" sz="1900" dirty="0"/>
          </a:p>
        </p:txBody>
      </p:sp>
      <p:sp>
        <p:nvSpPr>
          <p:cNvPr id="27" name="Text 23"/>
          <p:cNvSpPr/>
          <p:nvPr/>
        </p:nvSpPr>
        <p:spPr>
          <a:xfrm>
            <a:off x="777240" y="2825496"/>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RECOMMENDATION WORKFLOW</a:t>
            </a:r>
            <a:endParaRPr lang="en-US" sz="1110" dirty="0"/>
          </a:p>
        </p:txBody>
      </p:sp>
      <p:sp>
        <p:nvSpPr>
          <p:cNvPr id="28" name="Shape 24"/>
          <p:cNvSpPr/>
          <p:nvPr/>
        </p:nvSpPr>
        <p:spPr>
          <a:xfrm>
            <a:off x="777240" y="3191256"/>
            <a:ext cx="2334768" cy="804672"/>
          </a:xfrm>
          <a:prstGeom prst="roundRect">
            <a:avLst>
              <a:gd name="adj" fmla="val 9091"/>
            </a:avLst>
          </a:prstGeom>
          <a:solidFill>
            <a:srgbClr val="E9F1ED"/>
          </a:solidFill>
          <a:ln w="8890">
            <a:solidFill>
              <a:srgbClr val="D8E2DC"/>
            </a:solidFill>
            <a:prstDash val="solid"/>
          </a:ln>
        </p:spPr>
      </p:sp>
      <p:sp>
        <p:nvSpPr>
          <p:cNvPr id="29" name="Text 25"/>
          <p:cNvSpPr/>
          <p:nvPr/>
        </p:nvSpPr>
        <p:spPr>
          <a:xfrm>
            <a:off x="896112" y="3291840"/>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01</a:t>
            </a:r>
            <a:endParaRPr lang="en-US" sz="1000" dirty="0"/>
          </a:p>
        </p:txBody>
      </p:sp>
      <p:sp>
        <p:nvSpPr>
          <p:cNvPr id="30" name="Text 26"/>
          <p:cNvSpPr/>
          <p:nvPr/>
        </p:nvSpPr>
        <p:spPr>
          <a:xfrm>
            <a:off x="896112" y="3483864"/>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Location + farm details</a:t>
            </a:r>
            <a:endParaRPr lang="en-US" sz="1310" dirty="0"/>
          </a:p>
        </p:txBody>
      </p:sp>
      <p:sp>
        <p:nvSpPr>
          <p:cNvPr id="31" name="Text 27"/>
          <p:cNvSpPr/>
          <p:nvPr/>
        </p:nvSpPr>
        <p:spPr>
          <a:xfrm>
            <a:off x="3038856" y="3456432"/>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2" name="Shape 28"/>
          <p:cNvSpPr/>
          <p:nvPr/>
        </p:nvSpPr>
        <p:spPr>
          <a:xfrm>
            <a:off x="3276600" y="3191256"/>
            <a:ext cx="2334768" cy="804672"/>
          </a:xfrm>
          <a:prstGeom prst="roundRect">
            <a:avLst>
              <a:gd name="adj" fmla="val 9091"/>
            </a:avLst>
          </a:prstGeom>
          <a:solidFill>
            <a:srgbClr val="F7F9F7"/>
          </a:solidFill>
          <a:ln w="8890">
            <a:solidFill>
              <a:srgbClr val="D8E2DC"/>
            </a:solidFill>
            <a:prstDash val="solid"/>
          </a:ln>
        </p:spPr>
      </p:sp>
      <p:sp>
        <p:nvSpPr>
          <p:cNvPr id="33" name="Text 29"/>
          <p:cNvSpPr/>
          <p:nvPr/>
        </p:nvSpPr>
        <p:spPr>
          <a:xfrm>
            <a:off x="3395472" y="3291840"/>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02</a:t>
            </a:r>
            <a:endParaRPr lang="en-US" sz="1000" dirty="0"/>
          </a:p>
        </p:txBody>
      </p:sp>
      <p:sp>
        <p:nvSpPr>
          <p:cNvPr id="34" name="Text 30"/>
          <p:cNvSpPr/>
          <p:nvPr/>
        </p:nvSpPr>
        <p:spPr>
          <a:xfrm>
            <a:off x="3395472" y="3483864"/>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Weather / soil / price data</a:t>
            </a:r>
            <a:endParaRPr lang="en-US" sz="1310" dirty="0"/>
          </a:p>
        </p:txBody>
      </p:sp>
      <p:sp>
        <p:nvSpPr>
          <p:cNvPr id="35" name="Text 31"/>
          <p:cNvSpPr/>
          <p:nvPr/>
        </p:nvSpPr>
        <p:spPr>
          <a:xfrm>
            <a:off x="5538216" y="3456432"/>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6" name="Shape 32"/>
          <p:cNvSpPr/>
          <p:nvPr/>
        </p:nvSpPr>
        <p:spPr>
          <a:xfrm>
            <a:off x="5775960" y="3191256"/>
            <a:ext cx="2334768" cy="804672"/>
          </a:xfrm>
          <a:prstGeom prst="roundRect">
            <a:avLst>
              <a:gd name="adj" fmla="val 9091"/>
            </a:avLst>
          </a:prstGeom>
          <a:solidFill>
            <a:srgbClr val="E9F1ED"/>
          </a:solidFill>
          <a:ln w="8890">
            <a:solidFill>
              <a:srgbClr val="D8E2DC"/>
            </a:solidFill>
            <a:prstDash val="solid"/>
          </a:ln>
        </p:spPr>
      </p:sp>
      <p:sp>
        <p:nvSpPr>
          <p:cNvPr id="37" name="Text 33"/>
          <p:cNvSpPr/>
          <p:nvPr/>
        </p:nvSpPr>
        <p:spPr>
          <a:xfrm>
            <a:off x="5894832" y="3291840"/>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03</a:t>
            </a:r>
            <a:endParaRPr lang="en-US" sz="1000" dirty="0"/>
          </a:p>
        </p:txBody>
      </p:sp>
      <p:sp>
        <p:nvSpPr>
          <p:cNvPr id="38" name="Text 34"/>
          <p:cNvSpPr/>
          <p:nvPr/>
        </p:nvSpPr>
        <p:spPr>
          <a:xfrm>
            <a:off x="5894832" y="3483864"/>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Plant suitability ranking</a:t>
            </a:r>
            <a:endParaRPr lang="en-US" sz="1310" dirty="0"/>
          </a:p>
        </p:txBody>
      </p:sp>
      <p:sp>
        <p:nvSpPr>
          <p:cNvPr id="39" name="Text 35"/>
          <p:cNvSpPr/>
          <p:nvPr/>
        </p:nvSpPr>
        <p:spPr>
          <a:xfrm>
            <a:off x="777240" y="4407408"/>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MAIN OUTPUTS</a:t>
            </a:r>
            <a:endParaRPr lang="en-US" sz="1110" dirty="0"/>
          </a:p>
        </p:txBody>
      </p:sp>
      <p:sp>
        <p:nvSpPr>
          <p:cNvPr id="40" name="Shape 36"/>
          <p:cNvSpPr/>
          <p:nvPr/>
        </p:nvSpPr>
        <p:spPr>
          <a:xfrm>
            <a:off x="795528" y="4846320"/>
            <a:ext cx="82296" cy="82296"/>
          </a:xfrm>
          <a:prstGeom prst="ellipse">
            <a:avLst/>
          </a:prstGeom>
          <a:solidFill>
            <a:srgbClr val="28574A"/>
          </a:solidFill>
          <a:ln w="12700">
            <a:solidFill>
              <a:srgbClr val="28574A"/>
            </a:solidFill>
            <a:prstDash val="solid"/>
          </a:ln>
        </p:spPr>
      </p:sp>
      <p:sp>
        <p:nvSpPr>
          <p:cNvPr id="41" name="Text 37"/>
          <p:cNvSpPr/>
          <p:nvPr/>
        </p:nvSpPr>
        <p:spPr>
          <a:xfrm>
            <a:off x="1005840" y="4736592"/>
            <a:ext cx="7059168" cy="457200"/>
          </a:xfrm>
          <a:prstGeom prst="rect">
            <a:avLst/>
          </a:prstGeom>
          <a:noFill/>
          <a:ln/>
        </p:spPr>
        <p:txBody>
          <a:bodyPr wrap="square" lIns="0" tIns="0" rIns="0" bIns="0" rtlCol="0" anchor="t">
            <a:normAutofit/>
          </a:bodyPr>
          <a:lstStyle/>
          <a:p>
            <a:pPr algn="l" indent="0" marL="0">
              <a:buNone/>
            </a:pPr>
            <a:r>
              <a:rPr lang="en-US" sz="1500" dirty="0">
                <a:solidFill>
                  <a:srgbClr val="1D2725"/>
                </a:solidFill>
                <a:latin typeface="Aptos" pitchFamily="34" charset="0"/>
                <a:ea typeface="Aptos" pitchFamily="34" charset="-122"/>
                <a:cs typeface="Aptos" pitchFamily="34" charset="-120"/>
              </a:rPr>
              <a:t>Suitable medicinal plant options, with profit and risk considerations</a:t>
            </a:r>
            <a:endParaRPr lang="en-US" sz="1500" dirty="0"/>
          </a:p>
        </p:txBody>
      </p:sp>
      <p:sp>
        <p:nvSpPr>
          <p:cNvPr id="42" name="Shape 38"/>
          <p:cNvSpPr/>
          <p:nvPr/>
        </p:nvSpPr>
        <p:spPr>
          <a:xfrm>
            <a:off x="795528" y="5385816"/>
            <a:ext cx="82296" cy="82296"/>
          </a:xfrm>
          <a:prstGeom prst="ellipse">
            <a:avLst/>
          </a:prstGeom>
          <a:solidFill>
            <a:srgbClr val="28574A"/>
          </a:solidFill>
          <a:ln w="12700">
            <a:solidFill>
              <a:srgbClr val="28574A"/>
            </a:solidFill>
            <a:prstDash val="solid"/>
          </a:ln>
        </p:spPr>
      </p:sp>
      <p:sp>
        <p:nvSpPr>
          <p:cNvPr id="43" name="Text 39"/>
          <p:cNvSpPr/>
          <p:nvPr/>
        </p:nvSpPr>
        <p:spPr>
          <a:xfrm>
            <a:off x="1005840" y="5276088"/>
            <a:ext cx="7059168" cy="457200"/>
          </a:xfrm>
          <a:prstGeom prst="rect">
            <a:avLst/>
          </a:prstGeom>
          <a:noFill/>
          <a:ln/>
        </p:spPr>
        <p:txBody>
          <a:bodyPr wrap="square" lIns="0" tIns="0" rIns="0" bIns="0" rtlCol="0" anchor="t">
            <a:normAutofit/>
          </a:bodyPr>
          <a:lstStyle/>
          <a:p>
            <a:pPr algn="l" indent="0" marL="0">
              <a:buNone/>
            </a:pPr>
            <a:r>
              <a:rPr lang="en-US" sz="1500" dirty="0">
                <a:solidFill>
                  <a:srgbClr val="1D2725"/>
                </a:solidFill>
                <a:latin typeface="Aptos" pitchFamily="34" charset="0"/>
                <a:ea typeface="Aptos" pitchFamily="34" charset="-122"/>
                <a:cs typeface="Aptos" pitchFamily="34" charset="-120"/>
              </a:rPr>
              <a:t>Live weather retrieval requires network access and location information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 y="292608"/>
            <a:ext cx="10808208" cy="228600"/>
          </a:xfrm>
          <a:prstGeom prst="rect">
            <a:avLst/>
          </a:prstGeom>
          <a:noFill/>
          <a:ln/>
        </p:spPr>
        <p:txBody>
          <a:bodyPr wrap="square" lIns="0" tIns="0" rIns="0" bIns="0" rtlCol="0" anchor="ctr"/>
          <a:lstStyle/>
          <a:p>
            <a:pPr algn="ctr" indent="0" marL="0">
              <a:buNone/>
            </a:pPr>
            <a:r>
              <a:rPr lang="en-US" sz="1080" b="1" spc="150" kern="0" dirty="0">
                <a:solidFill>
                  <a:srgbClr val="28574A"/>
                </a:solidFill>
                <a:latin typeface="Aptos" pitchFamily="34" charset="0"/>
                <a:ea typeface="Aptos" pitchFamily="34" charset="-122"/>
                <a:cs typeface="Aptos" pitchFamily="34" charset="-120"/>
              </a:rPr>
              <a:t>COMPONENT 04 / 04</a:t>
            </a:r>
            <a:endParaRPr lang="en-US" sz="1080" dirty="0"/>
          </a:p>
        </p:txBody>
      </p:sp>
      <p:sp>
        <p:nvSpPr>
          <p:cNvPr id="3" name="Text 1"/>
          <p:cNvSpPr/>
          <p:nvPr/>
        </p:nvSpPr>
        <p:spPr>
          <a:xfrm>
            <a:off x="658368" y="612648"/>
            <a:ext cx="10863072" cy="630936"/>
          </a:xfrm>
          <a:prstGeom prst="rect">
            <a:avLst/>
          </a:prstGeom>
          <a:noFill/>
          <a:ln/>
        </p:spPr>
        <p:txBody>
          <a:bodyPr wrap="square" lIns="0" tIns="0" rIns="0" bIns="0" rtlCol="0" anchor="ctr">
            <a:normAutofit/>
          </a:bodyPr>
          <a:lstStyle/>
          <a:p>
            <a:pPr algn="ctr" indent="0" marL="0">
              <a:buNone/>
            </a:pPr>
            <a:r>
              <a:rPr lang="en-US" sz="2550" b="1" dirty="0">
                <a:solidFill>
                  <a:srgbClr val="1D2725"/>
                </a:solidFill>
                <a:latin typeface="Georgia" pitchFamily="34" charset="0"/>
                <a:ea typeface="Georgia" pitchFamily="34" charset="-122"/>
                <a:cs typeface="Georgia" pitchFamily="34" charset="-120"/>
              </a:rPr>
              <a:t>Explainable Plant Quality Assessment</a:t>
            </a:r>
            <a:endParaRPr lang="en-US" sz="2550" dirty="0"/>
          </a:p>
        </p:txBody>
      </p:sp>
      <p:sp>
        <p:nvSpPr>
          <p:cNvPr id="4" name="Shape 2"/>
          <p:cNvSpPr/>
          <p:nvPr/>
        </p:nvSpPr>
        <p:spPr>
          <a:xfrm>
            <a:off x="4462272" y="1325880"/>
            <a:ext cx="3264408" cy="0"/>
          </a:xfrm>
          <a:prstGeom prst="line">
            <a:avLst/>
          </a:prstGeom>
          <a:noFill/>
          <a:ln w="16510">
            <a:solidFill>
              <a:srgbClr val="BBD5C5"/>
            </a:solidFill>
            <a:prstDash val="solid"/>
          </a:ln>
        </p:spPr>
      </p:sp>
      <p:sp>
        <p:nvSpPr>
          <p:cNvPr id="5" name="Shape 3"/>
          <p:cNvSpPr/>
          <p:nvPr/>
        </p:nvSpPr>
        <p:spPr>
          <a:xfrm>
            <a:off x="9637776" y="1362456"/>
            <a:ext cx="1399032" cy="1399032"/>
          </a:xfrm>
          <a:prstGeom prst="ellipse">
            <a:avLst/>
          </a:prstGeom>
          <a:solidFill>
            <a:srgbClr val="FFFFFF"/>
          </a:solidFill>
          <a:ln w="26670">
            <a:solidFill>
              <a:srgbClr val="E9F1ED"/>
            </a:solidFill>
            <a:prstDash val="solid"/>
          </a:ln>
        </p:spPr>
      </p:sp>
      <p:pic>
        <p:nvPicPr>
          <p:cNvPr id="6" name="Image 0" descr="/mnt/data/proposal_assets/quality_circle.png">    </p:cNvPr>
          <p:cNvPicPr>
            <a:picLocks noChangeAspect="1"/>
          </p:cNvPicPr>
          <p:nvPr/>
        </p:nvPicPr>
        <p:blipFill>
          <a:blip r:embed="rId1"/>
          <a:stretch>
            <a:fillRect/>
          </a:stretch>
        </p:blipFill>
        <p:spPr>
          <a:xfrm>
            <a:off x="9701784" y="1426464"/>
            <a:ext cx="1271016" cy="1271016"/>
          </a:xfrm>
          <a:prstGeom prst="rect">
            <a:avLst/>
          </a:prstGeom>
        </p:spPr>
      </p:pic>
      <p:sp>
        <p:nvSpPr>
          <p:cNvPr id="7" name="Text 4"/>
          <p:cNvSpPr/>
          <p:nvPr/>
        </p:nvSpPr>
        <p:spPr>
          <a:xfrm>
            <a:off x="8567928" y="2811780"/>
            <a:ext cx="3474720" cy="256032"/>
          </a:xfrm>
          <a:prstGeom prst="rect">
            <a:avLst/>
          </a:prstGeom>
          <a:noFill/>
          <a:ln/>
        </p:spPr>
        <p:txBody>
          <a:bodyPr wrap="square" lIns="0" tIns="0" rIns="0" bIns="0" rtlCol="0" anchor="ctr">
            <a:normAutofit/>
          </a:bodyPr>
          <a:lstStyle/>
          <a:p>
            <a:pPr algn="ctr" indent="0" marL="0">
              <a:buNone/>
            </a:pPr>
            <a:r>
              <a:rPr lang="en-US" sz="1250" b="1" dirty="0">
                <a:solidFill>
                  <a:srgbClr val="1D2725"/>
                </a:solidFill>
                <a:latin typeface="Georgia" pitchFamily="34" charset="0"/>
                <a:ea typeface="Georgia" pitchFamily="34" charset="-122"/>
                <a:cs typeface="Georgia" pitchFamily="34" charset="-120"/>
              </a:rPr>
              <a:t>P A H K PATTIYA ARACHCHI</a:t>
            </a:r>
            <a:endParaRPr lang="en-US" sz="1250" dirty="0"/>
          </a:p>
        </p:txBody>
      </p:sp>
      <p:sp>
        <p:nvSpPr>
          <p:cNvPr id="8" name="Text 5"/>
          <p:cNvSpPr/>
          <p:nvPr/>
        </p:nvSpPr>
        <p:spPr>
          <a:xfrm>
            <a:off x="8915400" y="3099816"/>
            <a:ext cx="2779776" cy="210312"/>
          </a:xfrm>
          <a:prstGeom prst="rect">
            <a:avLst/>
          </a:prstGeom>
          <a:noFill/>
          <a:ln/>
        </p:spPr>
        <p:txBody>
          <a:bodyPr wrap="square" lIns="0" tIns="0" rIns="0" bIns="0" rtlCol="0" anchor="ctr"/>
          <a:lstStyle/>
          <a:p>
            <a:pPr algn="ctr" indent="0" marL="0">
              <a:buNone/>
            </a:pPr>
            <a:r>
              <a:rPr lang="en-US" sz="1080" b="1" dirty="0">
                <a:solidFill>
                  <a:srgbClr val="28574A"/>
                </a:solidFill>
                <a:latin typeface="Aptos" pitchFamily="34" charset="0"/>
                <a:ea typeface="Aptos" pitchFamily="34" charset="-122"/>
                <a:cs typeface="Aptos" pitchFamily="34" charset="-120"/>
              </a:rPr>
              <a:t>IT22112132</a:t>
            </a:r>
            <a:endParaRPr lang="en-US" sz="1080" dirty="0"/>
          </a:p>
        </p:txBody>
      </p:sp>
      <p:sp>
        <p:nvSpPr>
          <p:cNvPr id="9" name="Shape 6"/>
          <p:cNvSpPr/>
          <p:nvPr/>
        </p:nvSpPr>
        <p:spPr>
          <a:xfrm>
            <a:off x="9125712" y="3474720"/>
            <a:ext cx="2414016" cy="2487168"/>
          </a:xfrm>
          <a:prstGeom prst="roundRect">
            <a:avLst>
              <a:gd name="adj" fmla="val 6818"/>
            </a:avLst>
          </a:prstGeom>
          <a:solidFill>
            <a:srgbClr val="FFFFFF"/>
          </a:solidFill>
          <a:ln w="15240">
            <a:solidFill>
              <a:srgbClr val="D8E2DC"/>
            </a:solidFill>
            <a:prstDash val="solid"/>
          </a:ln>
        </p:spPr>
      </p:sp>
      <p:sp>
        <p:nvSpPr>
          <p:cNvPr id="10" name="Shape 7"/>
          <p:cNvSpPr/>
          <p:nvPr/>
        </p:nvSpPr>
        <p:spPr>
          <a:xfrm>
            <a:off x="10058400" y="3584448"/>
            <a:ext cx="576072" cy="0"/>
          </a:xfrm>
          <a:prstGeom prst="line">
            <a:avLst/>
          </a:prstGeom>
          <a:noFill/>
          <a:ln w="19050">
            <a:solidFill>
              <a:srgbClr val="60716C"/>
            </a:solidFill>
            <a:prstDash val="solid"/>
          </a:ln>
        </p:spPr>
      </p:sp>
      <p:sp>
        <p:nvSpPr>
          <p:cNvPr id="11" name="Text 8"/>
          <p:cNvSpPr/>
          <p:nvPr/>
        </p:nvSpPr>
        <p:spPr>
          <a:xfrm>
            <a:off x="9290304" y="3840480"/>
            <a:ext cx="2084832" cy="274320"/>
          </a:xfrm>
          <a:prstGeom prst="rect">
            <a:avLst/>
          </a:prstGeom>
          <a:noFill/>
          <a:ln/>
        </p:spPr>
        <p:txBody>
          <a:bodyPr wrap="square" lIns="0" tIns="0" rIns="0" bIns="0" rtlCol="0" anchor="ctr">
            <a:normAutofit/>
          </a:bodyPr>
          <a:lstStyle/>
          <a:p>
            <a:pPr algn="ctr" indent="0" marL="0">
              <a:buNone/>
            </a:pPr>
            <a:r>
              <a:rPr lang="en-US" sz="1040" b="1" dirty="0">
                <a:solidFill>
                  <a:srgbClr val="28574A"/>
                </a:solidFill>
                <a:latin typeface="Aptos" pitchFamily="34" charset="0"/>
                <a:ea typeface="Aptos" pitchFamily="34" charset="-122"/>
                <a:cs typeface="Aptos" pitchFamily="34" charset="-120"/>
              </a:rPr>
              <a:t>QUALITY ASSESSMENT</a:t>
            </a:r>
            <a:endParaRPr lang="en-US" sz="1040" dirty="0"/>
          </a:p>
        </p:txBody>
      </p:sp>
      <p:sp>
        <p:nvSpPr>
          <p:cNvPr id="12" name="Shape 9"/>
          <p:cNvSpPr/>
          <p:nvPr/>
        </p:nvSpPr>
        <p:spPr>
          <a:xfrm>
            <a:off x="9381744" y="4251960"/>
            <a:ext cx="1901952" cy="914400"/>
          </a:xfrm>
          <a:prstGeom prst="roundRect">
            <a:avLst>
              <a:gd name="adj" fmla="val 6000"/>
            </a:avLst>
          </a:prstGeom>
          <a:solidFill>
            <a:srgbClr val="F7F9F7"/>
          </a:solidFill>
          <a:ln w="12700">
            <a:solidFill>
              <a:srgbClr val="F7F9F7"/>
            </a:solidFill>
            <a:prstDash val="solid"/>
          </a:ln>
        </p:spPr>
      </p:sp>
      <p:sp>
        <p:nvSpPr>
          <p:cNvPr id="13" name="Shape 10"/>
          <p:cNvSpPr/>
          <p:nvPr/>
        </p:nvSpPr>
        <p:spPr>
          <a:xfrm>
            <a:off x="9592056" y="4462272"/>
            <a:ext cx="1453896" cy="0"/>
          </a:xfrm>
          <a:prstGeom prst="line">
            <a:avLst/>
          </a:prstGeom>
          <a:noFill/>
          <a:ln w="63500">
            <a:solidFill>
              <a:srgbClr val="BBD5C5"/>
            </a:solidFill>
            <a:prstDash val="solid"/>
          </a:ln>
        </p:spPr>
      </p:sp>
      <p:sp>
        <p:nvSpPr>
          <p:cNvPr id="14" name="Shape 11"/>
          <p:cNvSpPr/>
          <p:nvPr/>
        </p:nvSpPr>
        <p:spPr>
          <a:xfrm>
            <a:off x="9592056" y="4700016"/>
            <a:ext cx="1371600" cy="0"/>
          </a:xfrm>
          <a:prstGeom prst="line">
            <a:avLst/>
          </a:prstGeom>
          <a:noFill/>
          <a:ln w="63500">
            <a:solidFill>
              <a:srgbClr val="D8E2DC"/>
            </a:solidFill>
            <a:prstDash val="solid"/>
          </a:ln>
        </p:spPr>
      </p:sp>
      <p:sp>
        <p:nvSpPr>
          <p:cNvPr id="15" name="Shape 12"/>
          <p:cNvSpPr/>
          <p:nvPr/>
        </p:nvSpPr>
        <p:spPr>
          <a:xfrm>
            <a:off x="9592056" y="4937760"/>
            <a:ext cx="1289304" cy="0"/>
          </a:xfrm>
          <a:prstGeom prst="line">
            <a:avLst/>
          </a:prstGeom>
          <a:noFill/>
          <a:ln w="63500">
            <a:solidFill>
              <a:srgbClr val="D8E2DC"/>
            </a:solidFill>
            <a:prstDash val="solid"/>
          </a:ln>
        </p:spPr>
      </p:sp>
      <p:sp>
        <p:nvSpPr>
          <p:cNvPr id="16" name="Text 13"/>
          <p:cNvSpPr/>
          <p:nvPr/>
        </p:nvSpPr>
        <p:spPr>
          <a:xfrm>
            <a:off x="9354312" y="5376672"/>
            <a:ext cx="1956816" cy="164592"/>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INSERT ACTUAL</a:t>
            </a:r>
            <a:endParaRPr lang="en-US" sz="1040" dirty="0"/>
          </a:p>
        </p:txBody>
      </p:sp>
      <p:sp>
        <p:nvSpPr>
          <p:cNvPr id="17" name="Text 14"/>
          <p:cNvSpPr/>
          <p:nvPr/>
        </p:nvSpPr>
        <p:spPr>
          <a:xfrm>
            <a:off x="9345168" y="5559552"/>
            <a:ext cx="1975104" cy="182880"/>
          </a:xfrm>
          <a:prstGeom prst="rect">
            <a:avLst/>
          </a:prstGeom>
          <a:noFill/>
          <a:ln/>
        </p:spPr>
        <p:txBody>
          <a:bodyPr wrap="square" lIns="0" tIns="0" rIns="0" bIns="0" rtlCol="0" anchor="ctr"/>
          <a:lstStyle/>
          <a:p>
            <a:pPr algn="ctr" indent="0" marL="0">
              <a:buNone/>
            </a:pPr>
            <a:r>
              <a:rPr lang="en-US" sz="1040" b="1" dirty="0">
                <a:solidFill>
                  <a:srgbClr val="60716C"/>
                </a:solidFill>
                <a:latin typeface="Aptos" pitchFamily="34" charset="0"/>
                <a:ea typeface="Aptos" pitchFamily="34" charset="-122"/>
                <a:cs typeface="Aptos" pitchFamily="34" charset="-120"/>
              </a:rPr>
              <a:t>APP SCREENSHOT</a:t>
            </a:r>
            <a:endParaRPr lang="en-US" sz="1040" dirty="0"/>
          </a:p>
        </p:txBody>
      </p:sp>
      <p:sp>
        <p:nvSpPr>
          <p:cNvPr id="18" name="Shape 15"/>
          <p:cNvSpPr/>
          <p:nvPr/>
        </p:nvSpPr>
        <p:spPr>
          <a:xfrm>
            <a:off x="484632" y="6281928"/>
            <a:ext cx="11247120" cy="0"/>
          </a:xfrm>
          <a:prstGeom prst="line">
            <a:avLst/>
          </a:prstGeom>
          <a:noFill/>
          <a:ln w="9525">
            <a:solidFill>
              <a:srgbClr val="D8E2DC"/>
            </a:solidFill>
            <a:prstDash val="solid"/>
          </a:ln>
        </p:spPr>
      </p:sp>
      <p:pic>
        <p:nvPicPr>
          <p:cNvPr id="19" name="Image 1" descr="/mnt/data/proposal_assets/logo.png">    </p:cNvPr>
          <p:cNvPicPr>
            <a:picLocks noChangeAspect="1"/>
          </p:cNvPicPr>
          <p:nvPr/>
        </p:nvPicPr>
        <p:blipFill>
          <a:blip r:embed="rId2"/>
          <a:stretch>
            <a:fillRect/>
          </a:stretch>
        </p:blipFill>
        <p:spPr>
          <a:xfrm>
            <a:off x="548640" y="6336792"/>
            <a:ext cx="320040" cy="274320"/>
          </a:xfrm>
          <a:prstGeom prst="rect">
            <a:avLst/>
          </a:prstGeom>
        </p:spPr>
      </p:pic>
      <p:sp>
        <p:nvSpPr>
          <p:cNvPr id="20" name="Text 16"/>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21" name="Text 17"/>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22" name="Text 18"/>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IT22112132  |  P A H K PATTIYA ARACHCHI  |  R-26-IT-021</a:t>
            </a:r>
            <a:endParaRPr lang="en-US" sz="820" dirty="0"/>
          </a:p>
        </p:txBody>
      </p:sp>
      <p:sp>
        <p:nvSpPr>
          <p:cNvPr id="23" name="Text 19"/>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24" name="Text 20"/>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6</a:t>
            </a:r>
            <a:endParaRPr lang="en-US" sz="830" dirty="0"/>
          </a:p>
        </p:txBody>
      </p:sp>
      <p:sp>
        <p:nvSpPr>
          <p:cNvPr id="25" name="Text 21"/>
          <p:cNvSpPr/>
          <p:nvPr/>
        </p:nvSpPr>
        <p:spPr>
          <a:xfrm>
            <a:off x="777240" y="1517904"/>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WHAT THIS COMPONENT DOES</a:t>
            </a:r>
            <a:endParaRPr lang="en-US" sz="1110" dirty="0"/>
          </a:p>
        </p:txBody>
      </p:sp>
      <p:sp>
        <p:nvSpPr>
          <p:cNvPr id="26" name="Text 22"/>
          <p:cNvSpPr/>
          <p:nvPr/>
        </p:nvSpPr>
        <p:spPr>
          <a:xfrm>
            <a:off x="777240" y="1847088"/>
            <a:ext cx="7507224" cy="694944"/>
          </a:xfrm>
          <a:prstGeom prst="rect">
            <a:avLst/>
          </a:prstGeom>
          <a:noFill/>
          <a:ln/>
        </p:spPr>
        <p:txBody>
          <a:bodyPr wrap="square" lIns="0" tIns="0" rIns="0" bIns="0" rtlCol="0" anchor="ctr">
            <a:normAutofit/>
          </a:bodyPr>
          <a:lstStyle/>
          <a:p>
            <a:pPr algn="l" indent="0" marL="0">
              <a:buNone/>
            </a:pPr>
            <a:r>
              <a:rPr lang="en-US" sz="1900" b="1" dirty="0">
                <a:solidFill>
                  <a:srgbClr val="1D2725"/>
                </a:solidFill>
                <a:latin typeface="Georgia" pitchFamily="34" charset="0"/>
                <a:ea typeface="Georgia" pitchFamily="34" charset="-122"/>
                <a:cs typeface="Georgia" pitchFamily="34" charset="-120"/>
              </a:rPr>
              <a:t>Assesses visible plant condition and explains influential image regions with Grad-CAM.</a:t>
            </a:r>
            <a:endParaRPr lang="en-US" sz="1900" dirty="0"/>
          </a:p>
        </p:txBody>
      </p:sp>
      <p:sp>
        <p:nvSpPr>
          <p:cNvPr id="27" name="Text 23"/>
          <p:cNvSpPr/>
          <p:nvPr/>
        </p:nvSpPr>
        <p:spPr>
          <a:xfrm>
            <a:off x="777240" y="2834640"/>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EXPLAINABLE WORKFLOW</a:t>
            </a:r>
            <a:endParaRPr lang="en-US" sz="1110" dirty="0"/>
          </a:p>
        </p:txBody>
      </p:sp>
      <p:sp>
        <p:nvSpPr>
          <p:cNvPr id="28" name="Shape 24"/>
          <p:cNvSpPr/>
          <p:nvPr/>
        </p:nvSpPr>
        <p:spPr>
          <a:xfrm>
            <a:off x="777240" y="3200400"/>
            <a:ext cx="2334768" cy="804672"/>
          </a:xfrm>
          <a:prstGeom prst="roundRect">
            <a:avLst>
              <a:gd name="adj" fmla="val 9091"/>
            </a:avLst>
          </a:prstGeom>
          <a:solidFill>
            <a:srgbClr val="E9F1ED"/>
          </a:solidFill>
          <a:ln w="8890">
            <a:solidFill>
              <a:srgbClr val="D8E2DC"/>
            </a:solidFill>
            <a:prstDash val="solid"/>
          </a:ln>
        </p:spPr>
      </p:sp>
      <p:sp>
        <p:nvSpPr>
          <p:cNvPr id="29" name="Text 25"/>
          <p:cNvSpPr/>
          <p:nvPr/>
        </p:nvSpPr>
        <p:spPr>
          <a:xfrm>
            <a:off x="896112" y="3300984"/>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01</a:t>
            </a:r>
            <a:endParaRPr lang="en-US" sz="1000" dirty="0"/>
          </a:p>
        </p:txBody>
      </p:sp>
      <p:sp>
        <p:nvSpPr>
          <p:cNvPr id="30" name="Text 26"/>
          <p:cNvSpPr/>
          <p:nvPr/>
        </p:nvSpPr>
        <p:spPr>
          <a:xfrm>
            <a:off x="896112" y="3493008"/>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Leaf / fruit image</a:t>
            </a:r>
            <a:endParaRPr lang="en-US" sz="1310" dirty="0"/>
          </a:p>
        </p:txBody>
      </p:sp>
      <p:sp>
        <p:nvSpPr>
          <p:cNvPr id="31" name="Text 27"/>
          <p:cNvSpPr/>
          <p:nvPr/>
        </p:nvSpPr>
        <p:spPr>
          <a:xfrm>
            <a:off x="3038856" y="3465576"/>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2" name="Shape 28"/>
          <p:cNvSpPr/>
          <p:nvPr/>
        </p:nvSpPr>
        <p:spPr>
          <a:xfrm>
            <a:off x="3276600" y="3200400"/>
            <a:ext cx="2334768" cy="804672"/>
          </a:xfrm>
          <a:prstGeom prst="roundRect">
            <a:avLst>
              <a:gd name="adj" fmla="val 9091"/>
            </a:avLst>
          </a:prstGeom>
          <a:solidFill>
            <a:srgbClr val="F7F9F7"/>
          </a:solidFill>
          <a:ln w="8890">
            <a:solidFill>
              <a:srgbClr val="D8E2DC"/>
            </a:solidFill>
            <a:prstDash val="solid"/>
          </a:ln>
        </p:spPr>
      </p:sp>
      <p:sp>
        <p:nvSpPr>
          <p:cNvPr id="33" name="Text 29"/>
          <p:cNvSpPr/>
          <p:nvPr/>
        </p:nvSpPr>
        <p:spPr>
          <a:xfrm>
            <a:off x="3395472" y="3300984"/>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02</a:t>
            </a:r>
            <a:endParaRPr lang="en-US" sz="1000" dirty="0"/>
          </a:p>
        </p:txBody>
      </p:sp>
      <p:sp>
        <p:nvSpPr>
          <p:cNvPr id="34" name="Text 30"/>
          <p:cNvSpPr/>
          <p:nvPr/>
        </p:nvSpPr>
        <p:spPr>
          <a:xfrm>
            <a:off x="3395472" y="3493008"/>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Healthy / diseased / overmature</a:t>
            </a:r>
            <a:endParaRPr lang="en-US" sz="1310" dirty="0"/>
          </a:p>
        </p:txBody>
      </p:sp>
      <p:sp>
        <p:nvSpPr>
          <p:cNvPr id="35" name="Text 31"/>
          <p:cNvSpPr/>
          <p:nvPr/>
        </p:nvSpPr>
        <p:spPr>
          <a:xfrm>
            <a:off x="5538216" y="3465576"/>
            <a:ext cx="274320" cy="310896"/>
          </a:xfrm>
          <a:prstGeom prst="rect">
            <a:avLst/>
          </a:prstGeom>
          <a:noFill/>
          <a:ln/>
        </p:spPr>
        <p:txBody>
          <a:bodyPr wrap="square" lIns="0" tIns="0" rIns="0" bIns="0" rtlCol="0" anchor="ctr"/>
          <a:lstStyle/>
          <a:p>
            <a:pPr algn="r" indent="0" marL="0">
              <a:buNone/>
            </a:pPr>
            <a:r>
              <a:rPr lang="en-US" sz="2000" b="1" dirty="0">
                <a:solidFill>
                  <a:srgbClr val="28574A"/>
                </a:solidFill>
                <a:latin typeface="Aptos" pitchFamily="34" charset="0"/>
                <a:ea typeface="Aptos" pitchFamily="34" charset="-122"/>
                <a:cs typeface="Aptos" pitchFamily="34" charset="-120"/>
              </a:rPr>
              <a:t>›</a:t>
            </a:r>
            <a:endParaRPr lang="en-US" sz="2000" dirty="0"/>
          </a:p>
        </p:txBody>
      </p:sp>
      <p:sp>
        <p:nvSpPr>
          <p:cNvPr id="36" name="Shape 32"/>
          <p:cNvSpPr/>
          <p:nvPr/>
        </p:nvSpPr>
        <p:spPr>
          <a:xfrm>
            <a:off x="5775960" y="3200400"/>
            <a:ext cx="2334768" cy="804672"/>
          </a:xfrm>
          <a:prstGeom prst="roundRect">
            <a:avLst>
              <a:gd name="adj" fmla="val 9091"/>
            </a:avLst>
          </a:prstGeom>
          <a:solidFill>
            <a:srgbClr val="E9F1ED"/>
          </a:solidFill>
          <a:ln w="8890">
            <a:solidFill>
              <a:srgbClr val="D8E2DC"/>
            </a:solidFill>
            <a:prstDash val="solid"/>
          </a:ln>
        </p:spPr>
      </p:sp>
      <p:sp>
        <p:nvSpPr>
          <p:cNvPr id="37" name="Text 33"/>
          <p:cNvSpPr/>
          <p:nvPr/>
        </p:nvSpPr>
        <p:spPr>
          <a:xfrm>
            <a:off x="5894832" y="3300984"/>
            <a:ext cx="301752" cy="182880"/>
          </a:xfrm>
          <a:prstGeom prst="rect">
            <a:avLst/>
          </a:prstGeom>
          <a:noFill/>
          <a:ln/>
        </p:spPr>
        <p:txBody>
          <a:bodyPr wrap="square" lIns="0" tIns="0" rIns="0" bIns="0" rtlCol="0" anchor="ctr"/>
          <a:lstStyle/>
          <a:p>
            <a:pPr algn="l" indent="0" marL="0">
              <a:buNone/>
            </a:pPr>
            <a:r>
              <a:rPr lang="en-US" sz="1000" b="1" dirty="0">
                <a:solidFill>
                  <a:srgbClr val="28574A"/>
                </a:solidFill>
                <a:latin typeface="Aptos" pitchFamily="34" charset="0"/>
                <a:ea typeface="Aptos" pitchFamily="34" charset="-122"/>
                <a:cs typeface="Aptos" pitchFamily="34" charset="-120"/>
              </a:rPr>
              <a:t>03</a:t>
            </a:r>
            <a:endParaRPr lang="en-US" sz="1000" dirty="0"/>
          </a:p>
        </p:txBody>
      </p:sp>
      <p:sp>
        <p:nvSpPr>
          <p:cNvPr id="38" name="Text 34"/>
          <p:cNvSpPr/>
          <p:nvPr/>
        </p:nvSpPr>
        <p:spPr>
          <a:xfrm>
            <a:off x="5894832" y="3493008"/>
            <a:ext cx="2097024" cy="347472"/>
          </a:xfrm>
          <a:prstGeom prst="rect">
            <a:avLst/>
          </a:prstGeom>
          <a:noFill/>
          <a:ln/>
        </p:spPr>
        <p:txBody>
          <a:bodyPr wrap="square" lIns="0" tIns="0" rIns="0" bIns="0" rtlCol="0" anchor="ctr">
            <a:normAutofit/>
          </a:bodyPr>
          <a:lstStyle/>
          <a:p>
            <a:pPr algn="ctr" indent="0" marL="0">
              <a:buNone/>
            </a:pPr>
            <a:r>
              <a:rPr lang="en-US" sz="1310" b="1" dirty="0">
                <a:solidFill>
                  <a:srgbClr val="1D2725"/>
                </a:solidFill>
                <a:latin typeface="Aptos" pitchFamily="34" charset="0"/>
                <a:ea typeface="Aptos" pitchFamily="34" charset="-122"/>
                <a:cs typeface="Aptos" pitchFamily="34" charset="-120"/>
              </a:rPr>
              <a:t>Grad-CAM heatmap</a:t>
            </a:r>
            <a:endParaRPr lang="en-US" sz="1310" dirty="0"/>
          </a:p>
        </p:txBody>
      </p:sp>
      <p:sp>
        <p:nvSpPr>
          <p:cNvPr id="39" name="Text 35"/>
          <p:cNvSpPr/>
          <p:nvPr/>
        </p:nvSpPr>
        <p:spPr>
          <a:xfrm>
            <a:off x="777240" y="4416552"/>
            <a:ext cx="7772400" cy="219456"/>
          </a:xfrm>
          <a:prstGeom prst="rect">
            <a:avLst/>
          </a:prstGeom>
          <a:noFill/>
          <a:ln/>
        </p:spPr>
        <p:txBody>
          <a:bodyPr wrap="square" lIns="0" tIns="0" rIns="0" bIns="0" rtlCol="0" anchor="ctr"/>
          <a:lstStyle/>
          <a:p>
            <a:pPr algn="l" indent="0" marL="0">
              <a:buNone/>
            </a:pPr>
            <a:r>
              <a:rPr lang="en-US" sz="1110" b="1" spc="100" kern="0" dirty="0">
                <a:solidFill>
                  <a:srgbClr val="28574A"/>
                </a:solidFill>
                <a:latin typeface="Aptos" pitchFamily="34" charset="0"/>
                <a:ea typeface="Aptos" pitchFamily="34" charset="-122"/>
                <a:cs typeface="Aptos" pitchFamily="34" charset="-120"/>
              </a:rPr>
              <a:t>WHY IT ADDS VALUE</a:t>
            </a:r>
            <a:endParaRPr lang="en-US" sz="1110" dirty="0"/>
          </a:p>
        </p:txBody>
      </p:sp>
      <p:sp>
        <p:nvSpPr>
          <p:cNvPr id="40" name="Shape 36"/>
          <p:cNvSpPr/>
          <p:nvPr/>
        </p:nvSpPr>
        <p:spPr>
          <a:xfrm>
            <a:off x="795528" y="4864608"/>
            <a:ext cx="82296" cy="82296"/>
          </a:xfrm>
          <a:prstGeom prst="ellipse">
            <a:avLst/>
          </a:prstGeom>
          <a:solidFill>
            <a:srgbClr val="28574A"/>
          </a:solidFill>
          <a:ln w="12700">
            <a:solidFill>
              <a:srgbClr val="28574A"/>
            </a:solidFill>
            <a:prstDash val="solid"/>
          </a:ln>
        </p:spPr>
      </p:sp>
      <p:sp>
        <p:nvSpPr>
          <p:cNvPr id="41" name="Text 37"/>
          <p:cNvSpPr/>
          <p:nvPr/>
        </p:nvSpPr>
        <p:spPr>
          <a:xfrm>
            <a:off x="1005840" y="4754880"/>
            <a:ext cx="7059168" cy="457200"/>
          </a:xfrm>
          <a:prstGeom prst="rect">
            <a:avLst/>
          </a:prstGeom>
          <a:noFill/>
          <a:ln/>
        </p:spPr>
        <p:txBody>
          <a:bodyPr wrap="square" lIns="0" tIns="0" rIns="0" bIns="0" rtlCol="0" anchor="t">
            <a:normAutofit/>
          </a:bodyPr>
          <a:lstStyle/>
          <a:p>
            <a:pPr algn="l" indent="0" marL="0">
              <a:buNone/>
            </a:pPr>
            <a:r>
              <a:rPr lang="en-US" sz="1500" dirty="0">
                <a:solidFill>
                  <a:srgbClr val="1D2725"/>
                </a:solidFill>
                <a:latin typeface="Aptos" pitchFamily="34" charset="0"/>
                <a:ea typeface="Aptos" pitchFamily="34" charset="-122"/>
                <a:cs typeface="Aptos" pitchFamily="34" charset="-120"/>
              </a:rPr>
              <a:t>Displays the assessed plant condition with visual evidence</a:t>
            </a:r>
            <a:endParaRPr lang="en-US" sz="1500" dirty="0"/>
          </a:p>
        </p:txBody>
      </p:sp>
      <p:sp>
        <p:nvSpPr>
          <p:cNvPr id="42" name="Shape 38"/>
          <p:cNvSpPr/>
          <p:nvPr/>
        </p:nvSpPr>
        <p:spPr>
          <a:xfrm>
            <a:off x="795528" y="5385816"/>
            <a:ext cx="82296" cy="82296"/>
          </a:xfrm>
          <a:prstGeom prst="ellipse">
            <a:avLst/>
          </a:prstGeom>
          <a:solidFill>
            <a:srgbClr val="28574A"/>
          </a:solidFill>
          <a:ln w="12700">
            <a:solidFill>
              <a:srgbClr val="28574A"/>
            </a:solidFill>
            <a:prstDash val="solid"/>
          </a:ln>
        </p:spPr>
      </p:sp>
      <p:sp>
        <p:nvSpPr>
          <p:cNvPr id="43" name="Text 39"/>
          <p:cNvSpPr/>
          <p:nvPr/>
        </p:nvSpPr>
        <p:spPr>
          <a:xfrm>
            <a:off x="1005840" y="5276088"/>
            <a:ext cx="7059168" cy="457200"/>
          </a:xfrm>
          <a:prstGeom prst="rect">
            <a:avLst/>
          </a:prstGeom>
          <a:noFill/>
          <a:ln/>
        </p:spPr>
        <p:txBody>
          <a:bodyPr wrap="square" lIns="0" tIns="0" rIns="0" bIns="0" rtlCol="0" anchor="t">
            <a:normAutofit/>
          </a:bodyPr>
          <a:lstStyle/>
          <a:p>
            <a:pPr algn="l" indent="0" marL="0">
              <a:buNone/>
            </a:pPr>
            <a:r>
              <a:rPr lang="en-US" sz="1500" dirty="0">
                <a:solidFill>
                  <a:srgbClr val="1D2725"/>
                </a:solidFill>
                <a:latin typeface="Aptos" pitchFamily="34" charset="0"/>
                <a:ea typeface="Aptos" pitchFamily="34" charset="-122"/>
                <a:cs typeface="Aptos" pitchFamily="34" charset="-120"/>
              </a:rPr>
              <a:t>Learn More connects users to relevant herbal / disease knowledge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3" name="Shape 31"/>
          <p:cNvSpPr/>
          <p:nvPr/>
        </p:nvSpPr>
        <p:spPr>
          <a:xfrm>
            <a:off x="484632" y="6281928"/>
            <a:ext cx="11247120" cy="0"/>
          </a:xfrm>
          <a:prstGeom prst="line">
            <a:avLst/>
          </a:prstGeom>
          <a:noFill/>
          <a:ln w="9525">
            <a:solidFill>
              <a:srgbClr val="D8E2DC"/>
            </a:solidFill>
            <a:prstDash val="solid"/>
          </a:ln>
        </p:spPr>
      </p:sp>
      <p:pic>
        <p:nvPicPr>
          <p:cNvPr id="34" name="Image 0" descr="/mnt/data/proposal_assets/logo.png">    </p:cNvPr>
          <p:cNvPicPr>
            <a:picLocks noChangeAspect="1"/>
          </p:cNvPicPr>
          <p:nvPr/>
        </p:nvPicPr>
        <p:blipFill>
          <a:blip r:embed="rId1"/>
          <a:stretch>
            <a:fillRect/>
          </a:stretch>
        </p:blipFill>
        <p:spPr>
          <a:xfrm>
            <a:off x="548640" y="6336792"/>
            <a:ext cx="320040" cy="274320"/>
          </a:xfrm>
          <a:prstGeom prst="rect">
            <a:avLst/>
          </a:prstGeom>
        </p:spPr>
      </p:pic>
      <p:sp>
        <p:nvSpPr>
          <p:cNvPr id="35" name="Text 32"/>
          <p:cNvSpPr/>
          <p:nvPr/>
        </p:nvSpPr>
        <p:spPr>
          <a:xfrm>
            <a:off x="923544" y="6336792"/>
            <a:ext cx="448056" cy="137160"/>
          </a:xfrm>
          <a:prstGeom prst="rect">
            <a:avLst/>
          </a:prstGeom>
          <a:noFill/>
          <a:ln/>
        </p:spPr>
        <p:txBody>
          <a:bodyPr wrap="square" lIns="0" tIns="0" rIns="0" bIns="0" rtlCol="0" anchor="ctr"/>
          <a:lstStyle/>
          <a:p>
            <a:pPr algn="l" indent="0" marL="0">
              <a:buNone/>
            </a:pPr>
            <a:r>
              <a:rPr lang="en-US" sz="830" b="1" dirty="0">
                <a:solidFill>
                  <a:srgbClr val="263E72"/>
                </a:solidFill>
                <a:latin typeface="Aptos" pitchFamily="34" charset="0"/>
                <a:ea typeface="Aptos" pitchFamily="34" charset="-122"/>
                <a:cs typeface="Aptos" pitchFamily="34" charset="-120"/>
              </a:rPr>
              <a:t>SLIIT</a:t>
            </a:r>
            <a:endParaRPr lang="en-US" sz="830" dirty="0"/>
          </a:p>
        </p:txBody>
      </p:sp>
      <p:sp>
        <p:nvSpPr>
          <p:cNvPr id="36" name="Text 33"/>
          <p:cNvSpPr/>
          <p:nvPr/>
        </p:nvSpPr>
        <p:spPr>
          <a:xfrm>
            <a:off x="923544" y="6469380"/>
            <a:ext cx="2103120" cy="146304"/>
          </a:xfrm>
          <a:prstGeom prst="rect">
            <a:avLst/>
          </a:prstGeom>
          <a:noFill/>
          <a:ln/>
        </p:spPr>
        <p:txBody>
          <a:bodyPr wrap="square" lIns="0" tIns="0" rIns="0" bIns="0" rtlCol="0" anchor="ctr"/>
          <a:lstStyle/>
          <a:p>
            <a:pPr algn="l" indent="0" marL="0">
              <a:buNone/>
            </a:pPr>
            <a:r>
              <a:rPr lang="en-US" sz="720" dirty="0">
                <a:solidFill>
                  <a:srgbClr val="263E72"/>
                </a:solidFill>
                <a:latin typeface="Aptos" pitchFamily="34" charset="0"/>
                <a:ea typeface="Aptos" pitchFamily="34" charset="-122"/>
                <a:cs typeface="Aptos" pitchFamily="34" charset="-120"/>
              </a:rPr>
              <a:t>FACULTY OF COMPUTING</a:t>
            </a:r>
            <a:endParaRPr lang="en-US" sz="720" dirty="0"/>
          </a:p>
        </p:txBody>
      </p:sp>
      <p:sp>
        <p:nvSpPr>
          <p:cNvPr id="37" name="Text 34"/>
          <p:cNvSpPr/>
          <p:nvPr/>
        </p:nvSpPr>
        <p:spPr>
          <a:xfrm>
            <a:off x="3858768" y="6417259"/>
            <a:ext cx="4553712" cy="164592"/>
          </a:xfrm>
          <a:prstGeom prst="rect">
            <a:avLst/>
          </a:prstGeom>
          <a:noFill/>
          <a:ln/>
        </p:spPr>
        <p:txBody>
          <a:bodyPr wrap="square" lIns="0" tIns="0" rIns="0" bIns="0" rtlCol="0" anchor="ctr"/>
          <a:lstStyle/>
          <a:p>
            <a:pPr algn="ctr" indent="0" marL="0">
              <a:buNone/>
            </a:pPr>
            <a:r>
              <a:rPr lang="en-US" sz="820" b="1" dirty="0">
                <a:solidFill>
                  <a:srgbClr val="60716C"/>
                </a:solidFill>
                <a:latin typeface="Aptos" pitchFamily="34" charset="0"/>
                <a:ea typeface="Aptos" pitchFamily="34" charset="-122"/>
                <a:cs typeface="Aptos" pitchFamily="34" charset="-120"/>
              </a:rPr>
              <a:t>R-26-IT-021</a:t>
            </a:r>
            <a:endParaRPr lang="en-US" sz="820" dirty="0"/>
          </a:p>
        </p:txBody>
      </p:sp>
      <p:sp>
        <p:nvSpPr>
          <p:cNvPr id="38" name="Text 35"/>
          <p:cNvSpPr/>
          <p:nvPr/>
        </p:nvSpPr>
        <p:spPr>
          <a:xfrm>
            <a:off x="10131552" y="6417259"/>
            <a:ext cx="914400" cy="164592"/>
          </a:xfrm>
          <a:prstGeom prst="rect">
            <a:avLst/>
          </a:prstGeom>
          <a:noFill/>
          <a:ln/>
        </p:spPr>
        <p:txBody>
          <a:bodyPr wrap="square" lIns="0" tIns="0" rIns="0" bIns="0" rtlCol="0" anchor="ctr"/>
          <a:lstStyle/>
          <a:p>
            <a:pPr algn="r" indent="0" marL="0">
              <a:buNone/>
            </a:pPr>
            <a:r>
              <a:rPr lang="en-US" sz="830" dirty="0">
                <a:solidFill>
                  <a:srgbClr val="60716C"/>
                </a:solidFill>
                <a:latin typeface="Aptos" pitchFamily="34" charset="0"/>
                <a:ea typeface="Aptos" pitchFamily="34" charset="-122"/>
                <a:cs typeface="Aptos" pitchFamily="34" charset="-120"/>
              </a:rPr>
              <a:t>19/10/2026</a:t>
            </a:r>
            <a:endParaRPr lang="en-US" sz="830" dirty="0"/>
          </a:p>
        </p:txBody>
      </p:sp>
      <p:sp>
        <p:nvSpPr>
          <p:cNvPr id="39" name="Text 36"/>
          <p:cNvSpPr/>
          <p:nvPr/>
        </p:nvSpPr>
        <p:spPr>
          <a:xfrm>
            <a:off x="11292840" y="6417259"/>
            <a:ext cx="292608" cy="164592"/>
          </a:xfrm>
          <a:prstGeom prst="rect">
            <a:avLst/>
          </a:prstGeom>
          <a:noFill/>
          <a:ln/>
        </p:spPr>
        <p:txBody>
          <a:bodyPr wrap="square" lIns="0" tIns="0" rIns="0" bIns="0" rtlCol="0" anchor="ctr"/>
          <a:lstStyle/>
          <a:p>
            <a:pPr algn="r" indent="0" marL="0">
              <a:buNone/>
            </a:pPr>
            <a:r>
              <a:rPr lang="en-US" sz="830" dirty="0">
                <a:solidFill>
                  <a:srgbClr val="1D2725"/>
                </a:solidFill>
                <a:latin typeface="Aptos" pitchFamily="34" charset="0"/>
                <a:ea typeface="Aptos" pitchFamily="34" charset="-122"/>
                <a:cs typeface="Aptos" pitchFamily="34" charset="-120"/>
              </a:rPr>
              <a:t>7</a:t>
            </a:r>
            <a:endParaRPr lang="en-US" sz="830" dirty="0"/>
          </a:p>
        </p:txBody>
      </p:sp>
      <p:sp>
        <p:nvSpPr>
          <p:cNvPr id="40" name="TextBox 39"/>
          <p:cNvSpPr txBox="1"/>
          <p:nvPr/>
        </p:nvSpPr>
        <p:spPr>
          <a:xfrm>
            <a:off x="667512" y="420624"/>
            <a:ext cx="10881360" cy="475488"/>
          </a:xfrm>
          <a:prstGeom prst="rect">
            <a:avLst/>
          </a:prstGeom>
          <a:noFill/>
        </p:spPr>
        <p:txBody>
          <a:bodyPr wrap="square" lIns="0" rIns="0" tIns="0" bIns="0" anchor="t">
            <a:spAutoFit/>
          </a:bodyPr>
          <a:lstStyle/>
          <a:p>
            <a:pPr algn="ctr">
              <a:spcBef>
                <a:spcPts val="0"/>
              </a:spcBef>
              <a:spcAft>
                <a:spcPts val="0"/>
              </a:spcAft>
              <a:defRPr sz="2700" b="1" u="none">
                <a:solidFill>
                  <a:srgbClr val="1D3031"/>
                </a:solidFill>
                <a:latin typeface="Georgia"/>
              </a:defRPr>
            </a:pPr>
            <a:r>
              <a:t>Results and Testimonials</a:t>
            </a:r>
          </a:p>
        </p:txBody>
      </p:sp>
      <p:sp>
        <p:nvSpPr>
          <p:cNvPr id="41" name="Rectangle 40"/>
          <p:cNvSpPr/>
          <p:nvPr/>
        </p:nvSpPr>
        <p:spPr>
          <a:xfrm>
            <a:off x="5148072" y="946403"/>
            <a:ext cx="1901952" cy="13716"/>
          </a:xfrm>
          <a:prstGeom prst="rect">
            <a:avLst/>
          </a:prstGeom>
          <a:solidFill>
            <a:srgbClr val="B4C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93776" y="1280160"/>
            <a:ext cx="3602736" cy="2880360"/>
          </a:xfrm>
          <a:prstGeom prst="roundRect">
            <a:avLst/>
          </a:prstGeom>
          <a:solidFill>
            <a:srgbClr val="E8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93776" y="1280160"/>
            <a:ext cx="50292" cy="2880360"/>
          </a:xfrm>
          <a:prstGeom prst="rect">
            <a:avLst/>
          </a:prstGeom>
          <a:solidFill>
            <a:srgbClr val="2A70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8952" y="1453896"/>
            <a:ext cx="3127248" cy="292608"/>
          </a:xfrm>
          <a:prstGeom prst="rect">
            <a:avLst/>
          </a:prstGeom>
          <a:noFill/>
        </p:spPr>
        <p:txBody>
          <a:bodyPr wrap="square" lIns="0" rIns="0" tIns="0" bIns="0" anchor="t">
            <a:spAutoFit/>
          </a:bodyPr>
          <a:lstStyle/>
          <a:p>
            <a:pPr algn="l">
              <a:spcBef>
                <a:spcPts val="0"/>
              </a:spcBef>
              <a:spcAft>
                <a:spcPts val="0"/>
              </a:spcAft>
              <a:defRPr sz="1870" b="1" u="none">
                <a:solidFill>
                  <a:srgbClr val="2A70A9"/>
                </a:solidFill>
                <a:latin typeface="Aptos"/>
              </a:defRPr>
            </a:pPr>
            <a:r>
              <a:t>Results</a:t>
            </a:r>
          </a:p>
        </p:txBody>
      </p:sp>
      <p:sp>
        <p:nvSpPr>
          <p:cNvPr id="45" name="Rounded Rectangle 44"/>
          <p:cNvSpPr/>
          <p:nvPr/>
        </p:nvSpPr>
        <p:spPr>
          <a:xfrm>
            <a:off x="4288536" y="1280160"/>
            <a:ext cx="3602736" cy="2880360"/>
          </a:xfrm>
          <a:prstGeom prst="roundRect">
            <a:avLst/>
          </a:prstGeom>
          <a:solidFill>
            <a:srgbClr val="E8F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88536" y="1280160"/>
            <a:ext cx="50292" cy="2880360"/>
          </a:xfrm>
          <a:prstGeom prst="rect">
            <a:avLst/>
          </a:prstGeom>
          <a:solidFill>
            <a:srgbClr val="338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53712" y="1453896"/>
            <a:ext cx="3127248" cy="292608"/>
          </a:xfrm>
          <a:prstGeom prst="rect">
            <a:avLst/>
          </a:prstGeom>
          <a:noFill/>
        </p:spPr>
        <p:txBody>
          <a:bodyPr wrap="square" lIns="0" rIns="0" tIns="0" bIns="0" anchor="t">
            <a:spAutoFit/>
          </a:bodyPr>
          <a:lstStyle/>
          <a:p>
            <a:pPr algn="l">
              <a:spcBef>
                <a:spcPts val="0"/>
              </a:spcBef>
              <a:spcAft>
                <a:spcPts val="0"/>
              </a:spcAft>
              <a:defRPr sz="1870" b="1" u="none">
                <a:solidFill>
                  <a:srgbClr val="338552"/>
                </a:solidFill>
                <a:latin typeface="Aptos"/>
              </a:defRPr>
            </a:pPr>
            <a:r>
              <a:t>User Acceptance</a:t>
            </a:r>
          </a:p>
        </p:txBody>
      </p:sp>
      <p:sp>
        <p:nvSpPr>
          <p:cNvPr id="48" name="Rounded Rectangle 47"/>
          <p:cNvSpPr/>
          <p:nvPr/>
        </p:nvSpPr>
        <p:spPr>
          <a:xfrm>
            <a:off x="8083296" y="1280160"/>
            <a:ext cx="3602736" cy="2880360"/>
          </a:xfrm>
          <a:prstGeom prst="roundRect">
            <a:avLst/>
          </a:prstGeom>
          <a:solidFill>
            <a:srgbClr val="FF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83296" y="1280160"/>
            <a:ext cx="50292" cy="2880360"/>
          </a:xfrm>
          <a:prstGeom prst="rect">
            <a:avLst/>
          </a:prstGeom>
          <a:solidFill>
            <a:srgbClr val="C97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48471" y="1453896"/>
            <a:ext cx="3127248" cy="292608"/>
          </a:xfrm>
          <a:prstGeom prst="rect">
            <a:avLst/>
          </a:prstGeom>
          <a:noFill/>
        </p:spPr>
        <p:txBody>
          <a:bodyPr wrap="square" lIns="0" rIns="0" tIns="0" bIns="0" anchor="t">
            <a:spAutoFit/>
          </a:bodyPr>
          <a:lstStyle/>
          <a:p>
            <a:pPr algn="l">
              <a:spcBef>
                <a:spcPts val="0"/>
              </a:spcBef>
              <a:spcAft>
                <a:spcPts val="0"/>
              </a:spcAft>
              <a:defRPr sz="1870" b="1" u="none">
                <a:solidFill>
                  <a:srgbClr val="C97124"/>
                </a:solidFill>
                <a:latin typeface="Aptos"/>
              </a:defRPr>
            </a:pPr>
            <a:r>
              <a:t>Limitations</a:t>
            </a:r>
          </a:p>
        </p:txBody>
      </p:sp>
      <p:sp>
        <p:nvSpPr>
          <p:cNvPr id="51" name="TextBox 50"/>
          <p:cNvSpPr txBox="1"/>
          <p:nvPr/>
        </p:nvSpPr>
        <p:spPr>
          <a:xfrm>
            <a:off x="768096" y="1984248"/>
            <a:ext cx="2999232" cy="466344"/>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t>Four AI components integrated into one mobile application</a:t>
            </a:r>
          </a:p>
        </p:txBody>
      </p:sp>
      <p:sp>
        <p:nvSpPr>
          <p:cNvPr id="52" name="TextBox 51"/>
          <p:cNvSpPr txBox="1"/>
          <p:nvPr/>
        </p:nvSpPr>
        <p:spPr>
          <a:xfrm>
            <a:off x="768096" y="2715768"/>
            <a:ext cx="3026664" cy="466344"/>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t>Herbal Q&amp;A evaluated in Sinhala and English</a:t>
            </a:r>
          </a:p>
        </p:txBody>
      </p:sp>
      <p:sp>
        <p:nvSpPr>
          <p:cNvPr id="53" name="TextBox 52"/>
          <p:cNvSpPr txBox="1"/>
          <p:nvPr/>
        </p:nvSpPr>
        <p:spPr>
          <a:xfrm>
            <a:off x="768096" y="3456432"/>
            <a:ext cx="3017520" cy="411480"/>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t>Two RAG evaluation suites completed</a:t>
            </a:r>
          </a:p>
        </p:txBody>
      </p:sp>
      <p:sp>
        <p:nvSpPr>
          <p:cNvPr id="54" name="TextBox 53"/>
          <p:cNvSpPr txBox="1"/>
          <p:nvPr/>
        </p:nvSpPr>
        <p:spPr>
          <a:xfrm>
            <a:off x="4562856" y="1934972"/>
            <a:ext cx="3063240" cy="774700"/>
          </a:xfrm>
          <a:prstGeom prst="rect">
            <a:avLst/>
          </a:prstGeom>
          <a:noFill/>
        </p:spPr>
        <p:txBody>
          <a:bodyPr wrap="square" lIns="0" rIns="0" tIns="0" bIns="0" anchor="t">
            <a:spAutoFit/>
          </a:bodyPr>
          <a:lstStyle/>
          <a:p>
            <a:pPr algn="l">
              <a:spcBef>
                <a:spcPts val="0"/>
              </a:spcBef>
              <a:spcAft>
                <a:spcPts val="0"/>
              </a:spcAft>
              <a:defRPr sz="1770" b="1" u="none">
                <a:solidFill>
                  <a:srgbClr val="1D3031"/>
                </a:solidFill>
                <a:latin typeface="Aptos"/>
              </a:defRPr>
            </a:pPr>
            <a:r>
              <a:rPr sz="1510" b="1"/>
              <a:t>49 consented respondents (43 direct users)</a:t>
            </a:r>
          </a:p>
        </p:txBody>
      </p:sp>
      <p:sp>
        <p:nvSpPr>
          <p:cNvPr id="55" name="TextBox 54"/>
          <p:cNvSpPr txBox="1"/>
          <p:nvPr/>
        </p:nvSpPr>
        <p:spPr>
          <a:xfrm>
            <a:off x="4562856" y="2496312"/>
            <a:ext cx="3063240" cy="546100"/>
          </a:xfrm>
          <a:prstGeom prst="rect">
            <a:avLst/>
          </a:prstGeom>
          <a:noFill/>
        </p:spPr>
        <p:txBody>
          <a:bodyPr wrap="square" lIns="0" rIns="0" tIns="0" bIns="0" anchor="t">
            <a:spAutoFit/>
          </a:bodyPr>
          <a:lstStyle/>
          <a:p>
            <a:pPr algn="l">
              <a:spcBef>
                <a:spcPts val="0"/>
              </a:spcBef>
              <a:spcAft>
                <a:spcPts val="0"/>
              </a:spcAft>
              <a:defRPr sz="1550" b="0" u="none">
                <a:solidFill>
                  <a:srgbClr val="1D3031"/>
                </a:solidFill>
                <a:latin typeface="Aptos"/>
              </a:defRPr>
            </a:pPr>
            <a:r>
              <a:rPr sz="1600"/>
              <a:t>Overall satisfaction: 4.35 / 5 (n = 43)</a:t>
            </a:r>
          </a:p>
        </p:txBody>
      </p:sp>
      <p:sp>
        <p:nvSpPr>
          <p:cNvPr id="56" name="TextBox 55"/>
          <p:cNvSpPr txBox="1"/>
          <p:nvPr/>
        </p:nvSpPr>
        <p:spPr>
          <a:xfrm>
            <a:off x="4562856" y="3108960"/>
            <a:ext cx="3063240" cy="787400"/>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rPr sz="1600"/>
              <a:t>90.7% would use the app again (39/43)</a:t>
            </a:r>
          </a:p>
        </p:txBody>
      </p:sp>
      <p:sp>
        <p:nvSpPr>
          <p:cNvPr id="57" name="TextBox 56"/>
          <p:cNvSpPr txBox="1"/>
          <p:nvPr/>
        </p:nvSpPr>
        <p:spPr>
          <a:xfrm>
            <a:off x="8348472" y="1965960"/>
            <a:ext cx="3063240" cy="658368"/>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t>Internet needed for AI chat and live weather</a:t>
            </a:r>
          </a:p>
        </p:txBody>
      </p:sp>
      <p:sp>
        <p:nvSpPr>
          <p:cNvPr id="58" name="TextBox 57"/>
          <p:cNvSpPr txBox="1"/>
          <p:nvPr/>
        </p:nvSpPr>
        <p:spPr>
          <a:xfrm>
            <a:off x="8348472" y="2770632"/>
            <a:ext cx="3063240" cy="594360"/>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t>Location permission for automatic weather lookup</a:t>
            </a:r>
          </a:p>
        </p:txBody>
      </p:sp>
      <p:sp>
        <p:nvSpPr>
          <p:cNvPr id="59" name="TextBox 58"/>
          <p:cNvSpPr txBox="1"/>
          <p:nvPr/>
        </p:nvSpPr>
        <p:spPr>
          <a:xfrm>
            <a:off x="8348472" y="3493008"/>
            <a:ext cx="3054096" cy="557784"/>
          </a:xfrm>
          <a:prstGeom prst="rect">
            <a:avLst/>
          </a:prstGeom>
          <a:noFill/>
        </p:spPr>
        <p:txBody>
          <a:bodyPr wrap="square" lIns="0" rIns="0" tIns="0" bIns="0" anchor="t">
            <a:spAutoFit/>
          </a:bodyPr>
          <a:lstStyle/>
          <a:p>
            <a:pPr algn="l">
              <a:spcBef>
                <a:spcPts val="0"/>
              </a:spcBef>
              <a:spcAft>
                <a:spcPts val="0"/>
              </a:spcAft>
              <a:defRPr sz="1500" b="0" u="none">
                <a:solidFill>
                  <a:srgbClr val="1D3031"/>
                </a:solidFill>
                <a:latin typeface="Aptos"/>
              </a:defRPr>
            </a:pPr>
            <a:r>
              <a:t>Limited plant coverage; image quality can affect predictions</a:t>
            </a:r>
          </a:p>
        </p:txBody>
      </p:sp>
      <p:sp>
        <p:nvSpPr>
          <p:cNvPr id="60" name="TextBox 59"/>
          <p:cNvSpPr txBox="1"/>
          <p:nvPr/>
        </p:nvSpPr>
        <p:spPr>
          <a:xfrm>
            <a:off x="749808" y="4517136"/>
            <a:ext cx="10671048" cy="365760"/>
          </a:xfrm>
          <a:prstGeom prst="rect">
            <a:avLst/>
          </a:prstGeom>
          <a:noFill/>
        </p:spPr>
        <p:txBody>
          <a:bodyPr wrap="square" lIns="0" rIns="0" tIns="0" bIns="0" anchor="t">
            <a:spAutoFit/>
          </a:bodyPr>
          <a:lstStyle/>
          <a:p>
            <a:pPr algn="l">
              <a:spcBef>
                <a:spcPts val="0"/>
              </a:spcBef>
              <a:spcAft>
                <a:spcPts val="0"/>
              </a:spcAft>
              <a:defRPr sz="2000" b="1" u="none">
                <a:solidFill>
                  <a:srgbClr val="255851"/>
                </a:solidFill>
                <a:latin typeface="Aptos"/>
              </a:defRPr>
            </a:pPr>
            <a:r>
              <a:t>What do these results mean?</a:t>
            </a:r>
          </a:p>
        </p:txBody>
      </p:sp>
      <p:sp>
        <p:nvSpPr>
          <p:cNvPr id="61" name="TextBox 60"/>
          <p:cNvSpPr txBox="1"/>
          <p:nvPr/>
        </p:nvSpPr>
        <p:spPr>
          <a:xfrm>
            <a:off x="768096" y="4956048"/>
            <a:ext cx="10725912" cy="927100"/>
          </a:xfrm>
          <a:prstGeom prst="rect">
            <a:avLst/>
          </a:prstGeom>
          <a:noFill/>
        </p:spPr>
        <p:txBody>
          <a:bodyPr wrap="square" lIns="0" rIns="0" tIns="0" bIns="0" anchor="t">
            <a:spAutoFit/>
          </a:bodyPr>
          <a:lstStyle/>
          <a:p>
            <a:pPr algn="l">
              <a:spcBef>
                <a:spcPts val="0"/>
              </a:spcBef>
              <a:spcAft>
                <a:spcPts val="0"/>
              </a:spcAft>
              <a:defRPr sz="1450" b="0" u="none">
                <a:solidFill>
                  <a:srgbClr val="445253"/>
                </a:solidFill>
                <a:latin typeface="Aptos"/>
              </a:defRPr>
            </a:pPr>
            <a:r>
              <a:rPr sz="1660"/>
              <a:t>Among 43 direct users, 95.3% said results were relevant always or most of the time (41/43). Average satisfaction was 4.35/5. These are user perceptions, not independently measured model accuracy.</a:t>
            </a:r>
          </a:p>
        </p:txBody>
      </p:sp>
      <p:sp>
        <p:nvSpPr>
          <p:cNvPr id="62" name="TextBox 61"/>
          <p:cNvSpPr txBox="1"/>
          <p:nvPr/>
        </p:nvSpPr>
        <p:spPr>
          <a:xfrm>
            <a:off x="768096" y="5797296"/>
            <a:ext cx="10716768" cy="246888"/>
          </a:xfrm>
          <a:prstGeom prst="rect">
            <a:avLst/>
          </a:prstGeom>
          <a:noFill/>
        </p:spPr>
        <p:txBody>
          <a:bodyPr wrap="square" lIns="0" rIns="0" tIns="0" bIns="0" anchor="t">
            <a:spAutoFit/>
          </a:bodyPr>
          <a:lstStyle/>
          <a:p>
            <a:pPr algn="l">
              <a:spcBef>
                <a:spcPts val="0"/>
              </a:spcBef>
              <a:spcAft>
                <a:spcPts val="0"/>
              </a:spcAft>
              <a:defRPr sz="1280" b="1" u="none">
                <a:solidFill>
                  <a:srgbClr val="2D5B51"/>
                </a:solidFill>
                <a:latin typeface="Aptos"/>
              </a:defRPr>
            </a:pPr>
            <a:r>
              <a:rPr sz="1420"/>
              <a:t>Future improvements: hybrid/offline support  •  broader plant datasets  •  improved image robustness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SLIIT Faculty of Computing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Ayurvedic Herbal Plant Identification and Economic Analysis in Sri Lanka</dc:title>
  <dc:subject>Final research presentation - 7 slides</dc:subject>
  <dc:creator>R-26-IT-021 Research Group</dc:creator>
  <cp:lastModifiedBy>R-26-IT-021 Research Group</cp:lastModifiedBy>
  <cp:revision>1</cp:revision>
  <dcterms:created xsi:type="dcterms:W3CDTF">2026-10-18T14:15:46Z</dcterms:created>
  <dcterms:modified xsi:type="dcterms:W3CDTF">2026-10-18T14:15:46Z</dcterms:modified>
</cp:coreProperties>
</file>